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94" r:id="rId2"/>
    <p:sldId id="295" r:id="rId3"/>
    <p:sldId id="296" r:id="rId4"/>
    <p:sldId id="298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3"/>
  </p:normalViewPr>
  <p:slideViewPr>
    <p:cSldViewPr snapToGrid="0">
      <p:cViewPr varScale="1">
        <p:scale>
          <a:sx n="112" d="100"/>
          <a:sy n="112" d="100"/>
        </p:scale>
        <p:origin x="14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F38B-AE4F-1840-83E3-2AE568433E60}" type="datetimeFigureOut">
              <a:rPr kumimoji="1" lang="ko-KR" altLang="en-US" smtClean="0"/>
              <a:t>2026. 2. 24.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EE2-9CF7-3442-9795-4C5B226AFD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53301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F38B-AE4F-1840-83E3-2AE568433E60}" type="datetimeFigureOut">
              <a:rPr kumimoji="1" lang="ko-KR" altLang="en-US" smtClean="0"/>
              <a:t>2026. 2. 24.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EE2-9CF7-3442-9795-4C5B226AFD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33670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F38B-AE4F-1840-83E3-2AE568433E60}" type="datetimeFigureOut">
              <a:rPr kumimoji="1" lang="ko-KR" altLang="en-US" smtClean="0"/>
              <a:t>2026. 2. 24.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EE2-9CF7-3442-9795-4C5B226AFD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3257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F38B-AE4F-1840-83E3-2AE568433E60}" type="datetimeFigureOut">
              <a:rPr kumimoji="1" lang="ko-KR" altLang="en-US" smtClean="0"/>
              <a:t>2026. 2. 24.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EE2-9CF7-3442-9795-4C5B226AFD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48607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F38B-AE4F-1840-83E3-2AE568433E60}" type="datetimeFigureOut">
              <a:rPr kumimoji="1" lang="ko-KR" altLang="en-US" smtClean="0"/>
              <a:t>2026. 2. 24.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EE2-9CF7-3442-9795-4C5B226AFD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50719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F38B-AE4F-1840-83E3-2AE568433E60}" type="datetimeFigureOut">
              <a:rPr kumimoji="1" lang="ko-KR" altLang="en-US" smtClean="0"/>
              <a:t>2026. 2. 24.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EE2-9CF7-3442-9795-4C5B226AFD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46685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F38B-AE4F-1840-83E3-2AE568433E60}" type="datetimeFigureOut">
              <a:rPr kumimoji="1" lang="ko-KR" altLang="en-US" smtClean="0"/>
              <a:t>2026. 2. 24.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EE2-9CF7-3442-9795-4C5B226AFD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35914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F38B-AE4F-1840-83E3-2AE568433E60}" type="datetimeFigureOut">
              <a:rPr kumimoji="1" lang="ko-KR" altLang="en-US" smtClean="0"/>
              <a:t>2026. 2. 24.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EE2-9CF7-3442-9795-4C5B226AFD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4729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F38B-AE4F-1840-83E3-2AE568433E60}" type="datetimeFigureOut">
              <a:rPr kumimoji="1" lang="ko-KR" altLang="en-US" smtClean="0"/>
              <a:t>2026. 2. 24.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EE2-9CF7-3442-9795-4C5B226AFD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76383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F38B-AE4F-1840-83E3-2AE568433E60}" type="datetimeFigureOut">
              <a:rPr kumimoji="1" lang="ko-KR" altLang="en-US" smtClean="0"/>
              <a:t>2026. 2. 24.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EE2-9CF7-3442-9795-4C5B226AFD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6735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F38B-AE4F-1840-83E3-2AE568433E60}" type="datetimeFigureOut">
              <a:rPr kumimoji="1" lang="ko-KR" altLang="en-US" smtClean="0"/>
              <a:t>2026. 2. 24.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8BEE2-9CF7-3442-9795-4C5B226AFD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731820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Ⅵ_거버닝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12">
            <a:extLst>
              <a:ext uri="{FF2B5EF4-FFF2-40B4-BE49-F238E27FC236}">
                <a16:creationId xmlns:a16="http://schemas.microsoft.com/office/drawing/2014/main" id="{DE13DFF3-0AFC-BBE6-740E-EE8FA3E5E81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51703" y="550548"/>
            <a:ext cx="7938037" cy="140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kumimoji="1" lang="ko-KR" altLang="en-US" sz="907" b="0" dirty="0" smtClean="0">
                <a:gradFill>
                  <a:gsLst>
                    <a:gs pos="54962">
                      <a:schemeClr val="tx1">
                        <a:lumMod val="85000"/>
                        <a:lumOff val="15000"/>
                      </a:schemeClr>
                    </a:gs>
                    <a:gs pos="31000">
                      <a:schemeClr val="tx1">
                        <a:lumMod val="85000"/>
                        <a:lumOff val="15000"/>
                      </a:schemeClr>
                    </a:gs>
                  </a:gsLst>
                  <a:lin ang="0" scaled="0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lvl="0" defTabSz="999538" latinLnBrk="0">
              <a:lnSpc>
                <a:spcPct val="110000"/>
              </a:lnSpc>
              <a:spcBef>
                <a:spcPts val="272"/>
              </a:spcBef>
              <a:buClr>
                <a:schemeClr val="tx1">
                  <a:lumMod val="85000"/>
                  <a:lumOff val="15000"/>
                </a:schemeClr>
              </a:buClr>
              <a:buSzPct val="80000"/>
              <a:tabLst>
                <a:tab pos="4824603" algn="l"/>
              </a:tabLst>
            </a:pPr>
            <a:r>
              <a:rPr lang="ko-KR" altLang="en-US"/>
              <a:t>텍스트를 입력하십시오</a:t>
            </a:r>
          </a:p>
        </p:txBody>
      </p:sp>
      <p:sp>
        <p:nvSpPr>
          <p:cNvPr id="9" name="텍스트 개체 틀 12">
            <a:extLst>
              <a:ext uri="{FF2B5EF4-FFF2-40B4-BE49-F238E27FC236}">
                <a16:creationId xmlns:a16="http://schemas.microsoft.com/office/drawing/2014/main" id="{AB4DEF74-9E4F-B63E-D5CF-95445A2C48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51703" y="739298"/>
            <a:ext cx="7938037" cy="168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kumimoji="1" lang="ko-KR" altLang="en-US" sz="1089" b="0" dirty="0" smtClean="0">
                <a:solidFill>
                  <a:srgbClr val="523636"/>
                </a:solidFill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lvl="0" defTabSz="999538" latinLnBrk="0">
              <a:lnSpc>
                <a:spcPct val="110000"/>
              </a:lnSpc>
              <a:spcBef>
                <a:spcPts val="272"/>
              </a:spcBef>
              <a:buClr>
                <a:schemeClr val="tx1">
                  <a:lumMod val="85000"/>
                  <a:lumOff val="15000"/>
                </a:schemeClr>
              </a:buClr>
              <a:buSzPct val="80000"/>
              <a:tabLst>
                <a:tab pos="4824603" algn="l"/>
              </a:tabLst>
            </a:pPr>
            <a:r>
              <a:rPr lang="ko-KR" altLang="en-US"/>
              <a:t>텍스트를 입력하십시오</a:t>
            </a:r>
          </a:p>
        </p:txBody>
      </p:sp>
      <p:sp>
        <p:nvSpPr>
          <p:cNvPr id="10" name="텍스트 개체 틀 12">
            <a:extLst>
              <a:ext uri="{FF2B5EF4-FFF2-40B4-BE49-F238E27FC236}">
                <a16:creationId xmlns:a16="http://schemas.microsoft.com/office/drawing/2014/main" id="{A6980746-12F0-956C-E193-DB14C91EE5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51704" y="966425"/>
            <a:ext cx="7938037" cy="391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noAutofit/>
          </a:bodyPr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kumimoji="1" lang="ko-KR" altLang="en-US" sz="1270" b="0" dirty="0" smtClean="0">
                <a:gradFill>
                  <a:gsLst>
                    <a:gs pos="38931">
                      <a:schemeClr val="tx1">
                        <a:lumMod val="95000"/>
                        <a:lumOff val="5000"/>
                      </a:schemeClr>
                    </a:gs>
                    <a:gs pos="19000">
                      <a:schemeClr val="tx1">
                        <a:lumMod val="95000"/>
                        <a:lumOff val="5000"/>
                      </a:schemeClr>
                    </a:gs>
                  </a:gsLst>
                  <a:lin ang="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defRPr>
            </a:lvl1pPr>
          </a:lstStyle>
          <a:p>
            <a:pPr lvl="0" defTabSz="890031" latinLnBrk="0">
              <a:lnSpc>
                <a:spcPct val="110000"/>
              </a:lnSpc>
              <a:spcBef>
                <a:spcPct val="0"/>
              </a:spcBef>
              <a:buClr>
                <a:srgbClr val="86B6D0"/>
              </a:buClr>
              <a:buSzPct val="100000"/>
              <a:tabLst>
                <a:tab pos="4824603" algn="l"/>
              </a:tabLst>
            </a:pPr>
            <a:r>
              <a:rPr lang="ko-KR" altLang="en-US"/>
              <a:t>텍스트를 입력하십시오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4849A08-F957-373A-1E91-BBEA77FF06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3485" y="1296339"/>
            <a:ext cx="1000622" cy="1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64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FF38B-AE4F-1840-83E3-2AE568433E60}" type="datetimeFigureOut">
              <a:rPr kumimoji="1" lang="ko-KR" altLang="en-US" smtClean="0"/>
              <a:t>2026. 2. 24.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98BEE2-9CF7-3442-9795-4C5B226AFD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48231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EFF71EE4-BC31-C316-FEF6-E8C163530562}"/>
              </a:ext>
            </a:extLst>
          </p:cNvPr>
          <p:cNvGrpSpPr/>
          <p:nvPr/>
        </p:nvGrpSpPr>
        <p:grpSpPr>
          <a:xfrm>
            <a:off x="609126" y="2056537"/>
            <a:ext cx="8688091" cy="4344936"/>
            <a:chOff x="558795" y="2266950"/>
            <a:chExt cx="4679573" cy="4789487"/>
          </a:xfrm>
        </p:grpSpPr>
        <p:sp>
          <p:nvSpPr>
            <p:cNvPr id="117" name="모서리가 둥근 직사각형 16">
              <a:extLst>
                <a:ext uri="{FF2B5EF4-FFF2-40B4-BE49-F238E27FC236}">
                  <a16:creationId xmlns:a16="http://schemas.microsoft.com/office/drawing/2014/main" id="{43DC935B-683A-13A0-5687-A0E7ABCE9D90}"/>
                </a:ext>
              </a:extLst>
            </p:cNvPr>
            <p:cNvSpPr/>
            <p:nvPr/>
          </p:nvSpPr>
          <p:spPr bwMode="auto">
            <a:xfrm flipH="1">
              <a:off x="558795" y="2590950"/>
              <a:ext cx="4679569" cy="44654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dist="12700" dir="5400000" algn="t" rotWithShape="0">
                <a:srgbClr val="FFDB2D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lvl="1" algn="ctr" defTabSz="946199" eaLnBrk="0" hangingPunct="0">
                <a:buClr>
                  <a:srgbClr val="3271AA"/>
                </a:buClr>
                <a:buSzPct val="140000"/>
                <a:tabLst>
                  <a:tab pos="5124160" algn="l"/>
                </a:tabLst>
              </a:pPr>
              <a:endParaRPr lang="en-US" altLang="ko-KR" sz="907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itchFamily="34" charset="0"/>
                <a:sym typeface="KoPub돋움체 Medium"/>
              </a:endParaRPr>
            </a:p>
          </p:txBody>
        </p:sp>
        <p:sp>
          <p:nvSpPr>
            <p:cNvPr id="118" name="모서리가 둥근 직사각형 16">
              <a:extLst>
                <a:ext uri="{FF2B5EF4-FFF2-40B4-BE49-F238E27FC236}">
                  <a16:creationId xmlns:a16="http://schemas.microsoft.com/office/drawing/2014/main" id="{FA1967FA-622F-3982-1BD2-9EDB1B793A5A}"/>
                </a:ext>
              </a:extLst>
            </p:cNvPr>
            <p:cNvSpPr/>
            <p:nvPr/>
          </p:nvSpPr>
          <p:spPr bwMode="auto">
            <a:xfrm flipH="1">
              <a:off x="558798" y="2266950"/>
              <a:ext cx="4679570" cy="324000"/>
            </a:xfrm>
            <a:prstGeom prst="round2SameRect">
              <a:avLst/>
            </a:prstGeom>
            <a:solidFill>
              <a:srgbClr val="FFDB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1" algn="ctr" defTabSz="946199" eaLnBrk="0" hangingPunct="0">
                <a:buClr>
                  <a:srgbClr val="3271AA"/>
                </a:buClr>
                <a:buSzPct val="140000"/>
                <a:tabLst>
                  <a:tab pos="5124160" algn="l"/>
                </a:tabLst>
              </a:pPr>
              <a:r>
                <a:rPr lang="ko-KR" altLang="en-US" sz="1179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KoPub돋움체 Medium"/>
                </a:rPr>
                <a:t>보안 관리 체계</a:t>
              </a:r>
            </a:p>
          </p:txBody>
        </p:sp>
      </p:grpSp>
      <p:sp>
        <p:nvSpPr>
          <p:cNvPr id="119" name="텍스트 개체 틀 1">
            <a:extLst>
              <a:ext uri="{FF2B5EF4-FFF2-40B4-BE49-F238E27FC236}">
                <a16:creationId xmlns:a16="http://schemas.microsoft.com/office/drawing/2014/main" id="{87E395C8-F37E-7E9A-DB36-EEBB4C26733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524720" y="551022"/>
            <a:ext cx="7772496" cy="139604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기밀 보장</a:t>
            </a:r>
          </a:p>
        </p:txBody>
      </p:sp>
      <p:sp>
        <p:nvSpPr>
          <p:cNvPr id="120" name="텍스트 개체 틀 2">
            <a:extLst>
              <a:ext uri="{FF2B5EF4-FFF2-40B4-BE49-F238E27FC236}">
                <a16:creationId xmlns:a16="http://schemas.microsoft.com/office/drawing/2014/main" id="{A7DAD67D-5606-3527-2BC0-3ABEC3985E4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524720" y="739918"/>
            <a:ext cx="7772496" cy="167526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4.1 </a:t>
            </a:r>
            <a:r>
              <a:rPr lang="ko-KR" altLang="en-US"/>
              <a:t>보안 관리 체계</a:t>
            </a:r>
          </a:p>
        </p:txBody>
      </p:sp>
      <p:sp>
        <p:nvSpPr>
          <p:cNvPr id="121" name="텍스트 개체 틀 3">
            <a:extLst>
              <a:ext uri="{FF2B5EF4-FFF2-40B4-BE49-F238E27FC236}">
                <a16:creationId xmlns:a16="http://schemas.microsoft.com/office/drawing/2014/main" id="{8EFD06D9-CD4A-2D0C-2E81-29F3E47D5E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524721" y="966426"/>
            <a:ext cx="7772496" cy="390876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00000"/>
              </a:lnSpc>
            </a:pPr>
            <a:r>
              <a:rPr lang="ko-KR" altLang="en-US"/>
              <a:t>착수부터 사업 종료 시까지 현장 보안 점검 및 교육을 진행하며</a:t>
            </a:r>
            <a:r>
              <a:rPr lang="en-US" altLang="ko-KR"/>
              <a:t>, </a:t>
            </a:r>
            <a:r>
              <a:rPr lang="ko-KR" altLang="en-US"/>
              <a:t>고객사의 보안 규정을 수용하고 준수합니다</a:t>
            </a:r>
            <a:r>
              <a:rPr lang="en-US" altLang="ko-KR"/>
              <a:t>.</a:t>
            </a:r>
          </a:p>
        </p:txBody>
      </p: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06B29E46-1EC4-99BD-55E7-13FF9338F67A}"/>
              </a:ext>
            </a:extLst>
          </p:cNvPr>
          <p:cNvGrpSpPr/>
          <p:nvPr/>
        </p:nvGrpSpPr>
        <p:grpSpPr>
          <a:xfrm>
            <a:off x="607866" y="1748640"/>
            <a:ext cx="4324830" cy="196785"/>
            <a:chOff x="556201" y="1852137"/>
            <a:chExt cx="4767324" cy="216919"/>
          </a:xfrm>
        </p:grpSpPr>
        <p:sp>
          <p:nvSpPr>
            <p:cNvPr id="123" name="직사각형 245">
              <a:extLst>
                <a:ext uri="{FF2B5EF4-FFF2-40B4-BE49-F238E27FC236}">
                  <a16:creationId xmlns:a16="http://schemas.microsoft.com/office/drawing/2014/main" id="{86B786ED-20FB-0BF9-4B93-7D7A5F65CD80}"/>
                </a:ext>
              </a:extLst>
            </p:cNvPr>
            <p:cNvSpPr/>
            <p:nvPr/>
          </p:nvSpPr>
          <p:spPr bwMode="auto">
            <a:xfrm>
              <a:off x="787525" y="1852137"/>
              <a:ext cx="4536000" cy="2169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defTabSz="890031">
                <a:lnSpc>
                  <a:spcPct val="110000"/>
                </a:lnSpc>
                <a:buClr>
                  <a:srgbClr val="86B6D0"/>
                </a:buClr>
                <a:buSzPct val="100000"/>
                <a:tabLst>
                  <a:tab pos="4824603" algn="l"/>
                </a:tabLst>
              </a:pPr>
              <a:r>
                <a:rPr lang="ko-KR" altLang="en-US" sz="1270">
                  <a:gradFill>
                    <a:gsLst>
                      <a:gs pos="38931">
                        <a:schemeClr val="tx1">
                          <a:lumMod val="95000"/>
                          <a:lumOff val="5000"/>
                        </a:schemeClr>
                      </a:gs>
                      <a:gs pos="19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0" scaled="0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KoPub돋움체 Medium"/>
                </a:rPr>
                <a:t>보안 관리 체계</a:t>
              </a:r>
            </a:p>
          </p:txBody>
        </p: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31EF54E6-5D46-BF09-35DD-CBFB2B7B9E3C}"/>
                </a:ext>
              </a:extLst>
            </p:cNvPr>
            <p:cNvGrpSpPr/>
            <p:nvPr/>
          </p:nvGrpSpPr>
          <p:grpSpPr>
            <a:xfrm>
              <a:off x="556201" y="1862335"/>
              <a:ext cx="196274" cy="196522"/>
              <a:chOff x="556201" y="1862334"/>
              <a:chExt cx="196274" cy="196522"/>
            </a:xfrm>
          </p:grpSpPr>
          <p:sp>
            <p:nvSpPr>
              <p:cNvPr id="125" name="Freeform 6">
                <a:extLst>
                  <a:ext uri="{FF2B5EF4-FFF2-40B4-BE49-F238E27FC236}">
                    <a16:creationId xmlns:a16="http://schemas.microsoft.com/office/drawing/2014/main" id="{5C220504-042D-36C9-5D9F-84AE34E8CD7F}"/>
                  </a:ext>
                </a:extLst>
              </p:cNvPr>
              <p:cNvSpPr/>
              <p:nvPr/>
            </p:nvSpPr>
            <p:spPr bwMode="auto">
              <a:xfrm>
                <a:off x="556201" y="1862334"/>
                <a:ext cx="196274" cy="196522"/>
              </a:xfrm>
              <a:custGeom>
                <a:avLst/>
                <a:gdLst/>
                <a:ahLst/>
                <a:cxnLst>
                  <a:cxn ang="0">
                    <a:pos x="63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30"/>
                  </a:cxn>
                  <a:cxn ang="0">
                    <a:pos x="0" y="630"/>
                  </a:cxn>
                  <a:cxn ang="0">
                    <a:pos x="165" y="795"/>
                  </a:cxn>
                  <a:cxn ang="0">
                    <a:pos x="165" y="795"/>
                  </a:cxn>
                  <a:cxn ang="0">
                    <a:pos x="165" y="795"/>
                  </a:cxn>
                  <a:cxn ang="0">
                    <a:pos x="795" y="795"/>
                  </a:cxn>
                  <a:cxn ang="0">
                    <a:pos x="795" y="795"/>
                  </a:cxn>
                  <a:cxn ang="0">
                    <a:pos x="795" y="166"/>
                  </a:cxn>
                  <a:cxn ang="0">
                    <a:pos x="795" y="166"/>
                  </a:cxn>
                  <a:cxn ang="0">
                    <a:pos x="630" y="0"/>
                  </a:cxn>
                  <a:cxn ang="0">
                    <a:pos x="630" y="0"/>
                  </a:cxn>
                </a:cxnLst>
                <a:rect l="0" t="0" r="r" b="b"/>
                <a:pathLst>
                  <a:path w="795" h="795">
                    <a:moveTo>
                      <a:pt x="63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30"/>
                      <a:pt x="0" y="630"/>
                      <a:pt x="0" y="630"/>
                    </a:cubicBezTo>
                    <a:cubicBezTo>
                      <a:pt x="0" y="630"/>
                      <a:pt x="0" y="630"/>
                      <a:pt x="0" y="630"/>
                    </a:cubicBezTo>
                    <a:cubicBezTo>
                      <a:pt x="0" y="721"/>
                      <a:pt x="74" y="795"/>
                      <a:pt x="165" y="795"/>
                    </a:cubicBezTo>
                    <a:cubicBezTo>
                      <a:pt x="165" y="795"/>
                      <a:pt x="165" y="795"/>
                      <a:pt x="165" y="795"/>
                    </a:cubicBezTo>
                    <a:cubicBezTo>
                      <a:pt x="165" y="795"/>
                      <a:pt x="165" y="795"/>
                      <a:pt x="165" y="795"/>
                    </a:cubicBezTo>
                    <a:cubicBezTo>
                      <a:pt x="795" y="795"/>
                      <a:pt x="795" y="795"/>
                      <a:pt x="795" y="795"/>
                    </a:cubicBezTo>
                    <a:cubicBezTo>
                      <a:pt x="795" y="795"/>
                      <a:pt x="795" y="795"/>
                      <a:pt x="795" y="795"/>
                    </a:cubicBezTo>
                    <a:cubicBezTo>
                      <a:pt x="795" y="166"/>
                      <a:pt x="795" y="166"/>
                      <a:pt x="795" y="166"/>
                    </a:cubicBezTo>
                    <a:cubicBezTo>
                      <a:pt x="795" y="166"/>
                      <a:pt x="795" y="166"/>
                      <a:pt x="795" y="166"/>
                    </a:cubicBezTo>
                    <a:cubicBezTo>
                      <a:pt x="795" y="74"/>
                      <a:pt x="721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33"/>
              </a:p>
            </p:txBody>
          </p:sp>
          <p:sp>
            <p:nvSpPr>
              <p:cNvPr id="126" name="Freeform 11">
                <a:extLst>
                  <a:ext uri="{FF2B5EF4-FFF2-40B4-BE49-F238E27FC236}">
                    <a16:creationId xmlns:a16="http://schemas.microsoft.com/office/drawing/2014/main" id="{97074D4D-1244-8BF6-5057-3EB699412B69}"/>
                  </a:ext>
                </a:extLst>
              </p:cNvPr>
              <p:cNvSpPr/>
              <p:nvPr/>
            </p:nvSpPr>
            <p:spPr bwMode="auto">
              <a:xfrm>
                <a:off x="607143" y="1909252"/>
                <a:ext cx="55607" cy="102686"/>
              </a:xfrm>
              <a:custGeom>
                <a:avLst/>
                <a:gdLst/>
                <a:ahLst/>
                <a:cxnLst>
                  <a:cxn ang="0">
                    <a:pos x="119" y="431"/>
                  </a:cxn>
                  <a:cxn ang="0">
                    <a:pos x="81" y="451"/>
                  </a:cxn>
                  <a:cxn ang="0">
                    <a:pos x="19" y="451"/>
                  </a:cxn>
                  <a:cxn ang="0">
                    <a:pos x="8" y="431"/>
                  </a:cxn>
                  <a:cxn ang="0">
                    <a:pos x="126" y="247"/>
                  </a:cxn>
                  <a:cxn ang="0">
                    <a:pos x="126" y="205"/>
                  </a:cxn>
                  <a:cxn ang="0">
                    <a:pos x="8" y="21"/>
                  </a:cxn>
                  <a:cxn ang="0">
                    <a:pos x="19" y="0"/>
                  </a:cxn>
                  <a:cxn ang="0">
                    <a:pos x="81" y="0"/>
                  </a:cxn>
                  <a:cxn ang="0">
                    <a:pos x="119" y="21"/>
                  </a:cxn>
                  <a:cxn ang="0">
                    <a:pos x="237" y="205"/>
                  </a:cxn>
                  <a:cxn ang="0">
                    <a:pos x="237" y="247"/>
                  </a:cxn>
                  <a:cxn ang="0">
                    <a:pos x="119" y="431"/>
                  </a:cxn>
                </a:cxnLst>
                <a:rect l="0" t="0" r="r" b="b"/>
                <a:pathLst>
                  <a:path w="244" h="451">
                    <a:moveTo>
                      <a:pt x="119" y="431"/>
                    </a:moveTo>
                    <a:cubicBezTo>
                      <a:pt x="112" y="442"/>
                      <a:pt x="95" y="451"/>
                      <a:pt x="81" y="451"/>
                    </a:cubicBezTo>
                    <a:cubicBezTo>
                      <a:pt x="19" y="451"/>
                      <a:pt x="19" y="451"/>
                      <a:pt x="19" y="451"/>
                    </a:cubicBezTo>
                    <a:cubicBezTo>
                      <a:pt x="5" y="451"/>
                      <a:pt x="0" y="442"/>
                      <a:pt x="8" y="431"/>
                    </a:cubicBezTo>
                    <a:cubicBezTo>
                      <a:pt x="126" y="247"/>
                      <a:pt x="126" y="247"/>
                      <a:pt x="126" y="247"/>
                    </a:cubicBezTo>
                    <a:cubicBezTo>
                      <a:pt x="133" y="235"/>
                      <a:pt x="133" y="217"/>
                      <a:pt x="126" y="205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0" y="10"/>
                      <a:pt x="5" y="0"/>
                      <a:pt x="19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95" y="0"/>
                      <a:pt x="112" y="10"/>
                      <a:pt x="119" y="21"/>
                    </a:cubicBezTo>
                    <a:cubicBezTo>
                      <a:pt x="237" y="205"/>
                      <a:pt x="237" y="205"/>
                      <a:pt x="237" y="205"/>
                    </a:cubicBezTo>
                    <a:cubicBezTo>
                      <a:pt x="244" y="217"/>
                      <a:pt x="244" y="235"/>
                      <a:pt x="237" y="247"/>
                    </a:cubicBezTo>
                    <a:lnTo>
                      <a:pt x="119" y="43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33"/>
              </a:p>
            </p:txBody>
          </p:sp>
          <p:sp>
            <p:nvSpPr>
              <p:cNvPr id="127" name="Freeform 11">
                <a:extLst>
                  <a:ext uri="{FF2B5EF4-FFF2-40B4-BE49-F238E27FC236}">
                    <a16:creationId xmlns:a16="http://schemas.microsoft.com/office/drawing/2014/main" id="{EFABA590-A28C-3F57-5F85-0C0BE22847F0}"/>
                  </a:ext>
                </a:extLst>
              </p:cNvPr>
              <p:cNvSpPr/>
              <p:nvPr/>
            </p:nvSpPr>
            <p:spPr bwMode="auto">
              <a:xfrm>
                <a:off x="654768" y="1909252"/>
                <a:ext cx="55607" cy="102686"/>
              </a:xfrm>
              <a:custGeom>
                <a:avLst/>
                <a:gdLst/>
                <a:ahLst/>
                <a:cxnLst>
                  <a:cxn ang="0">
                    <a:pos x="119" y="431"/>
                  </a:cxn>
                  <a:cxn ang="0">
                    <a:pos x="81" y="451"/>
                  </a:cxn>
                  <a:cxn ang="0">
                    <a:pos x="19" y="451"/>
                  </a:cxn>
                  <a:cxn ang="0">
                    <a:pos x="8" y="431"/>
                  </a:cxn>
                  <a:cxn ang="0">
                    <a:pos x="126" y="247"/>
                  </a:cxn>
                  <a:cxn ang="0">
                    <a:pos x="126" y="205"/>
                  </a:cxn>
                  <a:cxn ang="0">
                    <a:pos x="8" y="21"/>
                  </a:cxn>
                  <a:cxn ang="0">
                    <a:pos x="19" y="0"/>
                  </a:cxn>
                  <a:cxn ang="0">
                    <a:pos x="81" y="0"/>
                  </a:cxn>
                  <a:cxn ang="0">
                    <a:pos x="119" y="21"/>
                  </a:cxn>
                  <a:cxn ang="0">
                    <a:pos x="237" y="205"/>
                  </a:cxn>
                  <a:cxn ang="0">
                    <a:pos x="237" y="247"/>
                  </a:cxn>
                  <a:cxn ang="0">
                    <a:pos x="119" y="431"/>
                  </a:cxn>
                </a:cxnLst>
                <a:rect l="0" t="0" r="r" b="b"/>
                <a:pathLst>
                  <a:path w="244" h="451">
                    <a:moveTo>
                      <a:pt x="119" y="431"/>
                    </a:moveTo>
                    <a:cubicBezTo>
                      <a:pt x="112" y="442"/>
                      <a:pt x="95" y="451"/>
                      <a:pt x="81" y="451"/>
                    </a:cubicBezTo>
                    <a:cubicBezTo>
                      <a:pt x="19" y="451"/>
                      <a:pt x="19" y="451"/>
                      <a:pt x="19" y="451"/>
                    </a:cubicBezTo>
                    <a:cubicBezTo>
                      <a:pt x="5" y="451"/>
                      <a:pt x="0" y="442"/>
                      <a:pt x="8" y="431"/>
                    </a:cubicBezTo>
                    <a:cubicBezTo>
                      <a:pt x="126" y="247"/>
                      <a:pt x="126" y="247"/>
                      <a:pt x="126" y="247"/>
                    </a:cubicBezTo>
                    <a:cubicBezTo>
                      <a:pt x="133" y="235"/>
                      <a:pt x="133" y="217"/>
                      <a:pt x="126" y="205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0" y="10"/>
                      <a:pt x="5" y="0"/>
                      <a:pt x="19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95" y="0"/>
                      <a:pt x="112" y="10"/>
                      <a:pt x="119" y="21"/>
                    </a:cubicBezTo>
                    <a:cubicBezTo>
                      <a:pt x="237" y="205"/>
                      <a:pt x="237" y="205"/>
                      <a:pt x="237" y="205"/>
                    </a:cubicBezTo>
                    <a:cubicBezTo>
                      <a:pt x="244" y="217"/>
                      <a:pt x="244" y="235"/>
                      <a:pt x="237" y="247"/>
                    </a:cubicBezTo>
                    <a:lnTo>
                      <a:pt x="119" y="43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33"/>
              </a:p>
            </p:txBody>
          </p:sp>
        </p:grpSp>
      </p:grp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6D568757-3687-985F-447F-40FF78EB31E1}"/>
              </a:ext>
            </a:extLst>
          </p:cNvPr>
          <p:cNvSpPr/>
          <p:nvPr/>
        </p:nvSpPr>
        <p:spPr bwMode="auto">
          <a:xfrm>
            <a:off x="674255" y="5424272"/>
            <a:ext cx="2745362" cy="1146404"/>
          </a:xfrm>
          <a:prstGeom prst="rect">
            <a:avLst/>
          </a:prstGeom>
          <a:noFill/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86719" indent="-86719" defTabSz="999538" eaLnBrk="0" hangingPunct="0">
              <a:spcBef>
                <a:spcPts val="272"/>
              </a:spcBef>
              <a:buClr>
                <a:schemeClr val="tx1">
                  <a:lumMod val="85000"/>
                  <a:lumOff val="15000"/>
                </a:schemeClr>
              </a:buClr>
              <a:buSzPct val="80000"/>
              <a:buFont typeface="Arial" pitchFamily="34" charset="0"/>
              <a:buChar char="•"/>
              <a:defRPr/>
            </a:pPr>
            <a:r>
              <a:rPr lang="ko-KR" altLang="en-US" sz="907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KoPub돋움체 Medium"/>
              </a:rPr>
              <a:t>직무기술서와 위탁 계약의 조항 및 조건에</a:t>
            </a:r>
            <a:br>
              <a:rPr lang="en-US" altLang="ko-KR" sz="907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KoPub돋움체 Medium"/>
              </a:rPr>
            </a:br>
            <a:r>
              <a:rPr lang="ko-KR" altLang="en-US" sz="907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KoPub돋움체 Medium"/>
              </a:rPr>
              <a:t>보안 관련 사항 정의</a:t>
            </a:r>
          </a:p>
          <a:p>
            <a:pPr marL="86719" indent="-86719" defTabSz="999538" eaLnBrk="0" hangingPunct="0">
              <a:spcBef>
                <a:spcPts val="272"/>
              </a:spcBef>
              <a:buClr>
                <a:schemeClr val="tx1">
                  <a:lumMod val="85000"/>
                  <a:lumOff val="15000"/>
                </a:schemeClr>
              </a:buClr>
              <a:buSzPct val="80000"/>
              <a:buFont typeface="Arial" pitchFamily="34" charset="0"/>
              <a:buChar char="•"/>
              <a:defRPr/>
            </a:pPr>
            <a:r>
              <a:rPr lang="ko-KR" altLang="en-US" sz="907" spc="-45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KoPub돋움체 Medium"/>
              </a:rPr>
              <a:t>정보처리설비에 대한 보안 역할과 책임에 대한 협정에 서명</a:t>
            </a:r>
          </a:p>
          <a:p>
            <a:pPr marL="86719" indent="-86719" defTabSz="999538" eaLnBrk="0" hangingPunct="0">
              <a:spcBef>
                <a:spcPts val="272"/>
              </a:spcBef>
              <a:buClr>
                <a:schemeClr val="tx1">
                  <a:lumMod val="85000"/>
                  <a:lumOff val="15000"/>
                </a:schemeClr>
              </a:buClr>
              <a:buSzPct val="80000"/>
              <a:buFont typeface="Arial" pitchFamily="34" charset="0"/>
              <a:buChar char="•"/>
              <a:defRPr/>
            </a:pPr>
            <a:r>
              <a:rPr lang="ko-KR" altLang="en-US" sz="907" spc="-45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KoPub돋움체 Medium"/>
              </a:rPr>
              <a:t>계약 종료 또는 변경 사항 발생시 모든 장비의 회수와 접근권한 제거를 보장하기 위한 책임을 이행하는 준거 확립 </a:t>
            </a:r>
          </a:p>
        </p:txBody>
      </p:sp>
      <p:grpSp>
        <p:nvGrpSpPr>
          <p:cNvPr id="221" name="그룹 220">
            <a:extLst>
              <a:ext uri="{FF2B5EF4-FFF2-40B4-BE49-F238E27FC236}">
                <a16:creationId xmlns:a16="http://schemas.microsoft.com/office/drawing/2014/main" id="{4775E104-7B8D-1EA4-6D68-FF53C071FA40}"/>
              </a:ext>
            </a:extLst>
          </p:cNvPr>
          <p:cNvGrpSpPr/>
          <p:nvPr/>
        </p:nvGrpSpPr>
        <p:grpSpPr>
          <a:xfrm>
            <a:off x="674255" y="5062109"/>
            <a:ext cx="8557490" cy="326585"/>
            <a:chOff x="629382" y="5616041"/>
            <a:chExt cx="9433048" cy="360000"/>
          </a:xfrm>
        </p:grpSpPr>
        <p:sp>
          <p:nvSpPr>
            <p:cNvPr id="130" name="갈매기형 수장 76">
              <a:extLst>
                <a:ext uri="{FF2B5EF4-FFF2-40B4-BE49-F238E27FC236}">
                  <a16:creationId xmlns:a16="http://schemas.microsoft.com/office/drawing/2014/main" id="{04A082D9-1335-9E7A-431F-E13508588A51}"/>
                </a:ext>
              </a:extLst>
            </p:cNvPr>
            <p:cNvSpPr/>
            <p:nvPr/>
          </p:nvSpPr>
          <p:spPr bwMode="auto">
            <a:xfrm>
              <a:off x="3770906" y="5616041"/>
              <a:ext cx="3150000" cy="360000"/>
            </a:xfrm>
            <a:prstGeom prst="chevron">
              <a:avLst>
                <a:gd name="adj" fmla="val 37514"/>
              </a:avLst>
            </a:prstGeom>
            <a:solidFill>
              <a:srgbClr val="A89A9A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72503" eaLnBrk="0" hangingPunct="0"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124160" algn="l"/>
                </a:tabLst>
                <a:defRPr/>
              </a:pPr>
              <a:r>
                <a:rPr lang="ko-KR" altLang="en-US" sz="998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인적 자원 보안 프로세스 수립</a:t>
              </a:r>
            </a:p>
          </p:txBody>
        </p:sp>
        <p:sp>
          <p:nvSpPr>
            <p:cNvPr id="134" name="갈매기형 수장 76">
              <a:extLst>
                <a:ext uri="{FF2B5EF4-FFF2-40B4-BE49-F238E27FC236}">
                  <a16:creationId xmlns:a16="http://schemas.microsoft.com/office/drawing/2014/main" id="{DE67DEBC-C85C-38E6-3907-B8D8CFD62ABA}"/>
                </a:ext>
              </a:extLst>
            </p:cNvPr>
            <p:cNvSpPr/>
            <p:nvPr/>
          </p:nvSpPr>
          <p:spPr bwMode="auto">
            <a:xfrm>
              <a:off x="629382" y="5616041"/>
              <a:ext cx="3150000" cy="360000"/>
            </a:xfrm>
            <a:prstGeom prst="chevron">
              <a:avLst>
                <a:gd name="adj" fmla="val 37514"/>
              </a:avLst>
            </a:prstGeom>
            <a:solidFill>
              <a:srgbClr val="DCD7D7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72503" eaLnBrk="0" hangingPunct="0"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124160" algn="l"/>
                </a:tabLst>
              </a:pPr>
              <a:r>
                <a:rPr lang="ko-KR" altLang="en-US" sz="998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인적 자원 보안</a:t>
              </a:r>
            </a:p>
          </p:txBody>
        </p:sp>
        <p:sp>
          <p:nvSpPr>
            <p:cNvPr id="135" name="갈매기형 수장 76">
              <a:extLst>
                <a:ext uri="{FF2B5EF4-FFF2-40B4-BE49-F238E27FC236}">
                  <a16:creationId xmlns:a16="http://schemas.microsoft.com/office/drawing/2014/main" id="{B215A308-12FE-6743-1F74-CBABB07EE4C1}"/>
                </a:ext>
              </a:extLst>
            </p:cNvPr>
            <p:cNvSpPr/>
            <p:nvPr/>
          </p:nvSpPr>
          <p:spPr bwMode="auto">
            <a:xfrm>
              <a:off x="6912430" y="5616041"/>
              <a:ext cx="3150000" cy="360000"/>
            </a:xfrm>
            <a:prstGeom prst="chevron">
              <a:avLst>
                <a:gd name="adj" fmla="val 37514"/>
              </a:avLst>
            </a:prstGeom>
            <a:solidFill>
              <a:srgbClr val="867272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72503" eaLnBrk="0" hangingPunct="0">
                <a:buClr>
                  <a:schemeClr val="tx1">
                    <a:lumMod val="85000"/>
                    <a:lumOff val="15000"/>
                  </a:schemeClr>
                </a:buClr>
                <a:buSzPct val="80000"/>
                <a:tabLst>
                  <a:tab pos="5124160" algn="l"/>
                </a:tabLst>
              </a:pPr>
              <a:r>
                <a:rPr lang="ko-KR" altLang="en-US" sz="998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기대 효과</a:t>
              </a:r>
            </a:p>
          </p:txBody>
        </p:sp>
      </p:grp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B7EC03BA-2AFD-6586-A825-639C376D2B8D}"/>
              </a:ext>
            </a:extLst>
          </p:cNvPr>
          <p:cNvGrpSpPr/>
          <p:nvPr/>
        </p:nvGrpSpPr>
        <p:grpSpPr>
          <a:xfrm>
            <a:off x="3524189" y="5454055"/>
            <a:ext cx="5593848" cy="261268"/>
            <a:chOff x="3770906" y="6084121"/>
            <a:chExt cx="6166181" cy="288000"/>
          </a:xfrm>
        </p:grpSpPr>
        <p:sp>
          <p:nvSpPr>
            <p:cNvPr id="75" name="Rectangle 78">
              <a:extLst>
                <a:ext uri="{FF2B5EF4-FFF2-40B4-BE49-F238E27FC236}">
                  <a16:creationId xmlns:a16="http://schemas.microsoft.com/office/drawing/2014/main" id="{C368D11E-4574-4CBF-8A23-A7986FD36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0906" y="6084121"/>
              <a:ext cx="3024657" cy="288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noAutofit/>
            </a:bodyPr>
            <a:lstStyle/>
            <a:p>
              <a:pPr marL="0" lvl="1" algn="ctr" defTabSz="1375549"/>
              <a:r>
                <a:rPr lang="ko-KR" altLang="en-US" sz="907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pitchFamily="34" charset="0"/>
                  <a:sym typeface="Monotype Sorts" pitchFamily="2" charset="2"/>
                </a:rPr>
                <a:t>주기적 보안 관리 교육</a:t>
              </a:r>
            </a:p>
          </p:txBody>
        </p:sp>
        <p:sp>
          <p:nvSpPr>
            <p:cNvPr id="140" name="Rectangle 78">
              <a:extLst>
                <a:ext uri="{FF2B5EF4-FFF2-40B4-BE49-F238E27FC236}">
                  <a16:creationId xmlns:a16="http://schemas.microsoft.com/office/drawing/2014/main" id="{8524DE51-3066-7758-3025-0B988109F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2430" y="6084121"/>
              <a:ext cx="3024657" cy="288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noAutofit/>
            </a:bodyPr>
            <a:lstStyle/>
            <a:p>
              <a:pPr marL="0" lvl="1" algn="ctr" defTabSz="1375549"/>
              <a:r>
                <a:rPr lang="ko-KR" altLang="en-US" sz="907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pitchFamily="34" charset="0"/>
                  <a:sym typeface="Monotype Sorts" pitchFamily="2" charset="2"/>
                </a:rPr>
                <a:t>보안 체제의 효과성에 대한 감사</a:t>
              </a:r>
            </a:p>
          </p:txBody>
        </p:sp>
      </p:grp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96A9E294-5905-B441-6259-947B12A03EA9}"/>
              </a:ext>
            </a:extLst>
          </p:cNvPr>
          <p:cNvGrpSpPr/>
          <p:nvPr/>
        </p:nvGrpSpPr>
        <p:grpSpPr>
          <a:xfrm>
            <a:off x="3524189" y="5764346"/>
            <a:ext cx="5593848" cy="261268"/>
            <a:chOff x="3770906" y="6408157"/>
            <a:chExt cx="6166181" cy="288000"/>
          </a:xfrm>
        </p:grpSpPr>
        <p:sp>
          <p:nvSpPr>
            <p:cNvPr id="136" name="Rectangle 78">
              <a:extLst>
                <a:ext uri="{FF2B5EF4-FFF2-40B4-BE49-F238E27FC236}">
                  <a16:creationId xmlns:a16="http://schemas.microsoft.com/office/drawing/2014/main" id="{481DC0B7-04DA-BEB8-BE1C-495AD462D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0906" y="6408157"/>
              <a:ext cx="3024657" cy="288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noAutofit/>
            </a:bodyPr>
            <a:lstStyle/>
            <a:p>
              <a:pPr marL="0" lvl="1" algn="ctr" defTabSz="1375549"/>
              <a:r>
                <a:rPr lang="ko-KR" altLang="en-US" sz="907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pitchFamily="34" charset="0"/>
                  <a:sym typeface="Monotype Sorts" pitchFamily="2" charset="2"/>
                </a:rPr>
                <a:t>효과적인 보안 정책 수립</a:t>
              </a:r>
              <a:r>
                <a:rPr lang="en-US" altLang="ko-KR" sz="907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pitchFamily="34" charset="0"/>
                  <a:sym typeface="Monotype Sorts" pitchFamily="2" charset="2"/>
                </a:rPr>
                <a:t>/</a:t>
              </a:r>
              <a:r>
                <a:rPr lang="ko-KR" altLang="en-US" sz="907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pitchFamily="34" charset="0"/>
                  <a:sym typeface="Monotype Sorts" pitchFamily="2" charset="2"/>
                </a:rPr>
                <a:t>적용</a:t>
              </a:r>
            </a:p>
          </p:txBody>
        </p:sp>
        <p:sp>
          <p:nvSpPr>
            <p:cNvPr id="141" name="Rectangle 78">
              <a:extLst>
                <a:ext uri="{FF2B5EF4-FFF2-40B4-BE49-F238E27FC236}">
                  <a16:creationId xmlns:a16="http://schemas.microsoft.com/office/drawing/2014/main" id="{4A50D537-7A1E-6004-9B3A-1AEAB9C4C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2430" y="6408157"/>
              <a:ext cx="3024657" cy="288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noAutofit/>
            </a:bodyPr>
            <a:lstStyle/>
            <a:p>
              <a:pPr marL="0" lvl="1" algn="ctr" defTabSz="1375549"/>
              <a:r>
                <a:rPr lang="ko-KR" altLang="en-US" sz="907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pitchFamily="34" charset="0"/>
                  <a:sym typeface="Monotype Sorts" pitchFamily="2" charset="2"/>
                </a:rPr>
                <a:t>주기적인 검증을 통한 보안 유지</a:t>
              </a:r>
            </a:p>
          </p:txBody>
        </p:sp>
      </p:grpSp>
      <p:grpSp>
        <p:nvGrpSpPr>
          <p:cNvPr id="218" name="그룹 217">
            <a:extLst>
              <a:ext uri="{FF2B5EF4-FFF2-40B4-BE49-F238E27FC236}">
                <a16:creationId xmlns:a16="http://schemas.microsoft.com/office/drawing/2014/main" id="{B6952DA7-E97C-D01F-4570-9599EDCC39AE}"/>
              </a:ext>
            </a:extLst>
          </p:cNvPr>
          <p:cNvGrpSpPr/>
          <p:nvPr/>
        </p:nvGrpSpPr>
        <p:grpSpPr>
          <a:xfrm>
            <a:off x="3524189" y="6074636"/>
            <a:ext cx="5593848" cy="261268"/>
            <a:chOff x="3770906" y="6696161"/>
            <a:chExt cx="6166181" cy="288000"/>
          </a:xfrm>
        </p:grpSpPr>
        <p:sp>
          <p:nvSpPr>
            <p:cNvPr id="137" name="Rectangle 78">
              <a:extLst>
                <a:ext uri="{FF2B5EF4-FFF2-40B4-BE49-F238E27FC236}">
                  <a16:creationId xmlns:a16="http://schemas.microsoft.com/office/drawing/2014/main" id="{A2CA27A6-29E8-04B5-6830-5E7AAED65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0906" y="6696161"/>
              <a:ext cx="3024657" cy="288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noAutofit/>
            </a:bodyPr>
            <a:lstStyle/>
            <a:p>
              <a:pPr marL="0" lvl="1" algn="ctr" defTabSz="1375549"/>
              <a:r>
                <a:rPr lang="ko-KR" altLang="en-US" sz="907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pitchFamily="34" charset="0"/>
                  <a:sym typeface="Monotype Sorts" pitchFamily="2" charset="2"/>
                </a:rPr>
                <a:t>사고 발생 방지책 강구</a:t>
              </a:r>
            </a:p>
          </p:txBody>
        </p:sp>
        <p:sp>
          <p:nvSpPr>
            <p:cNvPr id="142" name="Rectangle 78">
              <a:extLst>
                <a:ext uri="{FF2B5EF4-FFF2-40B4-BE49-F238E27FC236}">
                  <a16:creationId xmlns:a16="http://schemas.microsoft.com/office/drawing/2014/main" id="{183AF4BA-3409-8918-3202-6618276C7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2430" y="6696161"/>
              <a:ext cx="3024657" cy="288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noAutofit/>
            </a:bodyPr>
            <a:lstStyle/>
            <a:p>
              <a:pPr marL="0" lvl="1" algn="ctr" defTabSz="1375549"/>
              <a:r>
                <a:rPr lang="ko-KR" altLang="en-US" sz="907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pitchFamily="34" charset="0"/>
                  <a:sym typeface="Monotype Sorts" pitchFamily="2" charset="2"/>
                </a:rPr>
                <a:t>사전 예방을 통한 보안 위협의 최소화</a:t>
              </a:r>
            </a:p>
          </p:txBody>
        </p:sp>
      </p:grp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869AA98D-E68F-4085-B871-AE159F961FDB}"/>
              </a:ext>
            </a:extLst>
          </p:cNvPr>
          <p:cNvSpPr/>
          <p:nvPr/>
        </p:nvSpPr>
        <p:spPr>
          <a:xfrm>
            <a:off x="5829279" y="2467155"/>
            <a:ext cx="3114267" cy="602978"/>
          </a:xfrm>
          <a:prstGeom prst="rect">
            <a:avLst/>
          </a:prstGeom>
          <a:noFill/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5271" tIns="42636" rIns="85271" bIns="42636">
            <a:spAutoFit/>
          </a:bodyPr>
          <a:lstStyle/>
          <a:p>
            <a:pPr marL="86719" lvl="1" indent="-86719" defTabSz="999538" eaLnBrk="0" hangingPunct="0">
              <a:spcBef>
                <a:spcPts val="272"/>
              </a:spcBef>
              <a:buClr>
                <a:schemeClr val="tx1">
                  <a:lumMod val="85000"/>
                  <a:lumOff val="15000"/>
                </a:schemeClr>
              </a:buClr>
              <a:buSzPct val="80000"/>
              <a:buFont typeface="Arial" pitchFamily="34" charset="0"/>
              <a:buChar char="•"/>
              <a:tabLst>
                <a:tab pos="5267139" algn="l"/>
              </a:tabLst>
              <a:defRPr/>
            </a:pPr>
            <a:r>
              <a:rPr lang="ko-KR" altLang="en-US" sz="953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프로젝트 투입 인력에 대한 지속적인 보안 교육 실시</a:t>
            </a:r>
          </a:p>
          <a:p>
            <a:pPr marL="86719" lvl="1" indent="-86719" defTabSz="999538" eaLnBrk="0" hangingPunct="0">
              <a:spcBef>
                <a:spcPts val="272"/>
              </a:spcBef>
              <a:buClr>
                <a:schemeClr val="tx1">
                  <a:lumMod val="85000"/>
                  <a:lumOff val="15000"/>
                </a:schemeClr>
              </a:buClr>
              <a:buSzPct val="80000"/>
              <a:buFont typeface="Arial" pitchFamily="34" charset="0"/>
              <a:buChar char="•"/>
              <a:tabLst>
                <a:tab pos="5267139" algn="l"/>
              </a:tabLst>
              <a:defRPr/>
            </a:pPr>
            <a:r>
              <a:rPr lang="ko-KR" altLang="en-US" sz="953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인력</a:t>
            </a:r>
            <a:r>
              <a:rPr lang="en-US" altLang="ko-KR" sz="953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953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문서 등 접근 권한 관리</a:t>
            </a:r>
          </a:p>
          <a:p>
            <a:pPr marL="86719" lvl="1" indent="-86719" defTabSz="999538" eaLnBrk="0" hangingPunct="0">
              <a:spcBef>
                <a:spcPts val="272"/>
              </a:spcBef>
              <a:buClr>
                <a:schemeClr val="tx1">
                  <a:lumMod val="85000"/>
                  <a:lumOff val="15000"/>
                </a:schemeClr>
              </a:buClr>
              <a:buSzPct val="80000"/>
              <a:buFont typeface="Arial" pitchFamily="34" charset="0"/>
              <a:buChar char="•"/>
              <a:tabLst>
                <a:tab pos="5267139" algn="l"/>
              </a:tabLst>
              <a:defRPr/>
            </a:pPr>
            <a:r>
              <a:rPr lang="ko-KR" altLang="en-US" sz="953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보안 서약서 작성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BC81236-C620-4343-84DB-96BCC0DF8312}"/>
              </a:ext>
            </a:extLst>
          </p:cNvPr>
          <p:cNvGrpSpPr/>
          <p:nvPr/>
        </p:nvGrpSpPr>
        <p:grpSpPr>
          <a:xfrm>
            <a:off x="3859109" y="2687888"/>
            <a:ext cx="2188123" cy="2188123"/>
            <a:chOff x="4217343" y="2950084"/>
            <a:chExt cx="2426525" cy="2444634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B9E91382-A033-4559-8806-B6D78ADE11A3}"/>
                </a:ext>
              </a:extLst>
            </p:cNvPr>
            <p:cNvSpPr/>
            <p:nvPr/>
          </p:nvSpPr>
          <p:spPr bwMode="auto">
            <a:xfrm>
              <a:off x="4286771" y="3027444"/>
              <a:ext cx="2287669" cy="2289914"/>
            </a:xfrm>
            <a:prstGeom prst="ellipse">
              <a:avLst/>
            </a:prstGeom>
            <a:solidFill>
              <a:schemeClr val="bg1">
                <a:lumMod val="75000"/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1" algn="ctr" eaLnBrk="0" hangingPunct="0">
                <a:lnSpc>
                  <a:spcPct val="110000"/>
                </a:lnSpc>
                <a:buClr>
                  <a:srgbClr val="5F5F5F"/>
                </a:buClr>
                <a:buSzPct val="140000"/>
                <a:tabLst>
                  <a:tab pos="5124673" algn="l"/>
                </a:tabLst>
                <a:defRPr/>
              </a:pPr>
              <a:endParaRPr lang="ko-KR" altLang="en-US" sz="1633">
                <a:latin typeface="+mn-ea"/>
                <a:sym typeface="-윤고딕140"/>
              </a:endParaRPr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4B4D1B97-C984-4502-B946-0F358BD80681}"/>
                </a:ext>
              </a:extLst>
            </p:cNvPr>
            <p:cNvSpPr/>
            <p:nvPr/>
          </p:nvSpPr>
          <p:spPr bwMode="auto">
            <a:xfrm>
              <a:off x="4217343" y="2950084"/>
              <a:ext cx="2426525" cy="2444634"/>
            </a:xfrm>
            <a:prstGeom prst="ellipse">
              <a:avLst/>
            </a:prstGeom>
            <a:ln w="25400" cap="rnd">
              <a:solidFill>
                <a:schemeClr val="bg1">
                  <a:lumMod val="65000"/>
                </a:schemeClr>
              </a:solidFill>
              <a:prstDash val="sysDot"/>
              <a:headEnd type="none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latinLnBrk="0">
                <a:defRPr/>
              </a:pPr>
              <a:endParaRPr lang="ko-KR" altLang="en-US" sz="1633">
                <a:latin typeface="+mn-ea"/>
              </a:endParaRPr>
            </a:p>
          </p:txBody>
        </p:sp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11E701F0-2873-0753-54B8-7D206522A669}"/>
              </a:ext>
            </a:extLst>
          </p:cNvPr>
          <p:cNvGrpSpPr/>
          <p:nvPr/>
        </p:nvGrpSpPr>
        <p:grpSpPr>
          <a:xfrm>
            <a:off x="4255837" y="3084616"/>
            <a:ext cx="1394667" cy="1394667"/>
            <a:chOff x="8735429" y="6453058"/>
            <a:chExt cx="1033200" cy="1033200"/>
          </a:xfrm>
        </p:grpSpPr>
        <p:sp>
          <p:nvSpPr>
            <p:cNvPr id="178" name="모서리가 둥근 직사각형 442">
              <a:extLst>
                <a:ext uri="{FF2B5EF4-FFF2-40B4-BE49-F238E27FC236}">
                  <a16:creationId xmlns:a16="http://schemas.microsoft.com/office/drawing/2014/main" id="{6B9F53CF-B0BA-FEFF-CF76-2883FA940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5429" y="6453058"/>
              <a:ext cx="1033200" cy="1033200"/>
            </a:xfrm>
            <a:prstGeom prst="ellipse">
              <a:avLst/>
            </a:prstGeom>
            <a:solidFill>
              <a:srgbClr val="A89A9A">
                <a:alpha val="77000"/>
              </a:srgbClr>
            </a:solidFill>
            <a:ln w="9525" algn="ctr">
              <a:noFill/>
              <a:miter lim="800000"/>
              <a:headEnd/>
              <a:tailEnd/>
            </a:ln>
            <a:effectLst>
              <a:outerShdw blurRad="63500" sx="102000" sy="102000" algn="ctr" rotWithShape="0">
                <a:schemeClr val="bg1">
                  <a:lumMod val="85000"/>
                  <a:alpha val="42000"/>
                </a:schemeClr>
              </a:outerShdw>
            </a:effectLst>
          </p:spPr>
          <p:txBody>
            <a:bodyPr wrap="none" anchor="ctr"/>
            <a:lstStyle/>
            <a:p>
              <a:pPr lvl="1"/>
              <a:endParaRPr lang="ko-KR" altLang="en-US" sz="1179">
                <a:sym typeface="KoPub돋움체 Medium"/>
              </a:endParaRPr>
            </a:p>
          </p:txBody>
        </p:sp>
        <p:sp>
          <p:nvSpPr>
            <p:cNvPr id="179" name="모서리가 둥근 직사각형 442">
              <a:extLst>
                <a:ext uri="{FF2B5EF4-FFF2-40B4-BE49-F238E27FC236}">
                  <a16:creationId xmlns:a16="http://schemas.microsoft.com/office/drawing/2014/main" id="{A1610ACC-D58D-4476-F6CB-9BF458453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4629" y="6532258"/>
              <a:ext cx="874800" cy="874800"/>
            </a:xfrm>
            <a:prstGeom prst="ellipse">
              <a:avLst/>
            </a:prstGeom>
            <a:solidFill>
              <a:srgbClr val="523636"/>
            </a:solidFill>
            <a:ln w="15875">
              <a:solidFill>
                <a:schemeClr val="bg1"/>
              </a:solidFill>
            </a:ln>
            <a:effectLst>
              <a:outerShdw blurRad="50800" sx="102000" sy="102000" algn="ctr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marL="0" lvl="1" algn="ctr" eaLnBrk="0" hangingPunct="0">
                <a:buClr>
                  <a:srgbClr val="3271AA"/>
                </a:buClr>
                <a:buSzPct val="140000"/>
                <a:tabLst>
                  <a:tab pos="5266612" algn="l"/>
                </a:tabLst>
              </a:pPr>
              <a:endParaRPr lang="ko-KR" altLang="en-US" sz="1179">
                <a:solidFill>
                  <a:srgbClr val="FFFF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itchFamily="34" charset="0"/>
                <a:sym typeface="KoPub돋움체 Medium"/>
              </a:endParaRPr>
            </a:p>
          </p:txBody>
        </p:sp>
        <p:sp>
          <p:nvSpPr>
            <p:cNvPr id="180" name="모서리가 둥근 직사각형 231">
              <a:extLst>
                <a:ext uri="{FF2B5EF4-FFF2-40B4-BE49-F238E27FC236}">
                  <a16:creationId xmlns:a16="http://schemas.microsoft.com/office/drawing/2014/main" id="{7CB064BE-B3AD-F2E7-2041-524A3FB6193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939895" y="6833889"/>
              <a:ext cx="624268" cy="271539"/>
            </a:xfrm>
            <a:prstGeom prst="roundRect">
              <a:avLst>
                <a:gd name="adj" fmla="val 8427"/>
              </a:avLst>
            </a:prstGeom>
            <a:noFill/>
            <a:ln w="76200" cmpd="sng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lvl="1" algn="ctr" eaLnBrk="0" hangingPunct="0">
                <a:buClr>
                  <a:srgbClr val="3271AA"/>
                </a:buClr>
                <a:buSzPct val="140000"/>
                <a:tabLst>
                  <a:tab pos="5266612" algn="l"/>
                </a:tabLst>
                <a:defRPr/>
              </a:pPr>
              <a:r>
                <a:rPr lang="ko-KR" altLang="en-US" sz="1089">
                  <a:solidFill>
                    <a:srgbClr val="FFDB2D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itchFamily="34" charset="0"/>
                  <a:sym typeface="KoPub돋움체 Medium"/>
                </a:rPr>
                <a:t>점검결과</a:t>
              </a:r>
            </a:p>
            <a:p>
              <a:pPr marL="0" lvl="1" algn="ctr" eaLnBrk="0" hangingPunct="0">
                <a:buClr>
                  <a:srgbClr val="3271AA"/>
                </a:buClr>
                <a:buSzPct val="140000"/>
                <a:tabLst>
                  <a:tab pos="5266612" algn="l"/>
                </a:tabLst>
                <a:defRPr/>
              </a:pPr>
              <a:r>
                <a:rPr lang="ko-KR" altLang="en-US" sz="1089">
                  <a:solidFill>
                    <a:srgbClr val="FFDB2D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itchFamily="34" charset="0"/>
                  <a:sym typeface="KoPub돋움체 Medium"/>
                </a:rPr>
                <a:t>취약점 보완 및</a:t>
              </a:r>
            </a:p>
            <a:p>
              <a:pPr marL="0" lvl="1" algn="ctr" eaLnBrk="0" hangingPunct="0">
                <a:buClr>
                  <a:srgbClr val="3271AA"/>
                </a:buClr>
                <a:buSzPct val="140000"/>
                <a:tabLst>
                  <a:tab pos="5266612" algn="l"/>
                </a:tabLst>
                <a:defRPr/>
              </a:pPr>
              <a:r>
                <a:rPr lang="ko-KR" altLang="en-US" sz="1089">
                  <a:solidFill>
                    <a:srgbClr val="FFDB2D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itchFamily="34" charset="0"/>
                  <a:sym typeface="KoPub돋움체 Medium"/>
                </a:rPr>
                <a:t>재검사 실시</a:t>
              </a:r>
            </a:p>
          </p:txBody>
        </p:sp>
      </p:grpSp>
      <p:pic>
        <p:nvPicPr>
          <p:cNvPr id="97" name="Picture 2" descr="D:\고도화\2.png">
            <a:extLst>
              <a:ext uri="{FF2B5EF4-FFF2-40B4-BE49-F238E27FC236}">
                <a16:creationId xmlns:a16="http://schemas.microsoft.com/office/drawing/2014/main" id="{5280A99F-8E9A-4EAD-948C-E918DF1DB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 rot="18641048">
            <a:off x="3832052" y="3171172"/>
            <a:ext cx="829103" cy="496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Picture 2" descr="D:\고도화\2.png">
            <a:extLst>
              <a:ext uri="{FF2B5EF4-FFF2-40B4-BE49-F238E27FC236}">
                <a16:creationId xmlns:a16="http://schemas.microsoft.com/office/drawing/2014/main" id="{89C9AAC4-192E-401A-8736-A76C6BCC3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 rot="3826069">
            <a:off x="5167164" y="3057103"/>
            <a:ext cx="829101" cy="496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Picture 2" descr="D:\고도화\2.png">
            <a:extLst>
              <a:ext uri="{FF2B5EF4-FFF2-40B4-BE49-F238E27FC236}">
                <a16:creationId xmlns:a16="http://schemas.microsoft.com/office/drawing/2014/main" id="{2E963CB3-B96E-420B-BEE3-F410C3C0E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 rot="11571760">
            <a:off x="4510641" y="4316953"/>
            <a:ext cx="829101" cy="49629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Rectangle 473">
            <a:extLst>
              <a:ext uri="{FF2B5EF4-FFF2-40B4-BE49-F238E27FC236}">
                <a16:creationId xmlns:a16="http://schemas.microsoft.com/office/drawing/2014/main" id="{D99763C7-FC8B-C26C-1A19-E96D08F4C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4939" y="2444029"/>
            <a:ext cx="816464" cy="816464"/>
          </a:xfrm>
          <a:prstGeom prst="ellipse">
            <a:avLst/>
          </a:prstGeom>
          <a:solidFill>
            <a:schemeClr val="bg1"/>
          </a:solidFill>
          <a:ln w="19050" algn="ctr">
            <a:gradFill flip="none" rotWithShape="1">
              <a:gsLst>
                <a:gs pos="52000">
                  <a:srgbClr val="523636"/>
                </a:gs>
                <a:gs pos="50000">
                  <a:srgbClr val="FFDB2D"/>
                </a:gs>
              </a:gsLst>
              <a:lin ang="5400000" scaled="1"/>
              <a:tileRect/>
            </a:gra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lvl="1" algn="ctr" defTabSz="1375549" fontAlgn="base">
              <a:spcBef>
                <a:spcPct val="0"/>
              </a:spcBef>
              <a:spcAft>
                <a:spcPct val="0"/>
              </a:spcAft>
              <a:buClr>
                <a:srgbClr val="3271AA"/>
              </a:buClr>
              <a:buSzPct val="140000"/>
              <a:tabLst>
                <a:tab pos="5124160" algn="l"/>
              </a:tabLst>
            </a:pPr>
            <a:r>
              <a:rPr lang="ko-KR" altLang="en-US" sz="998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itchFamily="34" charset="0"/>
                <a:sym typeface="KoPub돋움체 Medium"/>
              </a:rPr>
              <a:t>관리적</a:t>
            </a:r>
            <a:br>
              <a:rPr lang="ko-KR" altLang="en-US" sz="998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itchFamily="34" charset="0"/>
                <a:sym typeface="KoPub돋움체 Medium"/>
              </a:rPr>
            </a:br>
            <a:r>
              <a:rPr lang="ko-KR" altLang="en-US" sz="998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itchFamily="34" charset="0"/>
                <a:sym typeface="KoPub돋움체 Medium"/>
              </a:rPr>
              <a:t>보안</a:t>
            </a:r>
          </a:p>
        </p:txBody>
      </p: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9EC5D87F-B444-7A47-7639-2A408C0560CB}"/>
              </a:ext>
            </a:extLst>
          </p:cNvPr>
          <p:cNvGrpSpPr/>
          <p:nvPr/>
        </p:nvGrpSpPr>
        <p:grpSpPr>
          <a:xfrm>
            <a:off x="3712008" y="3752151"/>
            <a:ext cx="2482325" cy="816464"/>
            <a:chOff x="3977754" y="4105675"/>
            <a:chExt cx="2736304" cy="900000"/>
          </a:xfrm>
        </p:grpSpPr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D4A45B1B-949E-C420-BD56-662A02D567CE}"/>
                </a:ext>
              </a:extLst>
            </p:cNvPr>
            <p:cNvGrpSpPr/>
            <p:nvPr/>
          </p:nvGrpSpPr>
          <p:grpSpPr>
            <a:xfrm>
              <a:off x="3977754" y="4105675"/>
              <a:ext cx="900000" cy="900000"/>
              <a:chOff x="6578313" y="1018585"/>
              <a:chExt cx="1080000" cy="1080000"/>
            </a:xfrm>
          </p:grpSpPr>
          <p:sp>
            <p:nvSpPr>
              <p:cNvPr id="151" name="모서리가 둥근 직사각형 442">
                <a:extLst>
                  <a:ext uri="{FF2B5EF4-FFF2-40B4-BE49-F238E27FC236}">
                    <a16:creationId xmlns:a16="http://schemas.microsoft.com/office/drawing/2014/main" id="{ED61222F-71D7-C922-CFA8-6567E1A8E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78313" y="1018585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gradFill flip="none" rotWithShape="1">
                  <a:gsLst>
                    <a:gs pos="52000">
                      <a:srgbClr val="523636"/>
                    </a:gs>
                    <a:gs pos="50000">
                      <a:srgbClr val="FFDB2D"/>
                    </a:gs>
                  </a:gsLst>
                  <a:lin ang="5400000" scaled="1"/>
                  <a:tileRect/>
                </a:gra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marL="0" lvl="1" algn="ctr" defTabSz="1375549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tabLst>
                    <a:tab pos="5124160" algn="l"/>
                  </a:tabLst>
                </a:pPr>
                <a:endParaRPr lang="ko-KR" altLang="en-US" sz="907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itchFamily="34" charset="0"/>
                  <a:sym typeface="KoPub돋움체 Medium"/>
                </a:endParaRPr>
              </a:p>
            </p:txBody>
          </p:sp>
          <p:sp>
            <p:nvSpPr>
              <p:cNvPr id="152" name="모서리가 둥근 직사각형 442">
                <a:extLst>
                  <a:ext uri="{FF2B5EF4-FFF2-40B4-BE49-F238E27FC236}">
                    <a16:creationId xmlns:a16="http://schemas.microsoft.com/office/drawing/2014/main" id="{0CB659E6-56A2-C8DB-8043-838529B6BA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28020" y="1068284"/>
                <a:ext cx="980588" cy="980586"/>
              </a:xfrm>
              <a:prstGeom prst="ellipse">
                <a:avLst/>
              </a:prstGeom>
              <a:solidFill>
                <a:srgbClr val="DCD7D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2659" tIns="32659" rIns="32659" bIns="32659" anchor="ctr"/>
              <a:lstStyle/>
              <a:p>
                <a:pPr marL="0" lvl="1" algn="ctr" defTabSz="1375549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tabLst>
                    <a:tab pos="5124160" algn="l"/>
                  </a:tabLst>
                  <a:defRPr/>
                </a:pPr>
                <a:r>
                  <a:rPr lang="ko-KR" altLang="en-US" sz="998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itchFamily="34" charset="0"/>
                    <a:sym typeface="KoPub돋움체 Medium"/>
                  </a:rPr>
                  <a:t>기술적 </a:t>
                </a:r>
                <a:br>
                  <a:rPr lang="ko-KR" altLang="en-US" sz="998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itchFamily="34" charset="0"/>
                    <a:sym typeface="KoPub돋움체 Medium"/>
                  </a:rPr>
                </a:br>
                <a:r>
                  <a:rPr lang="ko-KR" altLang="en-US" sz="998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itchFamily="34" charset="0"/>
                    <a:sym typeface="KoPub돋움체 Medium"/>
                  </a:rPr>
                  <a:t>보안</a:t>
                </a:r>
              </a:p>
            </p:txBody>
          </p:sp>
        </p:grpSp>
        <p:grpSp>
          <p:nvGrpSpPr>
            <p:cNvPr id="153" name="그룹 152">
              <a:extLst>
                <a:ext uri="{FF2B5EF4-FFF2-40B4-BE49-F238E27FC236}">
                  <a16:creationId xmlns:a16="http://schemas.microsoft.com/office/drawing/2014/main" id="{D978B7AA-3F56-AAD7-CD1E-1C068E3E767B}"/>
                </a:ext>
              </a:extLst>
            </p:cNvPr>
            <p:cNvGrpSpPr/>
            <p:nvPr/>
          </p:nvGrpSpPr>
          <p:grpSpPr>
            <a:xfrm>
              <a:off x="5814058" y="4105675"/>
              <a:ext cx="900000" cy="900000"/>
              <a:chOff x="6578313" y="1018585"/>
              <a:chExt cx="1080000" cy="1080000"/>
            </a:xfrm>
          </p:grpSpPr>
          <p:sp>
            <p:nvSpPr>
              <p:cNvPr id="154" name="모서리가 둥근 직사각형 442">
                <a:extLst>
                  <a:ext uri="{FF2B5EF4-FFF2-40B4-BE49-F238E27FC236}">
                    <a16:creationId xmlns:a16="http://schemas.microsoft.com/office/drawing/2014/main" id="{BAD20175-59CF-EACE-6CFA-735D2750C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78313" y="1018585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 w="19050" algn="ctr">
                <a:gradFill flip="none" rotWithShape="1">
                  <a:gsLst>
                    <a:gs pos="52000">
                      <a:srgbClr val="523636"/>
                    </a:gs>
                    <a:gs pos="50000">
                      <a:srgbClr val="FFDB2D"/>
                    </a:gs>
                  </a:gsLst>
                  <a:lin ang="5400000" scaled="1"/>
                  <a:tileRect/>
                </a:gra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marL="0" lvl="1" algn="ctr" defTabSz="1375549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tabLst>
                    <a:tab pos="5124160" algn="l"/>
                  </a:tabLst>
                </a:pPr>
                <a:endParaRPr lang="ko-KR" altLang="en-US" sz="907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itchFamily="34" charset="0"/>
                  <a:sym typeface="KoPub돋움체 Medium"/>
                </a:endParaRPr>
              </a:p>
            </p:txBody>
          </p:sp>
          <p:sp>
            <p:nvSpPr>
              <p:cNvPr id="155" name="모서리가 둥근 직사각형 442">
                <a:extLst>
                  <a:ext uri="{FF2B5EF4-FFF2-40B4-BE49-F238E27FC236}">
                    <a16:creationId xmlns:a16="http://schemas.microsoft.com/office/drawing/2014/main" id="{D6F1CDAF-4F9D-BC3A-4A90-95E15E3F6B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28020" y="1068284"/>
                <a:ext cx="980588" cy="980586"/>
              </a:xfrm>
              <a:prstGeom prst="ellipse">
                <a:avLst/>
              </a:prstGeom>
              <a:solidFill>
                <a:srgbClr val="DCD7D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2659" tIns="32659" rIns="32659" bIns="32659" anchor="ctr"/>
              <a:lstStyle/>
              <a:p>
                <a:pPr marL="0" lvl="1" algn="ctr" defTabSz="1375549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3271AA"/>
                  </a:buClr>
                  <a:buSzPct val="140000"/>
                  <a:tabLst>
                    <a:tab pos="5124160" algn="l"/>
                  </a:tabLst>
                  <a:defRPr/>
                </a:pPr>
                <a:r>
                  <a:rPr lang="ko-KR" altLang="en-US" sz="998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itchFamily="34" charset="0"/>
                    <a:sym typeface="KoPub돋움체 Medium"/>
                  </a:rPr>
                  <a:t>물리적 </a:t>
                </a:r>
                <a:br>
                  <a:rPr lang="ko-KR" altLang="en-US" sz="998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itchFamily="34" charset="0"/>
                    <a:sym typeface="KoPub돋움체 Medium"/>
                  </a:rPr>
                </a:br>
                <a:r>
                  <a:rPr lang="ko-KR" altLang="en-US" sz="998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itchFamily="34" charset="0"/>
                    <a:sym typeface="KoPub돋움체 Medium"/>
                  </a:rPr>
                  <a:t>보안</a:t>
                </a:r>
              </a:p>
            </p:txBody>
          </p:sp>
        </p:grpSp>
      </p:grpSp>
      <p:sp>
        <p:nvSpPr>
          <p:cNvPr id="204" name="Freeform 58">
            <a:extLst>
              <a:ext uri="{FF2B5EF4-FFF2-40B4-BE49-F238E27FC236}">
                <a16:creationId xmlns:a16="http://schemas.microsoft.com/office/drawing/2014/main" id="{C21D3715-342A-2668-1C45-52A08F48DE13}"/>
              </a:ext>
            </a:extLst>
          </p:cNvPr>
          <p:cNvSpPr>
            <a:spLocks/>
          </p:cNvSpPr>
          <p:nvPr/>
        </p:nvSpPr>
        <p:spPr bwMode="auto">
          <a:xfrm flipH="1">
            <a:off x="5329566" y="2446601"/>
            <a:ext cx="3114267" cy="244992"/>
          </a:xfrm>
          <a:custGeom>
            <a:avLst/>
            <a:gdLst>
              <a:gd name="T0" fmla="*/ 2147483647 w 1104"/>
              <a:gd name="T1" fmla="*/ 2147483647 h 144"/>
              <a:gd name="T2" fmla="*/ 2147483647 w 1104"/>
              <a:gd name="T3" fmla="*/ 0 h 144"/>
              <a:gd name="T4" fmla="*/ 0 w 1104"/>
              <a:gd name="T5" fmla="*/ 0 h 144"/>
              <a:gd name="T6" fmla="*/ 0 60000 65536"/>
              <a:gd name="T7" fmla="*/ 0 60000 65536"/>
              <a:gd name="T8" fmla="*/ 0 60000 65536"/>
              <a:gd name="T9" fmla="*/ 0 w 1104"/>
              <a:gd name="T10" fmla="*/ 0 h 144"/>
              <a:gd name="T11" fmla="*/ 1104 w 1104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144">
                <a:moveTo>
                  <a:pt x="1104" y="144"/>
                </a:moveTo>
                <a:lnTo>
                  <a:pt x="912" y="0"/>
                </a:lnTo>
                <a:lnTo>
                  <a:pt x="0" y="0"/>
                </a:lnTo>
              </a:path>
            </a:pathLst>
          </a:custGeom>
          <a:ln w="9525">
            <a:solidFill>
              <a:schemeClr val="bg1">
                <a:lumMod val="50000"/>
              </a:schemeClr>
            </a:solidFill>
            <a:prstDash val="sysDash"/>
            <a:headEnd type="oval" w="sm" len="sm"/>
            <a:tailEnd type="oval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r" defTabSz="901722">
              <a:defRPr/>
            </a:pPr>
            <a:endParaRPr lang="ko-KR" altLang="en-US" sz="1633" kern="0">
              <a:solidFill>
                <a:sysClr val="windowText" lastClr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5E5C5ABD-47F7-642C-57E7-9459AE79C249}"/>
              </a:ext>
            </a:extLst>
          </p:cNvPr>
          <p:cNvSpPr/>
          <p:nvPr/>
        </p:nvSpPr>
        <p:spPr>
          <a:xfrm>
            <a:off x="6598833" y="3676551"/>
            <a:ext cx="2469601" cy="564505"/>
          </a:xfrm>
          <a:prstGeom prst="rect">
            <a:avLst/>
          </a:prstGeom>
          <a:noFill/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5271" tIns="42636" rIns="85271" bIns="42636">
            <a:spAutoFit/>
          </a:bodyPr>
          <a:lstStyle/>
          <a:p>
            <a:pPr marL="86719" lvl="1" indent="-86719" defTabSz="999538" eaLnBrk="0" hangingPunct="0">
              <a:spcBef>
                <a:spcPts val="272"/>
              </a:spcBef>
              <a:buClr>
                <a:schemeClr val="tx1">
                  <a:lumMod val="85000"/>
                  <a:lumOff val="15000"/>
                </a:schemeClr>
              </a:buClr>
              <a:buSzPct val="80000"/>
              <a:buFont typeface="Arial" pitchFamily="34" charset="0"/>
              <a:buChar char="•"/>
              <a:tabLst>
                <a:tab pos="5267139" algn="l"/>
              </a:tabLst>
              <a:defRPr/>
            </a:pPr>
            <a:r>
              <a:rPr lang="ko-KR" altLang="en-US" sz="953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프로젝트 수행 사무실의 출입 통제</a:t>
            </a:r>
          </a:p>
          <a:p>
            <a:pPr marL="86719" lvl="1" indent="-86719" defTabSz="999538" eaLnBrk="0" hangingPunct="0">
              <a:spcBef>
                <a:spcPts val="272"/>
              </a:spcBef>
              <a:buClr>
                <a:schemeClr val="tx1">
                  <a:lumMod val="85000"/>
                  <a:lumOff val="15000"/>
                </a:schemeClr>
              </a:buClr>
              <a:buSzPct val="80000"/>
              <a:buFont typeface="Arial" pitchFamily="34" charset="0"/>
              <a:buChar char="•"/>
              <a:tabLst>
                <a:tab pos="5267139" algn="l"/>
              </a:tabLst>
              <a:defRPr/>
            </a:pPr>
            <a:r>
              <a:rPr lang="ko-KR" altLang="en-US" sz="953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기타 필요한 물리적 조치를 통한 보안 관리</a:t>
            </a:r>
          </a:p>
        </p:txBody>
      </p:sp>
      <p:sp>
        <p:nvSpPr>
          <p:cNvPr id="213" name="Freeform 58">
            <a:extLst>
              <a:ext uri="{FF2B5EF4-FFF2-40B4-BE49-F238E27FC236}">
                <a16:creationId xmlns:a16="http://schemas.microsoft.com/office/drawing/2014/main" id="{4F17809A-B86B-0263-9653-D7BB0A0D33CF}"/>
              </a:ext>
            </a:extLst>
          </p:cNvPr>
          <p:cNvSpPr>
            <a:spLocks/>
          </p:cNvSpPr>
          <p:nvPr/>
        </p:nvSpPr>
        <p:spPr bwMode="auto">
          <a:xfrm flipH="1">
            <a:off x="6108613" y="3648209"/>
            <a:ext cx="3123796" cy="244992"/>
          </a:xfrm>
          <a:custGeom>
            <a:avLst/>
            <a:gdLst>
              <a:gd name="T0" fmla="*/ 2147483647 w 1104"/>
              <a:gd name="T1" fmla="*/ 2147483647 h 144"/>
              <a:gd name="T2" fmla="*/ 2147483647 w 1104"/>
              <a:gd name="T3" fmla="*/ 0 h 144"/>
              <a:gd name="T4" fmla="*/ 0 w 1104"/>
              <a:gd name="T5" fmla="*/ 0 h 144"/>
              <a:gd name="T6" fmla="*/ 0 60000 65536"/>
              <a:gd name="T7" fmla="*/ 0 60000 65536"/>
              <a:gd name="T8" fmla="*/ 0 60000 65536"/>
              <a:gd name="T9" fmla="*/ 0 w 1104"/>
              <a:gd name="T10" fmla="*/ 0 h 144"/>
              <a:gd name="T11" fmla="*/ 1104 w 1104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144">
                <a:moveTo>
                  <a:pt x="1104" y="144"/>
                </a:moveTo>
                <a:lnTo>
                  <a:pt x="912" y="0"/>
                </a:lnTo>
                <a:lnTo>
                  <a:pt x="0" y="0"/>
                </a:lnTo>
              </a:path>
            </a:pathLst>
          </a:custGeom>
          <a:ln w="9525">
            <a:solidFill>
              <a:schemeClr val="bg1">
                <a:lumMod val="50000"/>
              </a:schemeClr>
            </a:solidFill>
            <a:prstDash val="sysDash"/>
            <a:headEnd type="oval" w="sm" len="sm"/>
            <a:tailEnd type="oval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r" defTabSz="901722">
              <a:defRPr/>
            </a:pPr>
            <a:endParaRPr lang="ko-KR" altLang="en-US" sz="1633" kern="0">
              <a:solidFill>
                <a:sysClr val="windowText" lastClr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1C08C871-B8EB-5C00-C810-3FFAA63E0066}"/>
              </a:ext>
            </a:extLst>
          </p:cNvPr>
          <p:cNvGrpSpPr/>
          <p:nvPr/>
        </p:nvGrpSpPr>
        <p:grpSpPr>
          <a:xfrm>
            <a:off x="1238194" y="3648208"/>
            <a:ext cx="2572779" cy="1001548"/>
            <a:chOff x="1259280" y="3991098"/>
            <a:chExt cx="2836012" cy="1104022"/>
          </a:xfrm>
        </p:grpSpPr>
        <p:sp>
          <p:nvSpPr>
            <p:cNvPr id="215" name="직사각형 214">
              <a:extLst>
                <a:ext uri="{FF2B5EF4-FFF2-40B4-BE49-F238E27FC236}">
                  <a16:creationId xmlns:a16="http://schemas.microsoft.com/office/drawing/2014/main" id="{E7F83A7D-8349-2738-7259-7E9C9D575236}"/>
                </a:ext>
              </a:extLst>
            </p:cNvPr>
            <p:cNvSpPr/>
            <p:nvPr/>
          </p:nvSpPr>
          <p:spPr>
            <a:xfrm flipH="1">
              <a:off x="1259280" y="4022339"/>
              <a:ext cx="2722278" cy="1072781"/>
            </a:xfrm>
            <a:prstGeom prst="rect">
              <a:avLst/>
            </a:prstGeom>
            <a:noFill/>
            <a:ln w="76200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85271" tIns="42636" rIns="85271" bIns="42636">
              <a:spAutoFit/>
            </a:bodyPr>
            <a:lstStyle/>
            <a:p>
              <a:pPr marL="86719" lvl="1" indent="-86719" defTabSz="999538" eaLnBrk="0" hangingPunct="0">
                <a:spcBef>
                  <a:spcPts val="272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buFont typeface="Arial" pitchFamily="34" charset="0"/>
                <a:buChar char="•"/>
                <a:tabLst>
                  <a:tab pos="5267139" algn="l"/>
                </a:tabLst>
                <a:defRPr/>
              </a:pPr>
              <a:r>
                <a:rPr lang="ko-KR" altLang="en-US" sz="953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프로젝트 참여 인력의 </a:t>
              </a:r>
              <a:r>
                <a:rPr lang="en-US" altLang="ko-KR" sz="953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PC </a:t>
              </a:r>
              <a:r>
                <a:rPr lang="ko-KR" altLang="en-US" sz="953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보안 관리</a:t>
              </a:r>
            </a:p>
            <a:p>
              <a:pPr marL="86719" lvl="1" indent="-86719" defTabSz="999538" eaLnBrk="0" hangingPunct="0">
                <a:spcBef>
                  <a:spcPts val="272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buFont typeface="Arial" pitchFamily="34" charset="0"/>
                <a:buChar char="•"/>
                <a:tabLst>
                  <a:tab pos="5267139" algn="l"/>
                </a:tabLst>
                <a:defRPr/>
              </a:pPr>
              <a:r>
                <a:rPr lang="ko-KR" altLang="en-US" sz="953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어플리케이션 보안 관리</a:t>
              </a:r>
            </a:p>
            <a:p>
              <a:pPr marL="86719" lvl="1" indent="-86719" defTabSz="999538" eaLnBrk="0" hangingPunct="0">
                <a:spcBef>
                  <a:spcPts val="272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buFont typeface="Arial" pitchFamily="34" charset="0"/>
                <a:buChar char="•"/>
                <a:tabLst>
                  <a:tab pos="5267139" algn="l"/>
                </a:tabLst>
                <a:defRPr/>
              </a:pPr>
              <a:r>
                <a:rPr lang="ko-KR" altLang="en-US" sz="953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고객사 보안 규정</a:t>
              </a:r>
              <a:r>
                <a:rPr lang="en-US" altLang="ko-KR" sz="953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/</a:t>
              </a:r>
              <a:r>
                <a:rPr lang="ko-KR" altLang="en-US" sz="953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지침 반영</a:t>
              </a:r>
            </a:p>
            <a:p>
              <a:pPr marL="86719" lvl="1" indent="-86719" defTabSz="999538" eaLnBrk="0" hangingPunct="0">
                <a:spcBef>
                  <a:spcPts val="272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buFont typeface="Arial" pitchFamily="34" charset="0"/>
                <a:buChar char="•"/>
                <a:tabLst>
                  <a:tab pos="5267139" algn="l"/>
                </a:tabLst>
                <a:defRPr/>
              </a:pPr>
              <a:r>
                <a:rPr lang="en-US" altLang="ko-KR" sz="953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ID </a:t>
              </a:r>
              <a:r>
                <a:rPr lang="ko-KR" altLang="en-US" sz="953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및 패스워드 관리 강화</a:t>
              </a:r>
            </a:p>
            <a:p>
              <a:pPr marL="86719" lvl="1" indent="-86719" defTabSz="999538" eaLnBrk="0" hangingPunct="0">
                <a:spcBef>
                  <a:spcPts val="272"/>
                </a:spcBef>
                <a:buClr>
                  <a:schemeClr val="tx1">
                    <a:lumMod val="85000"/>
                    <a:lumOff val="15000"/>
                  </a:schemeClr>
                </a:buClr>
                <a:buSzPct val="80000"/>
                <a:buFont typeface="Arial" pitchFamily="34" charset="0"/>
                <a:buChar char="•"/>
                <a:tabLst>
                  <a:tab pos="5267139" algn="l"/>
                </a:tabLst>
                <a:defRPr/>
              </a:pPr>
              <a:r>
                <a:rPr lang="ko-KR" altLang="en-US" sz="953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취약점 점검 지원</a:t>
              </a:r>
            </a:p>
          </p:txBody>
        </p:sp>
        <p:sp>
          <p:nvSpPr>
            <p:cNvPr id="216" name="Freeform 58">
              <a:extLst>
                <a:ext uri="{FF2B5EF4-FFF2-40B4-BE49-F238E27FC236}">
                  <a16:creationId xmlns:a16="http://schemas.microsoft.com/office/drawing/2014/main" id="{C63C33A7-5294-66DB-B1C7-452F148873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4687" y="3991098"/>
              <a:ext cx="2830605" cy="270058"/>
            </a:xfrm>
            <a:custGeom>
              <a:avLst/>
              <a:gdLst>
                <a:gd name="T0" fmla="*/ 2147483647 w 1104"/>
                <a:gd name="T1" fmla="*/ 2147483647 h 144"/>
                <a:gd name="T2" fmla="*/ 2147483647 w 1104"/>
                <a:gd name="T3" fmla="*/ 0 h 144"/>
                <a:gd name="T4" fmla="*/ 0 w 1104"/>
                <a:gd name="T5" fmla="*/ 0 h 144"/>
                <a:gd name="T6" fmla="*/ 0 60000 65536"/>
                <a:gd name="T7" fmla="*/ 0 60000 65536"/>
                <a:gd name="T8" fmla="*/ 0 60000 65536"/>
                <a:gd name="T9" fmla="*/ 0 w 1104"/>
                <a:gd name="T10" fmla="*/ 0 h 144"/>
                <a:gd name="T11" fmla="*/ 1104 w 1104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4" h="144">
                  <a:moveTo>
                    <a:pt x="1104" y="144"/>
                  </a:moveTo>
                  <a:lnTo>
                    <a:pt x="912" y="0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chemeClr val="bg1">
                  <a:lumMod val="50000"/>
                </a:schemeClr>
              </a:solidFill>
              <a:prstDash val="sysDash"/>
              <a:headEnd type="oval" w="sm" len="sm"/>
              <a:tailEnd type="oval" w="sm" len="sm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pPr algn="r" defTabSz="901722">
                <a:defRPr/>
              </a:pPr>
              <a:endParaRPr lang="ko-KR" altLang="en-US" sz="1633" kern="0">
                <a:solidFill>
                  <a:sysClr val="windowText" lastClr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9468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텍스트 개체 틀 1">
            <a:extLst>
              <a:ext uri="{FF2B5EF4-FFF2-40B4-BE49-F238E27FC236}">
                <a16:creationId xmlns:a16="http://schemas.microsoft.com/office/drawing/2014/main" id="{07E5DE2C-4BDD-8E1B-1763-C609420D436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524720" y="551022"/>
            <a:ext cx="7772496" cy="139604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기밀 보장</a:t>
            </a:r>
          </a:p>
        </p:txBody>
      </p:sp>
      <p:sp>
        <p:nvSpPr>
          <p:cNvPr id="27" name="텍스트 개체 틀 2">
            <a:extLst>
              <a:ext uri="{FF2B5EF4-FFF2-40B4-BE49-F238E27FC236}">
                <a16:creationId xmlns:a16="http://schemas.microsoft.com/office/drawing/2014/main" id="{96F35B63-ADC9-D0B9-567E-8A72647DDC3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524720" y="739918"/>
            <a:ext cx="7772496" cy="167526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4.2 </a:t>
            </a:r>
            <a:r>
              <a:rPr lang="ko-KR" altLang="en-US"/>
              <a:t>관리적 보안</a:t>
            </a:r>
          </a:p>
        </p:txBody>
      </p:sp>
      <p:sp>
        <p:nvSpPr>
          <p:cNvPr id="28" name="텍스트 개체 틀 3">
            <a:extLst>
              <a:ext uri="{FF2B5EF4-FFF2-40B4-BE49-F238E27FC236}">
                <a16:creationId xmlns:a16="http://schemas.microsoft.com/office/drawing/2014/main" id="{421A75D9-BCCE-19F5-55EC-9EB28652C4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524721" y="966426"/>
            <a:ext cx="7772496" cy="390876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00000"/>
              </a:lnSpc>
            </a:pPr>
            <a:r>
              <a:rPr lang="ko-KR" altLang="en-US"/>
              <a:t>고객사 보안 정책을 준수하며</a:t>
            </a:r>
            <a:r>
              <a:rPr lang="en-US" altLang="ko-KR"/>
              <a:t>, </a:t>
            </a:r>
            <a:r>
              <a:rPr lang="ko-KR" altLang="en-US"/>
              <a:t>참여 인원</a:t>
            </a:r>
            <a:r>
              <a:rPr lang="en-US" altLang="ko-KR"/>
              <a:t>, </a:t>
            </a:r>
            <a:r>
              <a:rPr lang="ko-KR" altLang="en-US"/>
              <a:t>내부 자료 및 산출물에 대한 지속적인 보안 사고 방지 활동을 실시합니다</a:t>
            </a:r>
            <a:r>
              <a:rPr lang="en-US" altLang="ko-KR"/>
              <a:t>.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CF53300-7114-486D-8CE6-391202C5BECF}"/>
              </a:ext>
            </a:extLst>
          </p:cNvPr>
          <p:cNvGrpSpPr/>
          <p:nvPr/>
        </p:nvGrpSpPr>
        <p:grpSpPr>
          <a:xfrm>
            <a:off x="609675" y="2056538"/>
            <a:ext cx="8686651" cy="4344936"/>
            <a:chOff x="558795" y="2266950"/>
            <a:chExt cx="4679573" cy="4789487"/>
          </a:xfrm>
        </p:grpSpPr>
        <p:sp>
          <p:nvSpPr>
            <p:cNvPr id="20" name="모서리가 둥근 직사각형 16">
              <a:extLst>
                <a:ext uri="{FF2B5EF4-FFF2-40B4-BE49-F238E27FC236}">
                  <a16:creationId xmlns:a16="http://schemas.microsoft.com/office/drawing/2014/main" id="{1F11EB95-B111-45D3-9B0E-A082A4B4BEEA}"/>
                </a:ext>
              </a:extLst>
            </p:cNvPr>
            <p:cNvSpPr/>
            <p:nvPr/>
          </p:nvSpPr>
          <p:spPr bwMode="auto">
            <a:xfrm flipH="1">
              <a:off x="558795" y="2590950"/>
              <a:ext cx="4679569" cy="44654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dist="12700" dir="5400000" algn="t" rotWithShape="0">
                <a:srgbClr val="FFDB2D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lvl="1" algn="ctr" defTabSz="946199" eaLnBrk="0" hangingPunct="0">
                <a:buClr>
                  <a:srgbClr val="3271AA"/>
                </a:buClr>
                <a:buSzPct val="140000"/>
                <a:tabLst>
                  <a:tab pos="5124160" algn="l"/>
                </a:tabLst>
              </a:pPr>
              <a:endParaRPr lang="en-US" altLang="ko-KR" sz="907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itchFamily="34" charset="0"/>
                <a:sym typeface="KoPub돋움체 Medium"/>
              </a:endParaRPr>
            </a:p>
          </p:txBody>
        </p:sp>
        <p:sp>
          <p:nvSpPr>
            <p:cNvPr id="21" name="모서리가 둥근 직사각형 16">
              <a:extLst>
                <a:ext uri="{FF2B5EF4-FFF2-40B4-BE49-F238E27FC236}">
                  <a16:creationId xmlns:a16="http://schemas.microsoft.com/office/drawing/2014/main" id="{BFE09217-A41D-4416-B6FF-7BC6835E3830}"/>
                </a:ext>
              </a:extLst>
            </p:cNvPr>
            <p:cNvSpPr/>
            <p:nvPr/>
          </p:nvSpPr>
          <p:spPr bwMode="auto">
            <a:xfrm flipH="1">
              <a:off x="558798" y="2266950"/>
              <a:ext cx="4679570" cy="324000"/>
            </a:xfrm>
            <a:prstGeom prst="round2SameRect">
              <a:avLst/>
            </a:prstGeom>
            <a:solidFill>
              <a:srgbClr val="FFDB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1" algn="ctr" defTabSz="946199" eaLnBrk="0" hangingPunct="0">
                <a:buClr>
                  <a:srgbClr val="3271AA"/>
                </a:buClr>
                <a:buSzPct val="140000"/>
                <a:tabLst>
                  <a:tab pos="5124160" algn="l"/>
                </a:tabLst>
              </a:pPr>
              <a:r>
                <a:rPr lang="ko-KR" altLang="en-US" sz="1179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KoPub돋움체 Medium"/>
                </a:rPr>
                <a:t>관리적 보안 관리</a:t>
              </a: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B7B6C7A-E141-493C-957C-01DDC3C48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591" y="6239709"/>
            <a:ext cx="5944944" cy="125547"/>
          </a:xfrm>
          <a:prstGeom prst="rect">
            <a:avLst/>
          </a:prstGeom>
          <a:noFill/>
          <a:ln w="6350" cmpd="sng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spAutoFit/>
          </a:bodyPr>
          <a:lstStyle/>
          <a:p>
            <a:pPr marL="0" lvl="1" defTabSz="1375549">
              <a:buSzPct val="80000"/>
            </a:pPr>
            <a:r>
              <a:rPr lang="en-US" altLang="ko-KR" sz="816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itchFamily="34" charset="0"/>
                <a:sym typeface="KoPub돋움체 Medium"/>
              </a:rPr>
              <a:t>※ </a:t>
            </a:r>
            <a:r>
              <a:rPr lang="ko-KR" altLang="en-US" sz="816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itchFamily="34" charset="0"/>
                <a:sym typeface="KoPub돋움체 Medium"/>
              </a:rPr>
              <a:t>관리 방안은 개인정보보호법</a:t>
            </a:r>
            <a:r>
              <a:rPr lang="en-US" altLang="ko-KR" sz="816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itchFamily="34" charset="0"/>
                <a:sym typeface="KoPub돋움체 Medium"/>
              </a:rPr>
              <a:t>, </a:t>
            </a:r>
            <a:r>
              <a:rPr lang="ko-KR" altLang="en-US" sz="816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itchFamily="34" charset="0"/>
                <a:sym typeface="KoPub돋움체 Medium"/>
              </a:rPr>
              <a:t>개인정보의 기술적</a:t>
            </a:r>
            <a:r>
              <a:rPr lang="en-US" altLang="ko-KR" sz="816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itchFamily="34" charset="0"/>
                <a:sym typeface="KoPub돋움체 Medium"/>
              </a:rPr>
              <a:t>.</a:t>
            </a:r>
            <a:r>
              <a:rPr lang="ko-KR" altLang="en-US" sz="816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itchFamily="34" charset="0"/>
                <a:sym typeface="KoPub돋움체 Medium"/>
              </a:rPr>
              <a:t>관리적 보호조치 기준</a:t>
            </a:r>
            <a:r>
              <a:rPr lang="en-US" altLang="ko-KR" sz="816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itchFamily="34" charset="0"/>
                <a:sym typeface="KoPub돋움체 Medium"/>
              </a:rPr>
              <a:t>, </a:t>
            </a:r>
            <a:r>
              <a:rPr lang="ko-KR" altLang="en-US" sz="816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itchFamily="34" charset="0"/>
                <a:sym typeface="KoPub돋움체 Medium"/>
              </a:rPr>
              <a:t>정보통신망법 등 관련 법규를 준수합니다</a:t>
            </a:r>
            <a:r>
              <a:rPr lang="en-US" altLang="ko-KR" sz="816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itchFamily="34" charset="0"/>
                <a:sym typeface="KoPub돋움체 Medium"/>
              </a:rPr>
              <a:t>.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6F0836D9-8B20-495B-88E6-365CB38E61D2}"/>
              </a:ext>
            </a:extLst>
          </p:cNvPr>
          <p:cNvGrpSpPr/>
          <p:nvPr/>
        </p:nvGrpSpPr>
        <p:grpSpPr>
          <a:xfrm>
            <a:off x="607866" y="1748640"/>
            <a:ext cx="4324830" cy="196785"/>
            <a:chOff x="556201" y="1852137"/>
            <a:chExt cx="4767324" cy="216919"/>
          </a:xfrm>
        </p:grpSpPr>
        <p:sp>
          <p:nvSpPr>
            <p:cNvPr id="24" name="직사각형 245">
              <a:extLst>
                <a:ext uri="{FF2B5EF4-FFF2-40B4-BE49-F238E27FC236}">
                  <a16:creationId xmlns:a16="http://schemas.microsoft.com/office/drawing/2014/main" id="{745446F1-71C9-4E60-BCD7-2C20AD7B4AAB}"/>
                </a:ext>
              </a:extLst>
            </p:cNvPr>
            <p:cNvSpPr/>
            <p:nvPr/>
          </p:nvSpPr>
          <p:spPr bwMode="auto">
            <a:xfrm>
              <a:off x="787525" y="1852137"/>
              <a:ext cx="4536000" cy="2169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defTabSz="890031">
                <a:lnSpc>
                  <a:spcPct val="110000"/>
                </a:lnSpc>
                <a:buClr>
                  <a:srgbClr val="86B6D0"/>
                </a:buClr>
                <a:buSzPct val="100000"/>
                <a:tabLst>
                  <a:tab pos="4824603" algn="l"/>
                </a:tabLst>
              </a:pPr>
              <a:r>
                <a:rPr lang="ko-KR" altLang="en-US" sz="1270">
                  <a:gradFill>
                    <a:gsLst>
                      <a:gs pos="38931">
                        <a:schemeClr val="tx1">
                          <a:lumMod val="95000"/>
                          <a:lumOff val="5000"/>
                        </a:schemeClr>
                      </a:gs>
                      <a:gs pos="19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0" scaled="0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KoPub돋움체 Medium"/>
                </a:rPr>
                <a:t>관리적 보안 관리 방안</a:t>
              </a: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489C7FFA-637C-4AC7-9FB9-B51602F74232}"/>
                </a:ext>
              </a:extLst>
            </p:cNvPr>
            <p:cNvGrpSpPr/>
            <p:nvPr/>
          </p:nvGrpSpPr>
          <p:grpSpPr>
            <a:xfrm>
              <a:off x="556201" y="1862335"/>
              <a:ext cx="196274" cy="196522"/>
              <a:chOff x="556201" y="1862334"/>
              <a:chExt cx="196274" cy="196522"/>
            </a:xfrm>
          </p:grpSpPr>
          <p:sp>
            <p:nvSpPr>
              <p:cNvPr id="29" name="Freeform 6">
                <a:extLst>
                  <a:ext uri="{FF2B5EF4-FFF2-40B4-BE49-F238E27FC236}">
                    <a16:creationId xmlns:a16="http://schemas.microsoft.com/office/drawing/2014/main" id="{9B68C58B-67E3-42D6-B512-A0B612A84BEC}"/>
                  </a:ext>
                </a:extLst>
              </p:cNvPr>
              <p:cNvSpPr/>
              <p:nvPr/>
            </p:nvSpPr>
            <p:spPr bwMode="auto">
              <a:xfrm>
                <a:off x="556201" y="1862334"/>
                <a:ext cx="196274" cy="196522"/>
              </a:xfrm>
              <a:custGeom>
                <a:avLst/>
                <a:gdLst/>
                <a:ahLst/>
                <a:cxnLst>
                  <a:cxn ang="0">
                    <a:pos x="63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30"/>
                  </a:cxn>
                  <a:cxn ang="0">
                    <a:pos x="0" y="630"/>
                  </a:cxn>
                  <a:cxn ang="0">
                    <a:pos x="165" y="795"/>
                  </a:cxn>
                  <a:cxn ang="0">
                    <a:pos x="165" y="795"/>
                  </a:cxn>
                  <a:cxn ang="0">
                    <a:pos x="165" y="795"/>
                  </a:cxn>
                  <a:cxn ang="0">
                    <a:pos x="795" y="795"/>
                  </a:cxn>
                  <a:cxn ang="0">
                    <a:pos x="795" y="795"/>
                  </a:cxn>
                  <a:cxn ang="0">
                    <a:pos x="795" y="166"/>
                  </a:cxn>
                  <a:cxn ang="0">
                    <a:pos x="795" y="166"/>
                  </a:cxn>
                  <a:cxn ang="0">
                    <a:pos x="630" y="0"/>
                  </a:cxn>
                  <a:cxn ang="0">
                    <a:pos x="630" y="0"/>
                  </a:cxn>
                </a:cxnLst>
                <a:rect l="0" t="0" r="r" b="b"/>
                <a:pathLst>
                  <a:path w="795" h="795">
                    <a:moveTo>
                      <a:pt x="63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30"/>
                      <a:pt x="0" y="630"/>
                      <a:pt x="0" y="630"/>
                    </a:cubicBezTo>
                    <a:cubicBezTo>
                      <a:pt x="0" y="630"/>
                      <a:pt x="0" y="630"/>
                      <a:pt x="0" y="630"/>
                    </a:cubicBezTo>
                    <a:cubicBezTo>
                      <a:pt x="0" y="721"/>
                      <a:pt x="74" y="795"/>
                      <a:pt x="165" y="795"/>
                    </a:cubicBezTo>
                    <a:cubicBezTo>
                      <a:pt x="165" y="795"/>
                      <a:pt x="165" y="795"/>
                      <a:pt x="165" y="795"/>
                    </a:cubicBezTo>
                    <a:cubicBezTo>
                      <a:pt x="165" y="795"/>
                      <a:pt x="165" y="795"/>
                      <a:pt x="165" y="795"/>
                    </a:cubicBezTo>
                    <a:cubicBezTo>
                      <a:pt x="795" y="795"/>
                      <a:pt x="795" y="795"/>
                      <a:pt x="795" y="795"/>
                    </a:cubicBezTo>
                    <a:cubicBezTo>
                      <a:pt x="795" y="795"/>
                      <a:pt x="795" y="795"/>
                      <a:pt x="795" y="795"/>
                    </a:cubicBezTo>
                    <a:cubicBezTo>
                      <a:pt x="795" y="166"/>
                      <a:pt x="795" y="166"/>
                      <a:pt x="795" y="166"/>
                    </a:cubicBezTo>
                    <a:cubicBezTo>
                      <a:pt x="795" y="166"/>
                      <a:pt x="795" y="166"/>
                      <a:pt x="795" y="166"/>
                    </a:cubicBezTo>
                    <a:cubicBezTo>
                      <a:pt x="795" y="74"/>
                      <a:pt x="721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33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D929A233-B886-4301-BCB1-744D8F0EA34D}"/>
                  </a:ext>
                </a:extLst>
              </p:cNvPr>
              <p:cNvSpPr/>
              <p:nvPr/>
            </p:nvSpPr>
            <p:spPr bwMode="auto">
              <a:xfrm>
                <a:off x="607143" y="1909252"/>
                <a:ext cx="55607" cy="102686"/>
              </a:xfrm>
              <a:custGeom>
                <a:avLst/>
                <a:gdLst/>
                <a:ahLst/>
                <a:cxnLst>
                  <a:cxn ang="0">
                    <a:pos x="119" y="431"/>
                  </a:cxn>
                  <a:cxn ang="0">
                    <a:pos x="81" y="451"/>
                  </a:cxn>
                  <a:cxn ang="0">
                    <a:pos x="19" y="451"/>
                  </a:cxn>
                  <a:cxn ang="0">
                    <a:pos x="8" y="431"/>
                  </a:cxn>
                  <a:cxn ang="0">
                    <a:pos x="126" y="247"/>
                  </a:cxn>
                  <a:cxn ang="0">
                    <a:pos x="126" y="205"/>
                  </a:cxn>
                  <a:cxn ang="0">
                    <a:pos x="8" y="21"/>
                  </a:cxn>
                  <a:cxn ang="0">
                    <a:pos x="19" y="0"/>
                  </a:cxn>
                  <a:cxn ang="0">
                    <a:pos x="81" y="0"/>
                  </a:cxn>
                  <a:cxn ang="0">
                    <a:pos x="119" y="21"/>
                  </a:cxn>
                  <a:cxn ang="0">
                    <a:pos x="237" y="205"/>
                  </a:cxn>
                  <a:cxn ang="0">
                    <a:pos x="237" y="247"/>
                  </a:cxn>
                  <a:cxn ang="0">
                    <a:pos x="119" y="431"/>
                  </a:cxn>
                </a:cxnLst>
                <a:rect l="0" t="0" r="r" b="b"/>
                <a:pathLst>
                  <a:path w="244" h="451">
                    <a:moveTo>
                      <a:pt x="119" y="431"/>
                    </a:moveTo>
                    <a:cubicBezTo>
                      <a:pt x="112" y="442"/>
                      <a:pt x="95" y="451"/>
                      <a:pt x="81" y="451"/>
                    </a:cubicBezTo>
                    <a:cubicBezTo>
                      <a:pt x="19" y="451"/>
                      <a:pt x="19" y="451"/>
                      <a:pt x="19" y="451"/>
                    </a:cubicBezTo>
                    <a:cubicBezTo>
                      <a:pt x="5" y="451"/>
                      <a:pt x="0" y="442"/>
                      <a:pt x="8" y="431"/>
                    </a:cubicBezTo>
                    <a:cubicBezTo>
                      <a:pt x="126" y="247"/>
                      <a:pt x="126" y="247"/>
                      <a:pt x="126" y="247"/>
                    </a:cubicBezTo>
                    <a:cubicBezTo>
                      <a:pt x="133" y="235"/>
                      <a:pt x="133" y="217"/>
                      <a:pt x="126" y="205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0" y="10"/>
                      <a:pt x="5" y="0"/>
                      <a:pt x="19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95" y="0"/>
                      <a:pt x="112" y="10"/>
                      <a:pt x="119" y="21"/>
                    </a:cubicBezTo>
                    <a:cubicBezTo>
                      <a:pt x="237" y="205"/>
                      <a:pt x="237" y="205"/>
                      <a:pt x="237" y="205"/>
                    </a:cubicBezTo>
                    <a:cubicBezTo>
                      <a:pt x="244" y="217"/>
                      <a:pt x="244" y="235"/>
                      <a:pt x="237" y="247"/>
                    </a:cubicBezTo>
                    <a:lnTo>
                      <a:pt x="119" y="43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33"/>
              </a:p>
            </p:txBody>
          </p:sp>
          <p:sp>
            <p:nvSpPr>
              <p:cNvPr id="31" name="Freeform 11">
                <a:extLst>
                  <a:ext uri="{FF2B5EF4-FFF2-40B4-BE49-F238E27FC236}">
                    <a16:creationId xmlns:a16="http://schemas.microsoft.com/office/drawing/2014/main" id="{6937FC3E-FD54-4CCB-B8B4-B03AA43C33F5}"/>
                  </a:ext>
                </a:extLst>
              </p:cNvPr>
              <p:cNvSpPr/>
              <p:nvPr/>
            </p:nvSpPr>
            <p:spPr bwMode="auto">
              <a:xfrm>
                <a:off x="654768" y="1909252"/>
                <a:ext cx="55607" cy="102686"/>
              </a:xfrm>
              <a:custGeom>
                <a:avLst/>
                <a:gdLst/>
                <a:ahLst/>
                <a:cxnLst>
                  <a:cxn ang="0">
                    <a:pos x="119" y="431"/>
                  </a:cxn>
                  <a:cxn ang="0">
                    <a:pos x="81" y="451"/>
                  </a:cxn>
                  <a:cxn ang="0">
                    <a:pos x="19" y="451"/>
                  </a:cxn>
                  <a:cxn ang="0">
                    <a:pos x="8" y="431"/>
                  </a:cxn>
                  <a:cxn ang="0">
                    <a:pos x="126" y="247"/>
                  </a:cxn>
                  <a:cxn ang="0">
                    <a:pos x="126" y="205"/>
                  </a:cxn>
                  <a:cxn ang="0">
                    <a:pos x="8" y="21"/>
                  </a:cxn>
                  <a:cxn ang="0">
                    <a:pos x="19" y="0"/>
                  </a:cxn>
                  <a:cxn ang="0">
                    <a:pos x="81" y="0"/>
                  </a:cxn>
                  <a:cxn ang="0">
                    <a:pos x="119" y="21"/>
                  </a:cxn>
                  <a:cxn ang="0">
                    <a:pos x="237" y="205"/>
                  </a:cxn>
                  <a:cxn ang="0">
                    <a:pos x="237" y="247"/>
                  </a:cxn>
                  <a:cxn ang="0">
                    <a:pos x="119" y="431"/>
                  </a:cxn>
                </a:cxnLst>
                <a:rect l="0" t="0" r="r" b="b"/>
                <a:pathLst>
                  <a:path w="244" h="451">
                    <a:moveTo>
                      <a:pt x="119" y="431"/>
                    </a:moveTo>
                    <a:cubicBezTo>
                      <a:pt x="112" y="442"/>
                      <a:pt x="95" y="451"/>
                      <a:pt x="81" y="451"/>
                    </a:cubicBezTo>
                    <a:cubicBezTo>
                      <a:pt x="19" y="451"/>
                      <a:pt x="19" y="451"/>
                      <a:pt x="19" y="451"/>
                    </a:cubicBezTo>
                    <a:cubicBezTo>
                      <a:pt x="5" y="451"/>
                      <a:pt x="0" y="442"/>
                      <a:pt x="8" y="431"/>
                    </a:cubicBezTo>
                    <a:cubicBezTo>
                      <a:pt x="126" y="247"/>
                      <a:pt x="126" y="247"/>
                      <a:pt x="126" y="247"/>
                    </a:cubicBezTo>
                    <a:cubicBezTo>
                      <a:pt x="133" y="235"/>
                      <a:pt x="133" y="217"/>
                      <a:pt x="126" y="205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0" y="10"/>
                      <a:pt x="5" y="0"/>
                      <a:pt x="19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95" y="0"/>
                      <a:pt x="112" y="10"/>
                      <a:pt x="119" y="21"/>
                    </a:cubicBezTo>
                    <a:cubicBezTo>
                      <a:pt x="237" y="205"/>
                      <a:pt x="237" y="205"/>
                      <a:pt x="237" y="205"/>
                    </a:cubicBezTo>
                    <a:cubicBezTo>
                      <a:pt x="244" y="217"/>
                      <a:pt x="244" y="235"/>
                      <a:pt x="237" y="247"/>
                    </a:cubicBezTo>
                    <a:lnTo>
                      <a:pt x="119" y="43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33"/>
              </a:p>
            </p:txBody>
          </p:sp>
        </p:grpSp>
      </p:grpSp>
      <p:graphicFrame>
        <p:nvGraphicFramePr>
          <p:cNvPr id="32" name="Group 304">
            <a:extLst>
              <a:ext uri="{FF2B5EF4-FFF2-40B4-BE49-F238E27FC236}">
                <a16:creationId xmlns:a16="http://schemas.microsoft.com/office/drawing/2014/main" id="{5BBE1715-2F06-4A7A-8755-7CCE60A5C06A}"/>
              </a:ext>
            </a:extLst>
          </p:cNvPr>
          <p:cNvGraphicFramePr>
            <a:graphicFrameLocks noGrp="1"/>
          </p:cNvGraphicFramePr>
          <p:nvPr/>
        </p:nvGraphicFramePr>
        <p:xfrm>
          <a:off x="673935" y="2416473"/>
          <a:ext cx="8557810" cy="3942005"/>
        </p:xfrm>
        <a:graphic>
          <a:graphicData uri="http://schemas.openxmlformats.org/drawingml/2006/table">
            <a:tbl>
              <a:tblPr/>
              <a:tblGrid>
                <a:gridCol w="1086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6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8858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구분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0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관리 방안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0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비고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504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000" b="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정책 및 지침 </a:t>
                      </a:r>
                      <a:endParaRPr kumimoji="0" lang="en-US" altLang="ko-KR" sz="1000" b="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인적</a:t>
                      </a:r>
                      <a:r>
                        <a:rPr lang="en-US" altLang="ko-KR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,</a:t>
                      </a: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물적 자원에 보안 정책 및 지침 수립 후 적용</a:t>
                      </a:r>
                      <a:endParaRPr lang="en-US" altLang="ko-KR" sz="90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보안 정책에 따른 수시 보안 진단 실시</a:t>
                      </a:r>
                      <a:endParaRPr lang="en-US" altLang="ko-KR" sz="90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endParaRPr lang="en-US" altLang="ko-KR" sz="90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454562"/>
                  </a:ext>
                </a:extLst>
              </a:tr>
              <a:tr h="543801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000" b="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인적 </a:t>
                      </a:r>
                      <a:br>
                        <a:rPr kumimoji="0" lang="en-US" altLang="ko-KR" sz="1000" b="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</a:br>
                      <a:r>
                        <a:rPr kumimoji="0" lang="ko-KR" altLang="en-US" sz="1000" b="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자원 관리</a:t>
                      </a:r>
                      <a:endParaRPr kumimoji="0" lang="en-US" altLang="ko-KR" sz="1000" b="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프로젝트 인력 투입 시 각 개인의 친필 서명이 들어간 보안서약서 제출</a:t>
                      </a:r>
                      <a:endParaRPr lang="en-US" altLang="ko-KR" sz="900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인원 교체 발생 시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,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 정보보안책임자에게 보고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(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임의 인원 교체 금지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)</a:t>
                      </a:r>
                    </a:p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사업 시작 전 또는 인원 교체 시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, 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보안 교육 후 참여</a:t>
                      </a:r>
                      <a:endParaRPr lang="en-US" altLang="ko-KR" sz="900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endParaRPr lang="en-US" altLang="ko-KR" sz="90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504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000" b="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비밀 보안 준수</a:t>
                      </a:r>
                      <a:endParaRPr kumimoji="0" lang="en-US" altLang="ko-KR" sz="1000" b="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사업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 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수행 중 취득한 지식은 비밀 보안 준수</a:t>
                      </a:r>
                      <a:endParaRPr lang="en-US" altLang="ko-KR" sz="900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+mn-ea"/>
                        <a:cs typeface="+mn-cs"/>
                        <a:sym typeface="Monotype Sorts"/>
                      </a:endParaRPr>
                    </a:p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사업 완료 후에도 취득한 지식에 대한 비밀 보안 준수</a:t>
                      </a:r>
                      <a:endParaRPr lang="en-US" altLang="ko-KR" sz="900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+mn-ea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endParaRPr lang="ko-KR" altLang="en-US" sz="90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643939"/>
                  </a:ext>
                </a:extLst>
              </a:tr>
              <a:tr h="387113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000" b="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취득 정보 </a:t>
                      </a:r>
                      <a:endParaRPr kumimoji="0" lang="en-US" altLang="ko-KR" sz="1000" b="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  <a:sym typeface="Monotype Sorts"/>
                      </a:endParaRPr>
                    </a:p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000" b="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유출 금지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수행 과정 중 취득한 자료와 정보는 발주사의 승인 없이 외부 유출 또는 누설 금지</a:t>
                      </a:r>
                      <a:endParaRPr lang="en-US" altLang="ko-KR" sz="90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법적 책임이 있는 대표자용 보안확약서 및 참여자용 보안 확약서 작성 및 제출</a:t>
                      </a:r>
                      <a:endParaRPr lang="en-US" altLang="ko-KR" sz="90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endParaRPr lang="ko-KR" altLang="ko-KR" sz="90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085743"/>
                  </a:ext>
                </a:extLst>
              </a:tr>
              <a:tr h="392949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000" b="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내부 </a:t>
                      </a:r>
                      <a:br>
                        <a:rPr kumimoji="0" lang="en-US" altLang="ko-KR" sz="1000" b="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</a:br>
                      <a:r>
                        <a:rPr kumimoji="0" lang="ko-KR" altLang="en-US" sz="1000" b="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자료 관리</a:t>
                      </a:r>
                      <a:endParaRPr kumimoji="0" lang="en-US" altLang="ko-KR" sz="1000" b="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사업 수행에 필요한 내부 자료는 복사 및 외부 반출 금지</a:t>
                      </a:r>
                      <a:endParaRPr lang="en-US" altLang="ko-KR" sz="90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단</a:t>
                      </a:r>
                      <a:r>
                        <a:rPr lang="en-US" altLang="ko-KR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, </a:t>
                      </a:r>
                      <a:r>
                        <a:rPr lang="ko-KR" altLang="en-US" sz="900" kern="1200" noProof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발주사</a:t>
                      </a: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 승인 시 프로그램소스 등 산출물 보관을 위한 보조기억매체 제외</a:t>
                      </a:r>
                      <a:r>
                        <a:rPr lang="en-US" altLang="ko-KR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)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056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000" b="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용역 산출물 </a:t>
                      </a:r>
                      <a:br>
                        <a:rPr kumimoji="0" lang="en-US" altLang="ko-KR" sz="1000" b="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</a:br>
                      <a:r>
                        <a:rPr kumimoji="0" lang="ko-KR" altLang="en-US" sz="1000" b="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보안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사업 수행 시 생산되는 모든 산출물은 지정된 산출물 저장소 또는 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PC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에 저장</a:t>
                      </a:r>
                      <a:endParaRPr lang="en-US" altLang="ko-KR" sz="900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사업 종료 시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,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 고객사에서 지정하는 정보보안 담당자의 입회 하에 완전 폐기 또는 반납</a:t>
                      </a:r>
                      <a:endParaRPr lang="en-US" altLang="ko-KR" sz="900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일체의 성과물은 제 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3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자 대여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/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양도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/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판매 금지</a:t>
                      </a:r>
                      <a:endParaRPr lang="en-US" altLang="ko-KR" sz="900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지정된 자료 관리 </a:t>
                      </a:r>
                      <a:r>
                        <a:rPr lang="en-US" altLang="ko-KR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PC</a:t>
                      </a: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는 외부와의 </a:t>
                      </a:r>
                      <a:r>
                        <a:rPr lang="en-US" altLang="ko-KR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Network</a:t>
                      </a: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 차단</a:t>
                      </a:r>
                      <a:endParaRPr lang="ko-KR" altLang="ko-KR" sz="90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2056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000" b="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개인정보보호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개인정보 보호 및 관리 사항은 개인정보보호법 및 개인정보의 기술적</a:t>
                      </a:r>
                      <a:r>
                        <a:rPr lang="en-US" altLang="ko-KR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/</a:t>
                      </a: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관리적 보호 조치 기준을 준수하여 관리 실시</a:t>
                      </a:r>
                      <a:endParaRPr lang="en-US" altLang="ko-KR" sz="90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개인식별 정보는 암호화하여 </a:t>
                      </a:r>
                      <a:r>
                        <a:rPr lang="en-US" altLang="ko-KR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DB</a:t>
                      </a: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에 저장하며</a:t>
                      </a:r>
                      <a:r>
                        <a:rPr lang="en-US" altLang="ko-KR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, </a:t>
                      </a: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소스코드에 직접 코딩하지 않음</a:t>
                      </a:r>
                      <a:endParaRPr lang="en-US" altLang="ko-KR" sz="90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개인정보처리 방침에 따라 개인정보 처리</a:t>
                      </a:r>
                      <a:r>
                        <a:rPr lang="en-US" altLang="ko-KR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/</a:t>
                      </a: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파기하며</a:t>
                      </a:r>
                      <a:r>
                        <a:rPr lang="en-US" altLang="ko-KR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, </a:t>
                      </a: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백업데이터 생성은 금지</a:t>
                      </a:r>
                      <a:endParaRPr lang="en-US" altLang="ko-KR" sz="90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endParaRPr lang="ko-KR" altLang="ko-KR" sz="90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069543"/>
                  </a:ext>
                </a:extLst>
              </a:tr>
              <a:tr h="235033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000" b="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저작권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저작권을 침해할 수 있는 소프트웨어 및 문서의 보유 및 사용 금지</a:t>
                      </a:r>
                      <a:endParaRPr lang="en-US" altLang="ko-KR" sz="90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endParaRPr lang="ko-KR" altLang="ko-KR" sz="900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609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523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텍스트 개체 틀 1">
            <a:extLst>
              <a:ext uri="{FF2B5EF4-FFF2-40B4-BE49-F238E27FC236}">
                <a16:creationId xmlns:a16="http://schemas.microsoft.com/office/drawing/2014/main" id="{CA33A457-E894-C0BE-18EC-CC6B239E554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524720" y="551022"/>
            <a:ext cx="7772496" cy="139604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기밀 보장</a:t>
            </a:r>
          </a:p>
        </p:txBody>
      </p:sp>
      <p:sp>
        <p:nvSpPr>
          <p:cNvPr id="59" name="텍스트 개체 틀 2">
            <a:extLst>
              <a:ext uri="{FF2B5EF4-FFF2-40B4-BE49-F238E27FC236}">
                <a16:creationId xmlns:a16="http://schemas.microsoft.com/office/drawing/2014/main" id="{9FA52DE2-9E2F-5C86-FDA7-17CC870278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524720" y="739918"/>
            <a:ext cx="7772496" cy="167526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4.3 </a:t>
            </a:r>
            <a:r>
              <a:rPr lang="ko-KR" altLang="en-US"/>
              <a:t>물리적</a:t>
            </a:r>
            <a:r>
              <a:rPr lang="en-US" altLang="ko-KR"/>
              <a:t>/</a:t>
            </a:r>
            <a:r>
              <a:rPr lang="ko-KR" altLang="en-US"/>
              <a:t>기술적</a:t>
            </a:r>
            <a:r>
              <a:rPr lang="en-US" altLang="ko-KR"/>
              <a:t>/</a:t>
            </a:r>
            <a:r>
              <a:rPr lang="ko-KR" altLang="en-US" err="1"/>
              <a:t>망접근</a:t>
            </a:r>
            <a:r>
              <a:rPr lang="ko-KR" altLang="en-US"/>
              <a:t> 보안</a:t>
            </a:r>
          </a:p>
        </p:txBody>
      </p:sp>
      <p:sp>
        <p:nvSpPr>
          <p:cNvPr id="60" name="텍스트 개체 틀 3">
            <a:extLst>
              <a:ext uri="{FF2B5EF4-FFF2-40B4-BE49-F238E27FC236}">
                <a16:creationId xmlns:a16="http://schemas.microsoft.com/office/drawing/2014/main" id="{7BA112B2-640E-AB4E-CE55-5D071362C80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524721" y="966426"/>
            <a:ext cx="7772496" cy="39087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ko-KR" altLang="en-US"/>
              <a:t>내</a:t>
            </a:r>
            <a:r>
              <a:rPr lang="en-US" altLang="ko-KR"/>
              <a:t>/</a:t>
            </a:r>
            <a:r>
              <a:rPr lang="ko-KR" altLang="en-US" err="1"/>
              <a:t>외부망</a:t>
            </a:r>
            <a:r>
              <a:rPr lang="ko-KR" altLang="en-US"/>
              <a:t> 접근 관리</a:t>
            </a:r>
            <a:r>
              <a:rPr lang="en-US" altLang="ko-KR"/>
              <a:t>, </a:t>
            </a:r>
            <a:r>
              <a:rPr lang="ko-KR" altLang="en-US"/>
              <a:t>시설에 대한 출입 관리</a:t>
            </a:r>
            <a:r>
              <a:rPr lang="en-US" altLang="ko-KR"/>
              <a:t>, </a:t>
            </a:r>
            <a:r>
              <a:rPr lang="ko-KR" altLang="en-US"/>
              <a:t>장비 반출 관리 등 지속적인 물리적 보안 사고 방지 활동을 실시합니다</a:t>
            </a:r>
            <a:r>
              <a:rPr lang="en-US" altLang="ko-KR"/>
              <a:t>.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7F8678B-4A72-4943-BC23-269B862DE870}"/>
              </a:ext>
            </a:extLst>
          </p:cNvPr>
          <p:cNvGrpSpPr/>
          <p:nvPr/>
        </p:nvGrpSpPr>
        <p:grpSpPr>
          <a:xfrm>
            <a:off x="609126" y="2056537"/>
            <a:ext cx="8688091" cy="4344936"/>
            <a:chOff x="558795" y="2266950"/>
            <a:chExt cx="4679573" cy="4789487"/>
          </a:xfrm>
        </p:grpSpPr>
        <p:sp>
          <p:nvSpPr>
            <p:cNvPr id="35" name="모서리가 둥근 직사각형 16">
              <a:extLst>
                <a:ext uri="{FF2B5EF4-FFF2-40B4-BE49-F238E27FC236}">
                  <a16:creationId xmlns:a16="http://schemas.microsoft.com/office/drawing/2014/main" id="{B70A0D2A-A297-4156-9DAB-A406AEDE77B9}"/>
                </a:ext>
              </a:extLst>
            </p:cNvPr>
            <p:cNvSpPr/>
            <p:nvPr/>
          </p:nvSpPr>
          <p:spPr bwMode="auto">
            <a:xfrm flipH="1">
              <a:off x="558795" y="2590950"/>
              <a:ext cx="4679569" cy="44654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dist="12700" dir="5400000" algn="t" rotWithShape="0">
                <a:srgbClr val="FFDB2D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lvl="1" algn="ctr" defTabSz="946199" eaLnBrk="0" hangingPunct="0">
                <a:buClr>
                  <a:srgbClr val="3271AA"/>
                </a:buClr>
                <a:buSzPct val="140000"/>
                <a:tabLst>
                  <a:tab pos="5124160" algn="l"/>
                </a:tabLst>
              </a:pPr>
              <a:endParaRPr lang="en-US" altLang="ko-KR" sz="907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itchFamily="34" charset="0"/>
                <a:sym typeface="KoPub돋움체 Medium"/>
              </a:endParaRPr>
            </a:p>
          </p:txBody>
        </p:sp>
        <p:sp>
          <p:nvSpPr>
            <p:cNvPr id="36" name="모서리가 둥근 직사각형 16">
              <a:extLst>
                <a:ext uri="{FF2B5EF4-FFF2-40B4-BE49-F238E27FC236}">
                  <a16:creationId xmlns:a16="http://schemas.microsoft.com/office/drawing/2014/main" id="{00C3A919-EF94-4754-B747-1ECCB95AAD4E}"/>
                </a:ext>
              </a:extLst>
            </p:cNvPr>
            <p:cNvSpPr/>
            <p:nvPr/>
          </p:nvSpPr>
          <p:spPr bwMode="auto">
            <a:xfrm flipH="1">
              <a:off x="558798" y="2266950"/>
              <a:ext cx="4679570" cy="324000"/>
            </a:xfrm>
            <a:prstGeom prst="round2SameRect">
              <a:avLst/>
            </a:prstGeom>
            <a:solidFill>
              <a:srgbClr val="FFDB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1" algn="ctr" defTabSz="946199" eaLnBrk="0" hangingPunct="0">
                <a:buClr>
                  <a:srgbClr val="3271AA"/>
                </a:buClr>
                <a:buSzPct val="140000"/>
                <a:tabLst>
                  <a:tab pos="5124160" algn="l"/>
                </a:tabLst>
              </a:pPr>
              <a:r>
                <a:rPr lang="ko-KR" altLang="en-US" sz="1179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KoPub돋움체 Medium"/>
                </a:rPr>
                <a:t>물리적</a:t>
              </a:r>
              <a:r>
                <a:rPr lang="en-US" altLang="ko-KR" sz="1179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KoPub돋움체 Medium"/>
                </a:rPr>
                <a:t>/</a:t>
              </a:r>
              <a:r>
                <a:rPr lang="ko-KR" altLang="en-US" sz="1179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KoPub돋움체 Medium"/>
                </a:rPr>
                <a:t>기술적 보안 관리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68089CC-4AD2-46DE-AFBF-E725C8F0FFAC}"/>
              </a:ext>
            </a:extLst>
          </p:cNvPr>
          <p:cNvGrpSpPr/>
          <p:nvPr/>
        </p:nvGrpSpPr>
        <p:grpSpPr>
          <a:xfrm>
            <a:off x="607866" y="1748640"/>
            <a:ext cx="4324830" cy="196785"/>
            <a:chOff x="556201" y="1852137"/>
            <a:chExt cx="4767324" cy="216919"/>
          </a:xfrm>
        </p:grpSpPr>
        <p:sp>
          <p:nvSpPr>
            <p:cNvPr id="38" name="직사각형 245">
              <a:extLst>
                <a:ext uri="{FF2B5EF4-FFF2-40B4-BE49-F238E27FC236}">
                  <a16:creationId xmlns:a16="http://schemas.microsoft.com/office/drawing/2014/main" id="{1053C0DE-2EAD-455F-ABDF-B228016C6115}"/>
                </a:ext>
              </a:extLst>
            </p:cNvPr>
            <p:cNvSpPr/>
            <p:nvPr/>
          </p:nvSpPr>
          <p:spPr bwMode="auto">
            <a:xfrm>
              <a:off x="787525" y="1852137"/>
              <a:ext cx="4536000" cy="2169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defTabSz="890031">
                <a:lnSpc>
                  <a:spcPct val="110000"/>
                </a:lnSpc>
                <a:buClr>
                  <a:srgbClr val="86B6D0"/>
                </a:buClr>
                <a:buSzPct val="100000"/>
                <a:tabLst>
                  <a:tab pos="4824603" algn="l"/>
                </a:tabLst>
              </a:pPr>
              <a:r>
                <a:rPr lang="ko-KR" altLang="en-US" sz="1270" dirty="0">
                  <a:gradFill>
                    <a:gsLst>
                      <a:gs pos="38931">
                        <a:schemeClr val="tx1">
                          <a:lumMod val="95000"/>
                          <a:lumOff val="5000"/>
                        </a:schemeClr>
                      </a:gs>
                      <a:gs pos="19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0" scaled="0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KoPub돋움체 Medium"/>
                </a:rPr>
                <a:t>물리적</a:t>
              </a:r>
              <a:r>
                <a:rPr lang="en-US" altLang="ko-KR" sz="1270" dirty="0">
                  <a:gradFill>
                    <a:gsLst>
                      <a:gs pos="38931">
                        <a:schemeClr val="tx1">
                          <a:lumMod val="95000"/>
                          <a:lumOff val="5000"/>
                        </a:schemeClr>
                      </a:gs>
                      <a:gs pos="19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0" scaled="0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KoPub돋움체 Medium"/>
                </a:rPr>
                <a:t>/</a:t>
              </a:r>
              <a:r>
                <a:rPr lang="ko-KR" altLang="en-US" sz="1270" dirty="0">
                  <a:gradFill>
                    <a:gsLst>
                      <a:gs pos="38931">
                        <a:schemeClr val="tx1">
                          <a:lumMod val="95000"/>
                          <a:lumOff val="5000"/>
                        </a:schemeClr>
                      </a:gs>
                      <a:gs pos="19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0" scaled="0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KoPub돋움체 Medium"/>
                </a:rPr>
                <a:t>기술적 보안 관리 방안</a:t>
              </a: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055C4899-58FE-4EA9-A96B-E1A154D47A47}"/>
                </a:ext>
              </a:extLst>
            </p:cNvPr>
            <p:cNvGrpSpPr/>
            <p:nvPr/>
          </p:nvGrpSpPr>
          <p:grpSpPr>
            <a:xfrm>
              <a:off x="556201" y="1862335"/>
              <a:ext cx="196274" cy="196522"/>
              <a:chOff x="556201" y="1862334"/>
              <a:chExt cx="196274" cy="196522"/>
            </a:xfrm>
          </p:grpSpPr>
          <p:sp>
            <p:nvSpPr>
              <p:cNvPr id="40" name="Freeform 6">
                <a:extLst>
                  <a:ext uri="{FF2B5EF4-FFF2-40B4-BE49-F238E27FC236}">
                    <a16:creationId xmlns:a16="http://schemas.microsoft.com/office/drawing/2014/main" id="{29418A6B-BC13-4C2E-8E28-28C69B0B2200}"/>
                  </a:ext>
                </a:extLst>
              </p:cNvPr>
              <p:cNvSpPr/>
              <p:nvPr/>
            </p:nvSpPr>
            <p:spPr bwMode="auto">
              <a:xfrm>
                <a:off x="556201" y="1862334"/>
                <a:ext cx="196274" cy="196522"/>
              </a:xfrm>
              <a:custGeom>
                <a:avLst/>
                <a:gdLst/>
                <a:ahLst/>
                <a:cxnLst>
                  <a:cxn ang="0">
                    <a:pos x="63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30"/>
                  </a:cxn>
                  <a:cxn ang="0">
                    <a:pos x="0" y="630"/>
                  </a:cxn>
                  <a:cxn ang="0">
                    <a:pos x="165" y="795"/>
                  </a:cxn>
                  <a:cxn ang="0">
                    <a:pos x="165" y="795"/>
                  </a:cxn>
                  <a:cxn ang="0">
                    <a:pos x="165" y="795"/>
                  </a:cxn>
                  <a:cxn ang="0">
                    <a:pos x="795" y="795"/>
                  </a:cxn>
                  <a:cxn ang="0">
                    <a:pos x="795" y="795"/>
                  </a:cxn>
                  <a:cxn ang="0">
                    <a:pos x="795" y="166"/>
                  </a:cxn>
                  <a:cxn ang="0">
                    <a:pos x="795" y="166"/>
                  </a:cxn>
                  <a:cxn ang="0">
                    <a:pos x="630" y="0"/>
                  </a:cxn>
                  <a:cxn ang="0">
                    <a:pos x="630" y="0"/>
                  </a:cxn>
                </a:cxnLst>
                <a:rect l="0" t="0" r="r" b="b"/>
                <a:pathLst>
                  <a:path w="795" h="795">
                    <a:moveTo>
                      <a:pt x="63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30"/>
                      <a:pt x="0" y="630"/>
                      <a:pt x="0" y="630"/>
                    </a:cubicBezTo>
                    <a:cubicBezTo>
                      <a:pt x="0" y="630"/>
                      <a:pt x="0" y="630"/>
                      <a:pt x="0" y="630"/>
                    </a:cubicBezTo>
                    <a:cubicBezTo>
                      <a:pt x="0" y="721"/>
                      <a:pt x="74" y="795"/>
                      <a:pt x="165" y="795"/>
                    </a:cubicBezTo>
                    <a:cubicBezTo>
                      <a:pt x="165" y="795"/>
                      <a:pt x="165" y="795"/>
                      <a:pt x="165" y="795"/>
                    </a:cubicBezTo>
                    <a:cubicBezTo>
                      <a:pt x="165" y="795"/>
                      <a:pt x="165" y="795"/>
                      <a:pt x="165" y="795"/>
                    </a:cubicBezTo>
                    <a:cubicBezTo>
                      <a:pt x="795" y="795"/>
                      <a:pt x="795" y="795"/>
                      <a:pt x="795" y="795"/>
                    </a:cubicBezTo>
                    <a:cubicBezTo>
                      <a:pt x="795" y="795"/>
                      <a:pt x="795" y="795"/>
                      <a:pt x="795" y="795"/>
                    </a:cubicBezTo>
                    <a:cubicBezTo>
                      <a:pt x="795" y="166"/>
                      <a:pt x="795" y="166"/>
                      <a:pt x="795" y="166"/>
                    </a:cubicBezTo>
                    <a:cubicBezTo>
                      <a:pt x="795" y="166"/>
                      <a:pt x="795" y="166"/>
                      <a:pt x="795" y="166"/>
                    </a:cubicBezTo>
                    <a:cubicBezTo>
                      <a:pt x="795" y="74"/>
                      <a:pt x="721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33"/>
              </a:p>
            </p:txBody>
          </p:sp>
          <p:sp>
            <p:nvSpPr>
              <p:cNvPr id="41" name="Freeform 11">
                <a:extLst>
                  <a:ext uri="{FF2B5EF4-FFF2-40B4-BE49-F238E27FC236}">
                    <a16:creationId xmlns:a16="http://schemas.microsoft.com/office/drawing/2014/main" id="{DA570FC5-EAC9-41D7-9929-041A8B4B536F}"/>
                  </a:ext>
                </a:extLst>
              </p:cNvPr>
              <p:cNvSpPr/>
              <p:nvPr/>
            </p:nvSpPr>
            <p:spPr bwMode="auto">
              <a:xfrm>
                <a:off x="607143" y="1909252"/>
                <a:ext cx="55607" cy="102686"/>
              </a:xfrm>
              <a:custGeom>
                <a:avLst/>
                <a:gdLst/>
                <a:ahLst/>
                <a:cxnLst>
                  <a:cxn ang="0">
                    <a:pos x="119" y="431"/>
                  </a:cxn>
                  <a:cxn ang="0">
                    <a:pos x="81" y="451"/>
                  </a:cxn>
                  <a:cxn ang="0">
                    <a:pos x="19" y="451"/>
                  </a:cxn>
                  <a:cxn ang="0">
                    <a:pos x="8" y="431"/>
                  </a:cxn>
                  <a:cxn ang="0">
                    <a:pos x="126" y="247"/>
                  </a:cxn>
                  <a:cxn ang="0">
                    <a:pos x="126" y="205"/>
                  </a:cxn>
                  <a:cxn ang="0">
                    <a:pos x="8" y="21"/>
                  </a:cxn>
                  <a:cxn ang="0">
                    <a:pos x="19" y="0"/>
                  </a:cxn>
                  <a:cxn ang="0">
                    <a:pos x="81" y="0"/>
                  </a:cxn>
                  <a:cxn ang="0">
                    <a:pos x="119" y="21"/>
                  </a:cxn>
                  <a:cxn ang="0">
                    <a:pos x="237" y="205"/>
                  </a:cxn>
                  <a:cxn ang="0">
                    <a:pos x="237" y="247"/>
                  </a:cxn>
                  <a:cxn ang="0">
                    <a:pos x="119" y="431"/>
                  </a:cxn>
                </a:cxnLst>
                <a:rect l="0" t="0" r="r" b="b"/>
                <a:pathLst>
                  <a:path w="244" h="451">
                    <a:moveTo>
                      <a:pt x="119" y="431"/>
                    </a:moveTo>
                    <a:cubicBezTo>
                      <a:pt x="112" y="442"/>
                      <a:pt x="95" y="451"/>
                      <a:pt x="81" y="451"/>
                    </a:cubicBezTo>
                    <a:cubicBezTo>
                      <a:pt x="19" y="451"/>
                      <a:pt x="19" y="451"/>
                      <a:pt x="19" y="451"/>
                    </a:cubicBezTo>
                    <a:cubicBezTo>
                      <a:pt x="5" y="451"/>
                      <a:pt x="0" y="442"/>
                      <a:pt x="8" y="431"/>
                    </a:cubicBezTo>
                    <a:cubicBezTo>
                      <a:pt x="126" y="247"/>
                      <a:pt x="126" y="247"/>
                      <a:pt x="126" y="247"/>
                    </a:cubicBezTo>
                    <a:cubicBezTo>
                      <a:pt x="133" y="235"/>
                      <a:pt x="133" y="217"/>
                      <a:pt x="126" y="205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0" y="10"/>
                      <a:pt x="5" y="0"/>
                      <a:pt x="19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95" y="0"/>
                      <a:pt x="112" y="10"/>
                      <a:pt x="119" y="21"/>
                    </a:cubicBezTo>
                    <a:cubicBezTo>
                      <a:pt x="237" y="205"/>
                      <a:pt x="237" y="205"/>
                      <a:pt x="237" y="205"/>
                    </a:cubicBezTo>
                    <a:cubicBezTo>
                      <a:pt x="244" y="217"/>
                      <a:pt x="244" y="235"/>
                      <a:pt x="237" y="247"/>
                    </a:cubicBezTo>
                    <a:lnTo>
                      <a:pt x="119" y="43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33"/>
              </a:p>
            </p:txBody>
          </p:sp>
          <p:sp>
            <p:nvSpPr>
              <p:cNvPr id="42" name="Freeform 11">
                <a:extLst>
                  <a:ext uri="{FF2B5EF4-FFF2-40B4-BE49-F238E27FC236}">
                    <a16:creationId xmlns:a16="http://schemas.microsoft.com/office/drawing/2014/main" id="{A7E462EA-983C-47B7-9C11-E5F29AD0BFAC}"/>
                  </a:ext>
                </a:extLst>
              </p:cNvPr>
              <p:cNvSpPr/>
              <p:nvPr/>
            </p:nvSpPr>
            <p:spPr bwMode="auto">
              <a:xfrm>
                <a:off x="654768" y="1909252"/>
                <a:ext cx="55607" cy="102686"/>
              </a:xfrm>
              <a:custGeom>
                <a:avLst/>
                <a:gdLst/>
                <a:ahLst/>
                <a:cxnLst>
                  <a:cxn ang="0">
                    <a:pos x="119" y="431"/>
                  </a:cxn>
                  <a:cxn ang="0">
                    <a:pos x="81" y="451"/>
                  </a:cxn>
                  <a:cxn ang="0">
                    <a:pos x="19" y="451"/>
                  </a:cxn>
                  <a:cxn ang="0">
                    <a:pos x="8" y="431"/>
                  </a:cxn>
                  <a:cxn ang="0">
                    <a:pos x="126" y="247"/>
                  </a:cxn>
                  <a:cxn ang="0">
                    <a:pos x="126" y="205"/>
                  </a:cxn>
                  <a:cxn ang="0">
                    <a:pos x="8" y="21"/>
                  </a:cxn>
                  <a:cxn ang="0">
                    <a:pos x="19" y="0"/>
                  </a:cxn>
                  <a:cxn ang="0">
                    <a:pos x="81" y="0"/>
                  </a:cxn>
                  <a:cxn ang="0">
                    <a:pos x="119" y="21"/>
                  </a:cxn>
                  <a:cxn ang="0">
                    <a:pos x="237" y="205"/>
                  </a:cxn>
                  <a:cxn ang="0">
                    <a:pos x="237" y="247"/>
                  </a:cxn>
                  <a:cxn ang="0">
                    <a:pos x="119" y="431"/>
                  </a:cxn>
                </a:cxnLst>
                <a:rect l="0" t="0" r="r" b="b"/>
                <a:pathLst>
                  <a:path w="244" h="451">
                    <a:moveTo>
                      <a:pt x="119" y="431"/>
                    </a:moveTo>
                    <a:cubicBezTo>
                      <a:pt x="112" y="442"/>
                      <a:pt x="95" y="451"/>
                      <a:pt x="81" y="451"/>
                    </a:cubicBezTo>
                    <a:cubicBezTo>
                      <a:pt x="19" y="451"/>
                      <a:pt x="19" y="451"/>
                      <a:pt x="19" y="451"/>
                    </a:cubicBezTo>
                    <a:cubicBezTo>
                      <a:pt x="5" y="451"/>
                      <a:pt x="0" y="442"/>
                      <a:pt x="8" y="431"/>
                    </a:cubicBezTo>
                    <a:cubicBezTo>
                      <a:pt x="126" y="247"/>
                      <a:pt x="126" y="247"/>
                      <a:pt x="126" y="247"/>
                    </a:cubicBezTo>
                    <a:cubicBezTo>
                      <a:pt x="133" y="235"/>
                      <a:pt x="133" y="217"/>
                      <a:pt x="126" y="205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0" y="10"/>
                      <a:pt x="5" y="0"/>
                      <a:pt x="19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95" y="0"/>
                      <a:pt x="112" y="10"/>
                      <a:pt x="119" y="21"/>
                    </a:cubicBezTo>
                    <a:cubicBezTo>
                      <a:pt x="237" y="205"/>
                      <a:pt x="237" y="205"/>
                      <a:pt x="237" y="205"/>
                    </a:cubicBezTo>
                    <a:cubicBezTo>
                      <a:pt x="244" y="217"/>
                      <a:pt x="244" y="235"/>
                      <a:pt x="237" y="247"/>
                    </a:cubicBezTo>
                    <a:lnTo>
                      <a:pt x="119" y="43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33"/>
              </a:p>
            </p:txBody>
          </p:sp>
        </p:grpSp>
      </p:grpSp>
      <p:graphicFrame>
        <p:nvGraphicFramePr>
          <p:cNvPr id="43" name="Group 304">
            <a:extLst>
              <a:ext uri="{FF2B5EF4-FFF2-40B4-BE49-F238E27FC236}">
                <a16:creationId xmlns:a16="http://schemas.microsoft.com/office/drawing/2014/main" id="{32124C17-7F27-4E03-8258-150F20D49BA8}"/>
              </a:ext>
            </a:extLst>
          </p:cNvPr>
          <p:cNvGraphicFramePr>
            <a:graphicFrameLocks noGrp="1"/>
          </p:cNvGraphicFramePr>
          <p:nvPr/>
        </p:nvGraphicFramePr>
        <p:xfrm>
          <a:off x="673935" y="2416474"/>
          <a:ext cx="8557810" cy="4002997"/>
        </p:xfrm>
        <a:graphic>
          <a:graphicData uri="http://schemas.openxmlformats.org/drawingml/2006/table">
            <a:tbl>
              <a:tblPr/>
              <a:tblGrid>
                <a:gridCol w="1230730">
                  <a:extLst>
                    <a:ext uri="{9D8B030D-6E8A-4147-A177-3AD203B41FA5}">
                      <a16:colId xmlns:a16="http://schemas.microsoft.com/office/drawing/2014/main" val="2450515164"/>
                    </a:ext>
                  </a:extLst>
                </a:gridCol>
                <a:gridCol w="1230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1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4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0649"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구분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200" b="0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구분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0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관리 방안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0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비고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7549">
                <a:tc rowSpan="4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000" b="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물리적 보안</a:t>
                      </a:r>
                      <a:endParaRPr kumimoji="0" lang="en-US" altLang="ko-KR" sz="1000" b="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000" b="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장비 반입</a:t>
                      </a:r>
                      <a:r>
                        <a:rPr kumimoji="0" lang="en-US" altLang="ko-KR" sz="1000" b="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/</a:t>
                      </a:r>
                      <a:r>
                        <a:rPr kumimoji="0" lang="ko-KR" altLang="en-US" sz="1000" b="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반출 관리</a:t>
                      </a:r>
                      <a:endParaRPr kumimoji="0" lang="en-US" altLang="ko-KR" sz="1000" b="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indent="-95590" defTabSz="1101784" eaLnBrk="0" latinLnBrk="0" hangingPunct="0">
                        <a:spcBef>
                          <a:spcPts val="300"/>
                        </a:spcBef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defRPr/>
                      </a:pPr>
                      <a:r>
                        <a:rPr lang="ko-KR" alt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sym typeface="KoPub돋움체 Medium"/>
                        </a:rPr>
                        <a:t>외부 반입 장비 악성 코드 감염 확인</a:t>
                      </a:r>
                    </a:p>
                    <a:p>
                      <a:pPr marL="171450" indent="-95250" defTabSz="1101784" eaLnBrk="0" hangingPunct="0"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KoPub돋움체 Medium" pitchFamily="18" charset="-127"/>
                        <a:buChar char="-"/>
                        <a:defRPr/>
                      </a:pPr>
                      <a:r>
                        <a:rPr lang="ko-KR" alt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sym typeface="KoPub돋움체 Medium"/>
                        </a:rPr>
                        <a:t>사용자 </a:t>
                      </a:r>
                      <a:r>
                        <a:rPr lang="en-US" altLang="ko-KR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sym typeface="KoPub돋움체 Medium"/>
                        </a:rPr>
                        <a:t>PC </a:t>
                      </a:r>
                      <a:r>
                        <a:rPr lang="ko-KR" alt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sym typeface="KoPub돋움체 Medium"/>
                        </a:rPr>
                        <a:t>백신 프로그램 최신 상태 유지</a:t>
                      </a:r>
                      <a:endParaRPr lang="en-US" altLang="ko-KR" sz="9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+mn-ea"/>
                        <a:sym typeface="KoPub돋움체 Medium"/>
                      </a:endParaRPr>
                    </a:p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정기적인 바이러스 및 해킹도구 검사 실시</a:t>
                      </a:r>
                      <a:endParaRPr lang="en-US" altLang="ko-KR" sz="900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  <a:p>
                      <a:pPr marL="95590" indent="-95590" defTabSz="1101784" eaLnBrk="0" latinLnBrk="0" hangingPunct="0">
                        <a:spcBef>
                          <a:spcPts val="300"/>
                        </a:spcBef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defRPr/>
                      </a:pPr>
                      <a:r>
                        <a:rPr lang="ko-KR" alt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sym typeface="KoPub돋움체 Medium"/>
                        </a:rPr>
                        <a:t>노트북</a:t>
                      </a:r>
                      <a:r>
                        <a:rPr lang="en-US" altLang="ko-KR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sym typeface="KoPub돋움체 Medium"/>
                        </a:rPr>
                        <a:t>, USB </a:t>
                      </a:r>
                      <a:r>
                        <a:rPr lang="ko-KR" alt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sym typeface="KoPub돋움체 Medium"/>
                        </a:rPr>
                        <a:t>등 장비 관리 절차 준수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endParaRPr lang="en-US" altLang="ko-KR" sz="90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454562"/>
                  </a:ext>
                </a:extLst>
              </a:tr>
              <a:tr h="246168">
                <a:tc v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en-US" altLang="ko-KR" sz="1100" b="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  <a:sym typeface="Monotype Sorts"/>
                      </a:endParaRPr>
                    </a:p>
                  </a:txBody>
                  <a:tcPr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000" b="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시설 보안</a:t>
                      </a:r>
                      <a:endParaRPr kumimoji="0" lang="en-US" altLang="ko-KR" sz="1000" b="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프로젝트 수행 사무실 주요 장비 </a:t>
                      </a: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설치 장소에 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대한 출입 보안 실시</a:t>
                      </a:r>
                      <a:endParaRPr lang="en-US" altLang="ko-KR" sz="900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endParaRPr lang="en-US" altLang="ko-KR" sz="90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627">
                <a:tc v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en-US" altLang="ko-KR" sz="1100" b="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  <a:sym typeface="Monotype Sorts"/>
                      </a:endParaRPr>
                    </a:p>
                  </a:txBody>
                  <a:tcPr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000" b="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사무 환경 관리</a:t>
                      </a:r>
                      <a:endParaRPr kumimoji="0" lang="en-US" altLang="ko-KR" sz="1000" b="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sym typeface="KoPub돋움체 Medium"/>
                        </a:rPr>
                        <a:t>중요 문서 보관을 위한 잠금 장치가 되어 있는 보관함 사용</a:t>
                      </a:r>
                      <a:endParaRPr lang="en-US" altLang="ko-KR" sz="9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+mn-ea"/>
                        <a:sym typeface="KoPub돋움체 Medium"/>
                      </a:endParaRPr>
                    </a:p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sym typeface="KoPub돋움체 Medium"/>
                        </a:rPr>
                        <a:t>문서의 보안 등급을 부여하고 권한 관리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endParaRPr lang="ko-KR" altLang="en-US" sz="90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643939"/>
                  </a:ext>
                </a:extLst>
              </a:tr>
              <a:tr h="682056">
                <a:tc v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  <a:sym typeface="Monotype Sorts"/>
                      </a:endParaRPr>
                    </a:p>
                  </a:txBody>
                  <a:tcPr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000" b="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자료 폐기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indent="-95590" defTabSz="1101784" eaLnBrk="0" latinLnBrk="0" hangingPunct="0">
                        <a:spcBef>
                          <a:spcPts val="200"/>
                        </a:spcBef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defRPr/>
                      </a:pPr>
                      <a:r>
                        <a:rPr lang="ko-KR" alt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sym typeface="KoPub돋움체 Medium"/>
                        </a:rPr>
                        <a:t>사업 종료 후 산출물은 대외 보안의 정도에 따라 삭제 또는 폐기</a:t>
                      </a:r>
                    </a:p>
                    <a:p>
                      <a:pPr marL="95590" indent="-95590" defTabSz="1101784" eaLnBrk="0" latinLnBrk="0" hangingPunct="0">
                        <a:spcBef>
                          <a:spcPts val="200"/>
                        </a:spcBef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defRPr/>
                      </a:pPr>
                      <a:r>
                        <a:rPr lang="ko-KR" alt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sym typeface="KoPub돋움체 Medium"/>
                        </a:rPr>
                        <a:t>노트북</a:t>
                      </a:r>
                      <a:r>
                        <a:rPr lang="en-US" altLang="ko-KR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sym typeface="KoPub돋움체 Medium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sym typeface="KoPub돋움체 Medium"/>
                        </a:rPr>
                        <a:t>보조기억매체 등 전자적으로 기록된 자료는 “정보시스템 저장매체 불용처리 지침 준수”</a:t>
                      </a:r>
                    </a:p>
                    <a:p>
                      <a:pPr marL="95590" indent="-95590" defTabSz="1101784" eaLnBrk="0" latinLnBrk="0" hangingPunct="0">
                        <a:spcBef>
                          <a:spcPts val="200"/>
                        </a:spcBef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defRPr/>
                      </a:pPr>
                      <a:r>
                        <a:rPr lang="ko-KR" alt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sym typeface="KoPub돋움체 Medium"/>
                        </a:rPr>
                        <a:t>완벽한 자료의 삭제를 위해 제안사의 데이터삭제 </a:t>
                      </a:r>
                      <a:r>
                        <a:rPr lang="en-US" altLang="ko-KR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sym typeface="KoPub돋움체 Medium"/>
                        </a:rPr>
                        <a:t>S/W </a:t>
                      </a:r>
                      <a:r>
                        <a:rPr lang="ko-KR" alt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sym typeface="KoPub돋움체 Medium"/>
                        </a:rPr>
                        <a:t>사용 또는 </a:t>
                      </a:r>
                      <a:r>
                        <a:rPr lang="en-US" altLang="ko-KR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sym typeface="KoPub돋움체 Medium"/>
                        </a:rPr>
                        <a:t>Format </a:t>
                      </a:r>
                      <a:r>
                        <a:rPr lang="ko-KR" alt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sym typeface="KoPub돋움체 Medium"/>
                        </a:rPr>
                        <a:t>후 반출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endParaRPr lang="ko-KR" altLang="ko-KR" sz="90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085743"/>
                  </a:ext>
                </a:extLst>
              </a:tr>
              <a:tr h="246168">
                <a:tc rowSpan="3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000" b="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기술적 보안</a:t>
                      </a:r>
                      <a:endParaRPr kumimoji="0" lang="en-US" altLang="ko-KR" sz="1000" b="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000" b="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시스템 보안</a:t>
                      </a:r>
                      <a:endParaRPr kumimoji="0" lang="en-US" altLang="ko-KR" sz="1000" b="0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시스템 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Password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의 주기적인 변경 관리 실시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endParaRPr lang="en-US" altLang="ko-KR" sz="90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168">
                <a:tc v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  <a:sym typeface="Monotype Sorts"/>
                      </a:endParaRPr>
                    </a:p>
                  </a:txBody>
                  <a:tcPr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000" b="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바이러스 보안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사용자 </a:t>
                      </a:r>
                      <a:r>
                        <a:rPr lang="en-US" altLang="ko-KR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PC </a:t>
                      </a: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백신 프로그램 최신 상태 유지</a:t>
                      </a:r>
                      <a:endParaRPr lang="en-US" altLang="ko-KR" sz="90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endParaRPr lang="ko-KR" altLang="ko-KR" sz="90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168">
                <a:tc v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  <a:sym typeface="Monotype Sorts"/>
                      </a:endParaRPr>
                    </a:p>
                  </a:txBody>
                  <a:tcPr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000" b="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데이터 보안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불의 사고 대비 시스템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, 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파일 피해 최소화를 위해 백업 정책 수립 및 실행함</a:t>
                      </a:r>
                      <a:endParaRPr lang="en-US" altLang="ko-KR" sz="900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endParaRPr lang="ko-KR" altLang="ko-KR" sz="90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514752"/>
                  </a:ext>
                </a:extLst>
              </a:tr>
              <a:tr h="907443">
                <a:tc gridSpan="2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000" b="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내외부망 접근 보안</a:t>
                      </a:r>
                      <a:endParaRPr kumimoji="0" lang="en-US" altLang="ko-KR" sz="1000" b="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  <a:sym typeface="Monotype Sort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제안사 시스템은 방화벽 또는 원격접근통제시스템을 활용함</a:t>
                      </a:r>
                      <a:endParaRPr lang="en-US" altLang="ko-KR" sz="900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필요시 </a:t>
                      </a:r>
                      <a:r>
                        <a:rPr lang="ko-KR" altLang="en-US" sz="900" kern="1200" noProof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발주사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 정보보안 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S/W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설치</a:t>
                      </a:r>
                      <a:endParaRPr lang="en-US" altLang="ko-KR" sz="900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악성코드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 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전염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, 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해킹 등이 발생하지 않도록 규정 준수하며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, 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미준수에 대한 책임에 동의</a:t>
                      </a:r>
                      <a:endParaRPr lang="en-US" altLang="ko-KR" sz="900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AWS 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기반 개발환경을 구성하기 위해 필요사항은 협의하여 예외처리 필요함</a:t>
                      </a:r>
                      <a:endParaRPr lang="en-US" altLang="ko-KR" sz="900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endParaRPr lang="ko-KR" altLang="ko-KR" sz="900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711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9474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텍스트 개체 틀 1">
            <a:extLst>
              <a:ext uri="{FF2B5EF4-FFF2-40B4-BE49-F238E27FC236}">
                <a16:creationId xmlns:a16="http://schemas.microsoft.com/office/drawing/2014/main" id="{7EBBF419-3559-FB18-CE18-F87AC254C0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524720" y="551022"/>
            <a:ext cx="7772496" cy="139604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기밀 보장</a:t>
            </a:r>
          </a:p>
        </p:txBody>
      </p:sp>
      <p:sp>
        <p:nvSpPr>
          <p:cNvPr id="33" name="텍스트 개체 틀 2">
            <a:extLst>
              <a:ext uri="{FF2B5EF4-FFF2-40B4-BE49-F238E27FC236}">
                <a16:creationId xmlns:a16="http://schemas.microsoft.com/office/drawing/2014/main" id="{653C279A-46C1-59DA-7E0F-6F698FB46D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524720" y="739918"/>
            <a:ext cx="7772496" cy="167526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4.4 </a:t>
            </a:r>
            <a:r>
              <a:rPr lang="ko-KR" altLang="en-US"/>
              <a:t>인력 보안</a:t>
            </a:r>
          </a:p>
        </p:txBody>
      </p:sp>
      <p:sp>
        <p:nvSpPr>
          <p:cNvPr id="34" name="텍스트 개체 틀 3">
            <a:extLst>
              <a:ext uri="{FF2B5EF4-FFF2-40B4-BE49-F238E27FC236}">
                <a16:creationId xmlns:a16="http://schemas.microsoft.com/office/drawing/2014/main" id="{22312EC1-A9C8-0746-D950-79D5BC8A30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524721" y="966426"/>
            <a:ext cx="7772496" cy="195447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00000"/>
              </a:lnSpc>
            </a:pPr>
            <a:r>
              <a:rPr lang="ko-KR" altLang="en-US"/>
              <a:t>사업 참여 인력에 대한 주기적인 보안 교육 및 점검 활동을 통해 보안 사고 예방 활동을 실시합니다</a:t>
            </a:r>
            <a:r>
              <a:rPr lang="en-US" altLang="ko-KR"/>
              <a:t>.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DC9D02C-2906-41B7-9635-0DD8BD5B50A8}"/>
              </a:ext>
            </a:extLst>
          </p:cNvPr>
          <p:cNvGrpSpPr/>
          <p:nvPr/>
        </p:nvGrpSpPr>
        <p:grpSpPr>
          <a:xfrm>
            <a:off x="609126" y="2056537"/>
            <a:ext cx="8688091" cy="4344936"/>
            <a:chOff x="557589" y="2266950"/>
            <a:chExt cx="9577011" cy="4789487"/>
          </a:xfrm>
        </p:grpSpPr>
        <p:sp>
          <p:nvSpPr>
            <p:cNvPr id="17" name="모서리가 둥근 직사각형 16">
              <a:extLst>
                <a:ext uri="{FF2B5EF4-FFF2-40B4-BE49-F238E27FC236}">
                  <a16:creationId xmlns:a16="http://schemas.microsoft.com/office/drawing/2014/main" id="{7E9BC75E-0258-4A06-96E1-59B7EAFD6A16}"/>
                </a:ext>
              </a:extLst>
            </p:cNvPr>
            <p:cNvSpPr/>
            <p:nvPr/>
          </p:nvSpPr>
          <p:spPr bwMode="auto">
            <a:xfrm flipH="1">
              <a:off x="557595" y="2266950"/>
              <a:ext cx="9577005" cy="324000"/>
            </a:xfrm>
            <a:prstGeom prst="round2SameRect">
              <a:avLst/>
            </a:prstGeom>
            <a:solidFill>
              <a:srgbClr val="FFDB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1" algn="ctr" defTabSz="946199" eaLnBrk="0" hangingPunct="0">
                <a:buClr>
                  <a:srgbClr val="3271AA"/>
                </a:buClr>
                <a:buSzPct val="140000"/>
                <a:tabLst>
                  <a:tab pos="5124160" algn="l"/>
                </a:tabLst>
              </a:pPr>
              <a:r>
                <a:rPr lang="ko-KR" altLang="en-US" sz="1179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KoPub돋움체 Medium"/>
                </a:rPr>
                <a:t>인력 보안 관리</a:t>
              </a:r>
            </a:p>
          </p:txBody>
        </p:sp>
        <p:sp>
          <p:nvSpPr>
            <p:cNvPr id="18" name="모서리가 둥근 직사각형 16">
              <a:extLst>
                <a:ext uri="{FF2B5EF4-FFF2-40B4-BE49-F238E27FC236}">
                  <a16:creationId xmlns:a16="http://schemas.microsoft.com/office/drawing/2014/main" id="{74BF94F2-A2FB-412E-B9DB-F5F9DCECD0A8}"/>
                </a:ext>
              </a:extLst>
            </p:cNvPr>
            <p:cNvSpPr/>
            <p:nvPr/>
          </p:nvSpPr>
          <p:spPr bwMode="auto">
            <a:xfrm flipH="1">
              <a:off x="557589" y="2590950"/>
              <a:ext cx="9577003" cy="44654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dist="12700" dir="5400000" algn="t" rotWithShape="0">
                <a:srgbClr val="FFDB2D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lvl="1" algn="ctr" defTabSz="946199" eaLnBrk="0" hangingPunct="0">
                <a:buClr>
                  <a:srgbClr val="3271AA"/>
                </a:buClr>
                <a:buSzPct val="140000"/>
                <a:tabLst>
                  <a:tab pos="5124160" algn="l"/>
                </a:tabLst>
              </a:pPr>
              <a:endParaRPr lang="en-US" altLang="ko-KR" sz="907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itchFamily="34" charset="0"/>
                <a:sym typeface="KoPub돋움체 Medium"/>
              </a:endParaRPr>
            </a:p>
          </p:txBody>
        </p:sp>
      </p:grpSp>
      <p:graphicFrame>
        <p:nvGraphicFramePr>
          <p:cNvPr id="19" name="Group 304">
            <a:extLst>
              <a:ext uri="{FF2B5EF4-FFF2-40B4-BE49-F238E27FC236}">
                <a16:creationId xmlns:a16="http://schemas.microsoft.com/office/drawing/2014/main" id="{ED5B30AC-E4F3-4F48-8704-04DBCEEA9E22}"/>
              </a:ext>
            </a:extLst>
          </p:cNvPr>
          <p:cNvGraphicFramePr>
            <a:graphicFrameLocks noGrp="1"/>
          </p:cNvGraphicFramePr>
          <p:nvPr/>
        </p:nvGraphicFramePr>
        <p:xfrm>
          <a:off x="674731" y="2416472"/>
          <a:ext cx="8556539" cy="3890507"/>
        </p:xfrm>
        <a:graphic>
          <a:graphicData uri="http://schemas.openxmlformats.org/drawingml/2006/table">
            <a:tbl>
              <a:tblPr/>
              <a:tblGrid>
                <a:gridCol w="1599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7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047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0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구분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0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관리 방안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0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비고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929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공통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사업 시작 전 또는 인원 교체 시</a:t>
                      </a:r>
                      <a:r>
                        <a:rPr lang="en-US" altLang="ko-KR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, </a:t>
                      </a: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보안 교육 후 참여</a:t>
                      </a:r>
                    </a:p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보안 의식 제고를 위한 주기적인 교육 실시를 통해 보안 사고 예방</a:t>
                      </a:r>
                      <a:r>
                        <a:rPr lang="en-US" altLang="ko-KR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(</a:t>
                      </a: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월</a:t>
                      </a:r>
                      <a:r>
                        <a:rPr lang="en-US" altLang="ko-KR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1</a:t>
                      </a: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회</a:t>
                      </a:r>
                      <a:r>
                        <a:rPr lang="en-US" altLang="ko-KR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)</a:t>
                      </a:r>
                    </a:p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보안 정책 위반 시 </a:t>
                      </a:r>
                      <a:r>
                        <a:rPr lang="en-US" altLang="ko-KR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'</a:t>
                      </a: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사업자 보안 </a:t>
                      </a:r>
                      <a:r>
                        <a:rPr lang="ko-KR" altLang="en-US" sz="900" kern="1200" noProof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위규</a:t>
                      </a: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 처리 기준</a:t>
                      </a:r>
                      <a:r>
                        <a:rPr lang="en-US" altLang="ko-KR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'</a:t>
                      </a: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에 따라 행정 조치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900"/>
                        </a:spcAft>
                        <a:buClrTx/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90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609332"/>
                  </a:ext>
                </a:extLst>
              </a:tr>
              <a:tr h="296704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사업 착수 시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프로젝트 인력 투입 시 각 개인의 친필 서명이 들어간 보안서약서 제출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900"/>
                        </a:spcAft>
                        <a:buClrTx/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90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8148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사업 수행 시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노트북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, PC, USB,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 외장 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HDD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 등의 개인 저장 장치의 반입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/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반출 통제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(</a:t>
                      </a:r>
                      <a:r>
                        <a:rPr lang="ko-KR" altLang="en-US" sz="900" kern="1200" noProof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발주사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 정책에 따름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)</a:t>
                      </a:r>
                      <a:endParaRPr lang="ko-KR" altLang="en-US" sz="900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+mn-ea"/>
                        <a:cs typeface="+mn-cs"/>
                        <a:sym typeface="Monotype Sorts"/>
                      </a:endParaRPr>
                    </a:p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개발 참여 인원 철수 시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,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 특별 보안 교육 실시</a:t>
                      </a:r>
                      <a:endParaRPr lang="en-US" altLang="ko-KR" sz="900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+mn-ea"/>
                        <a:cs typeface="+mn-cs"/>
                        <a:sym typeface="Monotype Sorts"/>
                      </a:endParaRPr>
                    </a:p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개발 참여 인원 철수 시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,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 개인 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PC 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반출 절차 적용 및 접속 계정 삭제</a:t>
                      </a:r>
                    </a:p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인원 교체 발생 시 정보보안 책임자에게 보고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(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임의 인원 교체 금지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)</a:t>
                      </a:r>
                    </a:p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보안인식 강화를 위해 주기적 보안 교육 실시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, </a:t>
                      </a:r>
                      <a:r>
                        <a:rPr lang="ko-KR" altLang="en-US" sz="900" kern="1200" noProof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발주사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 요구 보안교육 참석</a:t>
                      </a:r>
                      <a:endParaRPr lang="en-US" altLang="ko-KR" sz="900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+mn-ea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900"/>
                        </a:spcAft>
                        <a:buClrTx/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900" kern="1200" noProof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Monotype Sorts"/>
                      </a:endParaRP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362189"/>
                  </a:ext>
                </a:extLst>
              </a:tr>
              <a:tr h="770680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Monotype Sorts"/>
                        </a:rPr>
                        <a:t>사업 종료 시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사업 참여자 활용한 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PC 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는 프로젝트 자료 사용이 불가능하도록 조치</a:t>
                      </a:r>
                      <a:endParaRPr lang="en-US" altLang="ko-KR" sz="900" kern="1200" noProof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2020603020101020101" pitchFamily="18" charset="-127"/>
                        <a:ea typeface="+mn-ea"/>
                        <a:cs typeface="+mn-cs"/>
                        <a:sym typeface="Monotype Sorts"/>
                      </a:endParaRPr>
                    </a:p>
                    <a:p>
                      <a:pPr marL="95590" marR="0" lvl="0" indent="-95590" algn="l" defTabSz="1101784" rtl="0" eaLnBrk="0" fontAlgn="base" latinLnBrk="0" hangingPunct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Char char="•"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사업 관련 자료 보유 금지하며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, 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위반 시 법적 책임이 포함된 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“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대표자용 보안확약서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“ 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및 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‘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참여자용 보안확약서</a:t>
                      </a:r>
                      <a:r>
                        <a:rPr lang="en-US" altLang="ko-KR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“ </a:t>
                      </a: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+mn-ea"/>
                          <a:cs typeface="+mn-cs"/>
                          <a:sym typeface="Monotype Sorts"/>
                        </a:rPr>
                        <a:t>제출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900"/>
                        </a:spcAft>
                        <a:buClrTx/>
                        <a:buSzPct val="80000"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Monotype Sorts"/>
                        </a:rPr>
                        <a:t>자료 사용 불가능 조치 방법은 고객사와 협의 후 확정 </a:t>
                      </a:r>
                    </a:p>
                  </a:txBody>
                  <a:tcPr marL="82953" marR="82953" marT="41476" marB="41476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374890"/>
                  </a:ext>
                </a:extLst>
              </a:tr>
            </a:tbl>
          </a:graphicData>
        </a:graphic>
      </p:graphicFrame>
      <p:grpSp>
        <p:nvGrpSpPr>
          <p:cNvPr id="20" name="그룹 19">
            <a:extLst>
              <a:ext uri="{FF2B5EF4-FFF2-40B4-BE49-F238E27FC236}">
                <a16:creationId xmlns:a16="http://schemas.microsoft.com/office/drawing/2014/main" id="{68056098-7DDA-4F0B-882B-B9118F286C5E}"/>
              </a:ext>
            </a:extLst>
          </p:cNvPr>
          <p:cNvGrpSpPr/>
          <p:nvPr/>
        </p:nvGrpSpPr>
        <p:grpSpPr>
          <a:xfrm>
            <a:off x="607866" y="1748640"/>
            <a:ext cx="4324830" cy="196785"/>
            <a:chOff x="556201" y="1852137"/>
            <a:chExt cx="4767324" cy="216919"/>
          </a:xfrm>
        </p:grpSpPr>
        <p:sp>
          <p:nvSpPr>
            <p:cNvPr id="21" name="직사각형 245">
              <a:extLst>
                <a:ext uri="{FF2B5EF4-FFF2-40B4-BE49-F238E27FC236}">
                  <a16:creationId xmlns:a16="http://schemas.microsoft.com/office/drawing/2014/main" id="{BF9BC7C8-0E06-42E6-8D44-6FFD97B0F42F}"/>
                </a:ext>
              </a:extLst>
            </p:cNvPr>
            <p:cNvSpPr/>
            <p:nvPr/>
          </p:nvSpPr>
          <p:spPr bwMode="auto">
            <a:xfrm>
              <a:off x="787525" y="1852137"/>
              <a:ext cx="4536000" cy="2169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defTabSz="890031">
                <a:lnSpc>
                  <a:spcPct val="110000"/>
                </a:lnSpc>
                <a:buClr>
                  <a:srgbClr val="86B6D0"/>
                </a:buClr>
                <a:buSzPct val="100000"/>
                <a:tabLst>
                  <a:tab pos="4824603" algn="l"/>
                </a:tabLst>
              </a:pPr>
              <a:r>
                <a:rPr lang="ko-KR" altLang="en-US" sz="1270">
                  <a:gradFill>
                    <a:gsLst>
                      <a:gs pos="38931">
                        <a:schemeClr val="tx1">
                          <a:lumMod val="95000"/>
                          <a:lumOff val="5000"/>
                        </a:schemeClr>
                      </a:gs>
                      <a:gs pos="19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0" scaled="0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KoPub돋움체 Medium"/>
                </a:rPr>
                <a:t>인력 보안 관리 방안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D6F62E35-C575-44D9-B004-74E818D784AC}"/>
                </a:ext>
              </a:extLst>
            </p:cNvPr>
            <p:cNvGrpSpPr/>
            <p:nvPr/>
          </p:nvGrpSpPr>
          <p:grpSpPr>
            <a:xfrm>
              <a:off x="556201" y="1862335"/>
              <a:ext cx="196274" cy="196522"/>
              <a:chOff x="556201" y="1862334"/>
              <a:chExt cx="196274" cy="196522"/>
            </a:xfrm>
          </p:grpSpPr>
          <p:sp>
            <p:nvSpPr>
              <p:cNvPr id="23" name="Freeform 6">
                <a:extLst>
                  <a:ext uri="{FF2B5EF4-FFF2-40B4-BE49-F238E27FC236}">
                    <a16:creationId xmlns:a16="http://schemas.microsoft.com/office/drawing/2014/main" id="{44734DD2-F5CE-4D78-A4BE-EF78F606142A}"/>
                  </a:ext>
                </a:extLst>
              </p:cNvPr>
              <p:cNvSpPr/>
              <p:nvPr/>
            </p:nvSpPr>
            <p:spPr bwMode="auto">
              <a:xfrm>
                <a:off x="556201" y="1862334"/>
                <a:ext cx="196274" cy="196522"/>
              </a:xfrm>
              <a:custGeom>
                <a:avLst/>
                <a:gdLst/>
                <a:ahLst/>
                <a:cxnLst>
                  <a:cxn ang="0">
                    <a:pos x="63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30"/>
                  </a:cxn>
                  <a:cxn ang="0">
                    <a:pos x="0" y="630"/>
                  </a:cxn>
                  <a:cxn ang="0">
                    <a:pos x="165" y="795"/>
                  </a:cxn>
                  <a:cxn ang="0">
                    <a:pos x="165" y="795"/>
                  </a:cxn>
                  <a:cxn ang="0">
                    <a:pos x="165" y="795"/>
                  </a:cxn>
                  <a:cxn ang="0">
                    <a:pos x="795" y="795"/>
                  </a:cxn>
                  <a:cxn ang="0">
                    <a:pos x="795" y="795"/>
                  </a:cxn>
                  <a:cxn ang="0">
                    <a:pos x="795" y="166"/>
                  </a:cxn>
                  <a:cxn ang="0">
                    <a:pos x="795" y="166"/>
                  </a:cxn>
                  <a:cxn ang="0">
                    <a:pos x="630" y="0"/>
                  </a:cxn>
                  <a:cxn ang="0">
                    <a:pos x="630" y="0"/>
                  </a:cxn>
                </a:cxnLst>
                <a:rect l="0" t="0" r="r" b="b"/>
                <a:pathLst>
                  <a:path w="795" h="795">
                    <a:moveTo>
                      <a:pt x="63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30"/>
                      <a:pt x="0" y="630"/>
                      <a:pt x="0" y="630"/>
                    </a:cubicBezTo>
                    <a:cubicBezTo>
                      <a:pt x="0" y="630"/>
                      <a:pt x="0" y="630"/>
                      <a:pt x="0" y="630"/>
                    </a:cubicBezTo>
                    <a:cubicBezTo>
                      <a:pt x="0" y="721"/>
                      <a:pt x="74" y="795"/>
                      <a:pt x="165" y="795"/>
                    </a:cubicBezTo>
                    <a:cubicBezTo>
                      <a:pt x="165" y="795"/>
                      <a:pt x="165" y="795"/>
                      <a:pt x="165" y="795"/>
                    </a:cubicBezTo>
                    <a:cubicBezTo>
                      <a:pt x="165" y="795"/>
                      <a:pt x="165" y="795"/>
                      <a:pt x="165" y="795"/>
                    </a:cubicBezTo>
                    <a:cubicBezTo>
                      <a:pt x="795" y="795"/>
                      <a:pt x="795" y="795"/>
                      <a:pt x="795" y="795"/>
                    </a:cubicBezTo>
                    <a:cubicBezTo>
                      <a:pt x="795" y="795"/>
                      <a:pt x="795" y="795"/>
                      <a:pt x="795" y="795"/>
                    </a:cubicBezTo>
                    <a:cubicBezTo>
                      <a:pt x="795" y="166"/>
                      <a:pt x="795" y="166"/>
                      <a:pt x="795" y="166"/>
                    </a:cubicBezTo>
                    <a:cubicBezTo>
                      <a:pt x="795" y="166"/>
                      <a:pt x="795" y="166"/>
                      <a:pt x="795" y="166"/>
                    </a:cubicBezTo>
                    <a:cubicBezTo>
                      <a:pt x="795" y="74"/>
                      <a:pt x="721" y="0"/>
                      <a:pt x="630" y="0"/>
                    </a:cubicBezTo>
                    <a:cubicBezTo>
                      <a:pt x="630" y="0"/>
                      <a:pt x="630" y="0"/>
                      <a:pt x="63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33"/>
              </a:p>
            </p:txBody>
          </p:sp>
          <p:sp>
            <p:nvSpPr>
              <p:cNvPr id="24" name="Freeform 11">
                <a:extLst>
                  <a:ext uri="{FF2B5EF4-FFF2-40B4-BE49-F238E27FC236}">
                    <a16:creationId xmlns:a16="http://schemas.microsoft.com/office/drawing/2014/main" id="{289213CC-7C64-4D42-B378-6034AA761F52}"/>
                  </a:ext>
                </a:extLst>
              </p:cNvPr>
              <p:cNvSpPr/>
              <p:nvPr/>
            </p:nvSpPr>
            <p:spPr bwMode="auto">
              <a:xfrm>
                <a:off x="607143" y="1909252"/>
                <a:ext cx="55607" cy="102686"/>
              </a:xfrm>
              <a:custGeom>
                <a:avLst/>
                <a:gdLst/>
                <a:ahLst/>
                <a:cxnLst>
                  <a:cxn ang="0">
                    <a:pos x="119" y="431"/>
                  </a:cxn>
                  <a:cxn ang="0">
                    <a:pos x="81" y="451"/>
                  </a:cxn>
                  <a:cxn ang="0">
                    <a:pos x="19" y="451"/>
                  </a:cxn>
                  <a:cxn ang="0">
                    <a:pos x="8" y="431"/>
                  </a:cxn>
                  <a:cxn ang="0">
                    <a:pos x="126" y="247"/>
                  </a:cxn>
                  <a:cxn ang="0">
                    <a:pos x="126" y="205"/>
                  </a:cxn>
                  <a:cxn ang="0">
                    <a:pos x="8" y="21"/>
                  </a:cxn>
                  <a:cxn ang="0">
                    <a:pos x="19" y="0"/>
                  </a:cxn>
                  <a:cxn ang="0">
                    <a:pos x="81" y="0"/>
                  </a:cxn>
                  <a:cxn ang="0">
                    <a:pos x="119" y="21"/>
                  </a:cxn>
                  <a:cxn ang="0">
                    <a:pos x="237" y="205"/>
                  </a:cxn>
                  <a:cxn ang="0">
                    <a:pos x="237" y="247"/>
                  </a:cxn>
                  <a:cxn ang="0">
                    <a:pos x="119" y="431"/>
                  </a:cxn>
                </a:cxnLst>
                <a:rect l="0" t="0" r="r" b="b"/>
                <a:pathLst>
                  <a:path w="244" h="451">
                    <a:moveTo>
                      <a:pt x="119" y="431"/>
                    </a:moveTo>
                    <a:cubicBezTo>
                      <a:pt x="112" y="442"/>
                      <a:pt x="95" y="451"/>
                      <a:pt x="81" y="451"/>
                    </a:cubicBezTo>
                    <a:cubicBezTo>
                      <a:pt x="19" y="451"/>
                      <a:pt x="19" y="451"/>
                      <a:pt x="19" y="451"/>
                    </a:cubicBezTo>
                    <a:cubicBezTo>
                      <a:pt x="5" y="451"/>
                      <a:pt x="0" y="442"/>
                      <a:pt x="8" y="431"/>
                    </a:cubicBezTo>
                    <a:cubicBezTo>
                      <a:pt x="126" y="247"/>
                      <a:pt x="126" y="247"/>
                      <a:pt x="126" y="247"/>
                    </a:cubicBezTo>
                    <a:cubicBezTo>
                      <a:pt x="133" y="235"/>
                      <a:pt x="133" y="217"/>
                      <a:pt x="126" y="205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0" y="10"/>
                      <a:pt x="5" y="0"/>
                      <a:pt x="19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95" y="0"/>
                      <a:pt x="112" y="10"/>
                      <a:pt x="119" y="21"/>
                    </a:cubicBezTo>
                    <a:cubicBezTo>
                      <a:pt x="237" y="205"/>
                      <a:pt x="237" y="205"/>
                      <a:pt x="237" y="205"/>
                    </a:cubicBezTo>
                    <a:cubicBezTo>
                      <a:pt x="244" y="217"/>
                      <a:pt x="244" y="235"/>
                      <a:pt x="237" y="247"/>
                    </a:cubicBezTo>
                    <a:lnTo>
                      <a:pt x="119" y="43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33"/>
              </a:p>
            </p:txBody>
          </p:sp>
          <p:sp>
            <p:nvSpPr>
              <p:cNvPr id="25" name="Freeform 11">
                <a:extLst>
                  <a:ext uri="{FF2B5EF4-FFF2-40B4-BE49-F238E27FC236}">
                    <a16:creationId xmlns:a16="http://schemas.microsoft.com/office/drawing/2014/main" id="{4968D992-BD33-4355-AD8A-AB0E0C98AEDE}"/>
                  </a:ext>
                </a:extLst>
              </p:cNvPr>
              <p:cNvSpPr/>
              <p:nvPr/>
            </p:nvSpPr>
            <p:spPr bwMode="auto">
              <a:xfrm>
                <a:off x="654768" y="1909252"/>
                <a:ext cx="55607" cy="102686"/>
              </a:xfrm>
              <a:custGeom>
                <a:avLst/>
                <a:gdLst/>
                <a:ahLst/>
                <a:cxnLst>
                  <a:cxn ang="0">
                    <a:pos x="119" y="431"/>
                  </a:cxn>
                  <a:cxn ang="0">
                    <a:pos x="81" y="451"/>
                  </a:cxn>
                  <a:cxn ang="0">
                    <a:pos x="19" y="451"/>
                  </a:cxn>
                  <a:cxn ang="0">
                    <a:pos x="8" y="431"/>
                  </a:cxn>
                  <a:cxn ang="0">
                    <a:pos x="126" y="247"/>
                  </a:cxn>
                  <a:cxn ang="0">
                    <a:pos x="126" y="205"/>
                  </a:cxn>
                  <a:cxn ang="0">
                    <a:pos x="8" y="21"/>
                  </a:cxn>
                  <a:cxn ang="0">
                    <a:pos x="19" y="0"/>
                  </a:cxn>
                  <a:cxn ang="0">
                    <a:pos x="81" y="0"/>
                  </a:cxn>
                  <a:cxn ang="0">
                    <a:pos x="119" y="21"/>
                  </a:cxn>
                  <a:cxn ang="0">
                    <a:pos x="237" y="205"/>
                  </a:cxn>
                  <a:cxn ang="0">
                    <a:pos x="237" y="247"/>
                  </a:cxn>
                  <a:cxn ang="0">
                    <a:pos x="119" y="431"/>
                  </a:cxn>
                </a:cxnLst>
                <a:rect l="0" t="0" r="r" b="b"/>
                <a:pathLst>
                  <a:path w="244" h="451">
                    <a:moveTo>
                      <a:pt x="119" y="431"/>
                    </a:moveTo>
                    <a:cubicBezTo>
                      <a:pt x="112" y="442"/>
                      <a:pt x="95" y="451"/>
                      <a:pt x="81" y="451"/>
                    </a:cubicBezTo>
                    <a:cubicBezTo>
                      <a:pt x="19" y="451"/>
                      <a:pt x="19" y="451"/>
                      <a:pt x="19" y="451"/>
                    </a:cubicBezTo>
                    <a:cubicBezTo>
                      <a:pt x="5" y="451"/>
                      <a:pt x="0" y="442"/>
                      <a:pt x="8" y="431"/>
                    </a:cubicBezTo>
                    <a:cubicBezTo>
                      <a:pt x="126" y="247"/>
                      <a:pt x="126" y="247"/>
                      <a:pt x="126" y="247"/>
                    </a:cubicBezTo>
                    <a:cubicBezTo>
                      <a:pt x="133" y="235"/>
                      <a:pt x="133" y="217"/>
                      <a:pt x="126" y="205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0" y="10"/>
                      <a:pt x="5" y="0"/>
                      <a:pt x="19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95" y="0"/>
                      <a:pt x="112" y="10"/>
                      <a:pt x="119" y="21"/>
                    </a:cubicBezTo>
                    <a:cubicBezTo>
                      <a:pt x="237" y="205"/>
                      <a:pt x="237" y="205"/>
                      <a:pt x="237" y="205"/>
                    </a:cubicBezTo>
                    <a:cubicBezTo>
                      <a:pt x="244" y="217"/>
                      <a:pt x="244" y="235"/>
                      <a:pt x="237" y="247"/>
                    </a:cubicBezTo>
                    <a:lnTo>
                      <a:pt x="119" y="43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33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2082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</TotalTime>
  <Words>913</Words>
  <Application>Microsoft Macintosh PowerPoint</Application>
  <PresentationFormat>A4 용지(210x297mm)</PresentationFormat>
  <Paragraphs>129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KoPub돋움체 Bold</vt:lpstr>
      <vt:lpstr>KoPub돋움체 Medium</vt:lpstr>
      <vt:lpstr>Arial</vt:lpstr>
      <vt:lpstr>Calibri</vt:lpstr>
      <vt:lpstr>Calibri Light</vt:lpstr>
      <vt:lpstr>Wingdings 2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Robbie Park</dc:creator>
  <cp:lastModifiedBy>Robbie Park</cp:lastModifiedBy>
  <cp:revision>1</cp:revision>
  <dcterms:created xsi:type="dcterms:W3CDTF">2026-02-24T04:06:21Z</dcterms:created>
  <dcterms:modified xsi:type="dcterms:W3CDTF">2026-02-24T04:07:44Z</dcterms:modified>
</cp:coreProperties>
</file>