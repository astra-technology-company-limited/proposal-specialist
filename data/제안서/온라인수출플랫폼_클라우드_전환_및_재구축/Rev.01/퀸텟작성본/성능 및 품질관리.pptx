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3"/>
  </p:normalViewPr>
  <p:slideViewPr>
    <p:cSldViewPr snapToGrid="0">
      <p:cViewPr varScale="1">
        <p:scale>
          <a:sx n="112" d="100"/>
          <a:sy n="112" d="100"/>
        </p:scale>
        <p:origin x="1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175AA-34C0-2841-994A-C7C9E50DF505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47B6A-5F2E-DD47-B0D9-9BF4C2F862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67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330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367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257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8607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071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668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591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472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638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735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3182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Ⅳ_거버닝o">
  <p:cSld name="Ⅳ_거버닝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1451703" y="551029"/>
            <a:ext cx="7938037" cy="13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14772" marR="0" lvl="0" indent="-2073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None/>
              <a:defRPr sz="907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35981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44316" marR="0" lvl="2" indent="-33440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59087" marR="0" lvl="3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73859" marR="0" lvl="4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488631" marR="0" lvl="5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03403" marR="0" lvl="6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318175" marR="0" lvl="7" indent="-32167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732947" marR="0" lvl="8" indent="-32167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1451703" y="739876"/>
            <a:ext cx="7938037" cy="167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14772" marR="0" lvl="0" indent="-2073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3636"/>
              </a:buClr>
              <a:buSzPts val="1200"/>
              <a:buFont typeface="Arial"/>
              <a:buNone/>
              <a:defRPr sz="1089" b="0" i="0" u="none" strike="noStrike" cap="none">
                <a:solidFill>
                  <a:srgbClr val="52363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35981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44316" marR="0" lvl="2" indent="-33440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59087" marR="0" lvl="3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73859" marR="0" lvl="4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488631" marR="0" lvl="5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03403" marR="0" lvl="6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318175" marR="0" lvl="7" indent="-32167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732947" marR="0" lvl="8" indent="-32167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body" idx="3"/>
          </p:nvPr>
        </p:nvSpPr>
        <p:spPr>
          <a:xfrm>
            <a:off x="1451704" y="966425"/>
            <a:ext cx="7938037" cy="391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sz="127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35981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44316" marR="0" lvl="2" indent="-33440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59087" marR="0" lvl="3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73859" marR="0" lvl="4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488631" marR="0" lvl="5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03403" marR="0" lvl="6" indent="-32167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318175" marR="0" lvl="7" indent="-32167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732947" marR="0" lvl="8" indent="-32167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1" name="Google Shape;31;p47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213485" y="1296339"/>
            <a:ext cx="1000622" cy="195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3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823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body" idx="1"/>
          </p:nvPr>
        </p:nvSpPr>
        <p:spPr>
          <a:xfrm>
            <a:off x="1524720" y="551029"/>
            <a:ext cx="7772496" cy="1395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1. 성능 요구사항 &gt; 1.1 어플리케이션 성능</a:t>
            </a:r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2"/>
          </p:nvPr>
        </p:nvSpPr>
        <p:spPr>
          <a:xfrm>
            <a:off x="1524720" y="739876"/>
            <a:ext cx="7772496" cy="167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1.1.1 응답속도 보장 방안(자료 디스플레이 시간)</a:t>
            </a: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body" idx="3"/>
          </p:nvPr>
        </p:nvSpPr>
        <p:spPr>
          <a:xfrm>
            <a:off x="1524721" y="966426"/>
            <a:ext cx="7772496" cy="3908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0" indent="0"/>
            <a:r>
              <a:rPr lang="ko-KR" dirty="0"/>
              <a:t>체감성능을 보장하기 위한 </a:t>
            </a:r>
            <a:r>
              <a:rPr lang="ko-KR" dirty="0" err="1"/>
              <a:t>Architecture와</a:t>
            </a:r>
            <a:r>
              <a:rPr lang="ko-KR" dirty="0"/>
              <a:t> 개발표준을 설계하고, 클라이언트 환경과 서버환경 각 구간별 응답시간을 점검/튜닝하여 최적의 속도를 내기 위한 방안을 수립합니다.</a:t>
            </a:r>
            <a:endParaRPr dirty="0"/>
          </a:p>
        </p:txBody>
      </p:sp>
      <p:grpSp>
        <p:nvGrpSpPr>
          <p:cNvPr id="117" name="Google Shape;117;p2"/>
          <p:cNvGrpSpPr/>
          <p:nvPr/>
        </p:nvGrpSpPr>
        <p:grpSpPr>
          <a:xfrm>
            <a:off x="608955" y="2056537"/>
            <a:ext cx="8688091" cy="4344936"/>
            <a:chOff x="558795" y="2266950"/>
            <a:chExt cx="4679573" cy="4789487"/>
          </a:xfrm>
        </p:grpSpPr>
        <p:sp>
          <p:nvSpPr>
            <p:cNvPr id="118" name="Google Shape;118;p2"/>
            <p:cNvSpPr/>
            <p:nvPr/>
          </p:nvSpPr>
          <p:spPr>
            <a:xfrm flipH="1">
              <a:off x="558795" y="2590950"/>
              <a:ext cx="4679569" cy="446548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기술영역 별 구축 방안</a:t>
              </a:r>
              <a:endParaRPr sz="1633"/>
            </a:p>
          </p:txBody>
        </p:sp>
      </p:grpSp>
      <p:sp>
        <p:nvSpPr>
          <p:cNvPr id="120" name="Google Shape;120;p2"/>
          <p:cNvSpPr txBox="1"/>
          <p:nvPr/>
        </p:nvSpPr>
        <p:spPr>
          <a:xfrm>
            <a:off x="673590" y="2416574"/>
            <a:ext cx="914439" cy="228610"/>
          </a:xfrm>
          <a:prstGeom prst="rect">
            <a:avLst/>
          </a:prstGeom>
          <a:solidFill>
            <a:srgbClr val="A89A9A"/>
          </a:solidFill>
          <a:ln>
            <a:noFill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lvl="1" algn="ctr"/>
            <a:r>
              <a:rPr lang="ko-KR" altLang="en-US" sz="9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영역</a:t>
            </a:r>
            <a:endParaRPr sz="1633"/>
          </a:p>
        </p:txBody>
      </p:sp>
      <p:sp>
        <p:nvSpPr>
          <p:cNvPr id="121" name="Google Shape;121;p2"/>
          <p:cNvSpPr/>
          <p:nvPr/>
        </p:nvSpPr>
        <p:spPr>
          <a:xfrm>
            <a:off x="674255" y="3760357"/>
            <a:ext cx="914439" cy="166558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236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lvl="1" algn="ctr"/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sz="1633"/>
          </a:p>
        </p:txBody>
      </p:sp>
      <p:sp>
        <p:nvSpPr>
          <p:cNvPr id="122" name="Google Shape;122;p2"/>
          <p:cNvSpPr/>
          <p:nvPr/>
        </p:nvSpPr>
        <p:spPr>
          <a:xfrm>
            <a:off x="3909971" y="5516896"/>
            <a:ext cx="3476447" cy="91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0" rIns="82939" bIns="0" anchor="t" anchorCtr="0">
            <a:spAutoFit/>
          </a:bodyPr>
          <a:lstStyle/>
          <a:p>
            <a:pPr marL="86719" indent="-86719">
              <a:buClr>
                <a:srgbClr val="262626"/>
              </a:buClr>
              <a:buSzPts val="720"/>
              <a:buFont typeface="Arial"/>
              <a:buChar char="•"/>
            </a:pP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체감성능 점검</a:t>
            </a:r>
            <a:b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1) Mobile</a:t>
            </a: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단말 속도점검</a:t>
            </a: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(LTE. 5G, WIFI)</a:t>
            </a:r>
            <a:b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2) QA </a:t>
            </a: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인력을 통한 매뉴얼 점검</a:t>
            </a:r>
            <a:endParaRPr sz="816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719" indent="-86719">
              <a:spcBef>
                <a:spcPts val="272"/>
              </a:spcBef>
              <a:buClr>
                <a:srgbClr val="262626"/>
              </a:buClr>
              <a:buSzPts val="720"/>
              <a:buFont typeface="Arial"/>
              <a:buChar char="•"/>
            </a:pP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 점검</a:t>
            </a:r>
            <a:b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1) </a:t>
            </a: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</a:t>
            </a: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가용성 점검</a:t>
            </a:r>
            <a:b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2) </a:t>
            </a: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튜닝 </a:t>
            </a: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 NCP CloudWatch </a:t>
            </a: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기반 모니터링을 통해 </a:t>
            </a: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 </a:t>
            </a: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튜닝 최적화</a:t>
            </a:r>
            <a:endParaRPr sz="1633" dirty="0"/>
          </a:p>
        </p:txBody>
      </p:sp>
      <p:sp>
        <p:nvSpPr>
          <p:cNvPr id="123" name="Google Shape;123;p2"/>
          <p:cNvSpPr/>
          <p:nvPr/>
        </p:nvSpPr>
        <p:spPr>
          <a:xfrm flipH="1">
            <a:off x="3907810" y="3951595"/>
            <a:ext cx="587854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Redirect</a:t>
            </a:r>
            <a:endParaRPr sz="1633"/>
          </a:p>
        </p:txBody>
      </p:sp>
      <p:sp>
        <p:nvSpPr>
          <p:cNvPr id="124" name="Google Shape;124;p2"/>
          <p:cNvSpPr/>
          <p:nvPr/>
        </p:nvSpPr>
        <p:spPr>
          <a:xfrm flipH="1">
            <a:off x="4584384" y="3951595"/>
            <a:ext cx="587854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 Cache</a:t>
            </a:r>
            <a:endParaRPr sz="1633"/>
          </a:p>
        </p:txBody>
      </p:sp>
      <p:sp>
        <p:nvSpPr>
          <p:cNvPr id="125" name="Google Shape;125;p2"/>
          <p:cNvSpPr/>
          <p:nvPr/>
        </p:nvSpPr>
        <p:spPr>
          <a:xfrm flipH="1">
            <a:off x="5260957" y="3951595"/>
            <a:ext cx="587854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DNS</a:t>
            </a:r>
            <a:endParaRPr sz="1633"/>
          </a:p>
        </p:txBody>
      </p:sp>
      <p:sp>
        <p:nvSpPr>
          <p:cNvPr id="126" name="Google Shape;126;p2"/>
          <p:cNvSpPr/>
          <p:nvPr/>
        </p:nvSpPr>
        <p:spPr>
          <a:xfrm flipH="1">
            <a:off x="5937531" y="3951595"/>
            <a:ext cx="587854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TCP</a:t>
            </a:r>
            <a:endParaRPr sz="1633"/>
          </a:p>
        </p:txBody>
      </p:sp>
      <p:sp>
        <p:nvSpPr>
          <p:cNvPr id="127" name="Google Shape;127;p2"/>
          <p:cNvSpPr/>
          <p:nvPr/>
        </p:nvSpPr>
        <p:spPr>
          <a:xfrm flipH="1">
            <a:off x="6614104" y="3951595"/>
            <a:ext cx="587854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sz="1633"/>
          </a:p>
        </p:txBody>
      </p:sp>
      <p:sp>
        <p:nvSpPr>
          <p:cNvPr id="128" name="Google Shape;128;p2"/>
          <p:cNvSpPr/>
          <p:nvPr/>
        </p:nvSpPr>
        <p:spPr>
          <a:xfrm flipH="1">
            <a:off x="7290678" y="3951595"/>
            <a:ext cx="587854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sz="1633"/>
          </a:p>
        </p:txBody>
      </p:sp>
      <p:sp>
        <p:nvSpPr>
          <p:cNvPr id="129" name="Google Shape;129;p2"/>
          <p:cNvSpPr/>
          <p:nvPr/>
        </p:nvSpPr>
        <p:spPr>
          <a:xfrm flipH="1">
            <a:off x="7967251" y="3951595"/>
            <a:ext cx="587854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endParaRPr sz="1633"/>
          </a:p>
        </p:txBody>
      </p:sp>
      <p:sp>
        <p:nvSpPr>
          <p:cNvPr id="130" name="Google Shape;130;p2"/>
          <p:cNvSpPr/>
          <p:nvPr/>
        </p:nvSpPr>
        <p:spPr>
          <a:xfrm flipH="1">
            <a:off x="8643826" y="3951595"/>
            <a:ext cx="587854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Onload</a:t>
            </a:r>
            <a:endParaRPr sz="1633"/>
          </a:p>
        </p:txBody>
      </p:sp>
      <p:sp>
        <p:nvSpPr>
          <p:cNvPr id="131" name="Google Shape;131;p2"/>
          <p:cNvSpPr/>
          <p:nvPr/>
        </p:nvSpPr>
        <p:spPr>
          <a:xfrm rot="-5400000">
            <a:off x="4120091" y="3946788"/>
            <a:ext cx="163293" cy="587854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endParaRPr sz="16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 rot="-5400000">
            <a:off x="4796664" y="3946788"/>
            <a:ext cx="163293" cy="587854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endParaRPr sz="16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 rot="-5400000">
            <a:off x="6485653" y="2934373"/>
            <a:ext cx="163293" cy="2612684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endParaRPr sz="16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 rot="-5400000">
            <a:off x="8513192" y="3603872"/>
            <a:ext cx="163293" cy="1273683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endParaRPr sz="16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 flipH="1">
            <a:off x="4136420" y="4284949"/>
            <a:ext cx="130634" cy="130634"/>
          </a:xfrm>
          <a:prstGeom prst="ellipse">
            <a:avLst/>
          </a:prstGeom>
          <a:solidFill>
            <a:srgbClr val="523636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72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2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 flipH="1">
            <a:off x="4812994" y="4284949"/>
            <a:ext cx="130634" cy="130634"/>
          </a:xfrm>
          <a:prstGeom prst="ellipse">
            <a:avLst/>
          </a:prstGeom>
          <a:solidFill>
            <a:srgbClr val="523636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72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2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 flipH="1">
            <a:off x="6501982" y="4284949"/>
            <a:ext cx="130634" cy="130634"/>
          </a:xfrm>
          <a:prstGeom prst="ellipse">
            <a:avLst/>
          </a:prstGeom>
          <a:solidFill>
            <a:srgbClr val="523636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72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2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3909970" y="3781096"/>
            <a:ext cx="2540046" cy="12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6719" indent="-86719">
              <a:buClr>
                <a:srgbClr val="262626"/>
              </a:buClr>
              <a:buSzPts val="720"/>
              <a:buFont typeface="Arial"/>
              <a:buChar char="•"/>
            </a:pP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브라우저 처리단계별 속도튜닝 요소</a:t>
            </a:r>
            <a:endParaRPr sz="1633"/>
          </a:p>
        </p:txBody>
      </p:sp>
      <p:sp>
        <p:nvSpPr>
          <p:cNvPr id="139" name="Google Shape;139;p2"/>
          <p:cNvSpPr/>
          <p:nvPr/>
        </p:nvSpPr>
        <p:spPr>
          <a:xfrm flipH="1">
            <a:off x="8545778" y="4284949"/>
            <a:ext cx="130634" cy="130634"/>
          </a:xfrm>
          <a:prstGeom prst="ellipse">
            <a:avLst/>
          </a:prstGeom>
          <a:solidFill>
            <a:srgbClr val="523636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72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2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1728086" y="3760357"/>
            <a:ext cx="2057488" cy="166558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784762" y="3954458"/>
            <a:ext cx="1926854" cy="127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marL="86719" indent="-86719"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네트워크 사용량을 줄이고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웹페이지 실행 속도를 높이기 위한 기술요소 도입</a:t>
            </a:r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719" indent="-86719">
              <a:spcBef>
                <a:spcPts val="272"/>
              </a:spcBef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이미지 분할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, URL </a:t>
            </a: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캐싱 등 솔루션 적용 필요</a:t>
            </a:r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719" indent="-86719">
              <a:spcBef>
                <a:spcPts val="272"/>
              </a:spcBef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처리 형태가 느린 경우 사용자에게 사전 알림 방안 수립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세부내역 협의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633"/>
          </a:p>
        </p:txBody>
      </p:sp>
      <p:sp>
        <p:nvSpPr>
          <p:cNvPr id="142" name="Google Shape;142;p2"/>
          <p:cNvSpPr/>
          <p:nvPr/>
        </p:nvSpPr>
        <p:spPr>
          <a:xfrm>
            <a:off x="674255" y="5486717"/>
            <a:ext cx="914439" cy="84912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236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lvl="1" algn="ctr"/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sz="1633"/>
          </a:p>
        </p:txBody>
      </p:sp>
      <p:sp>
        <p:nvSpPr>
          <p:cNvPr id="143" name="Google Shape;143;p2"/>
          <p:cNvSpPr/>
          <p:nvPr/>
        </p:nvSpPr>
        <p:spPr>
          <a:xfrm>
            <a:off x="1728086" y="5486717"/>
            <a:ext cx="2057488" cy="84912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1784762" y="5571000"/>
            <a:ext cx="1926854" cy="68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marL="86719" indent="-86719"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체감성능 점검 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단말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브라우저 중심의 서비스 속도 측정</a:t>
            </a:r>
            <a:endParaRPr sz="1633"/>
          </a:p>
          <a:p>
            <a:pPr marL="86719" indent="-86719">
              <a:spcBef>
                <a:spcPts val="272"/>
              </a:spcBef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 점검 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 CloudWatch</a:t>
            </a: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를 통한 응답속도 지연구간 분석</a:t>
            </a:r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2"/>
          <p:cNvCxnSpPr>
            <a:stCxn id="139" idx="4"/>
            <a:endCxn id="146" idx="0"/>
          </p:cNvCxnSpPr>
          <p:nvPr/>
        </p:nvCxnSpPr>
        <p:spPr>
          <a:xfrm>
            <a:off x="8611095" y="4415583"/>
            <a:ext cx="0" cy="156761"/>
          </a:xfrm>
          <a:prstGeom prst="straightConnector1">
            <a:avLst/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7" name="Google Shape;147;p2"/>
          <p:cNvSpPr txBox="1"/>
          <p:nvPr/>
        </p:nvSpPr>
        <p:spPr>
          <a:xfrm>
            <a:off x="7990582" y="5469706"/>
            <a:ext cx="1164827" cy="27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>
              <a:buClr>
                <a:srgbClr val="262626"/>
              </a:buClr>
              <a:buSzPts val="650"/>
            </a:pPr>
            <a:r>
              <a:rPr lang="en-US" altLang="ko-KR" sz="590" baseline="30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1) </a:t>
            </a:r>
            <a:r>
              <a:rPr lang="en-US" altLang="ko-KR" sz="59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CDN : Content Delivery Network</a:t>
            </a:r>
            <a:endParaRPr sz="59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>
              <a:buClr>
                <a:srgbClr val="262626"/>
              </a:buClr>
              <a:buSzPts val="650"/>
            </a:pPr>
            <a:r>
              <a:rPr lang="en-US" altLang="ko-KR" sz="590" baseline="30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2) </a:t>
            </a:r>
            <a:r>
              <a:rPr lang="en-US" altLang="ko-KR" sz="59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DOM : Document Object Model</a:t>
            </a:r>
            <a:endParaRPr sz="1633"/>
          </a:p>
          <a:p>
            <a:pPr marL="0" lvl="1">
              <a:buClr>
                <a:srgbClr val="262626"/>
              </a:buClr>
              <a:buSzPts val="650"/>
            </a:pPr>
            <a:r>
              <a:rPr lang="en-US" altLang="ko-KR" sz="590" baseline="30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3) </a:t>
            </a:r>
            <a:r>
              <a:rPr lang="en-US" altLang="ko-KR" sz="59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CSR : Client Side Rendering</a:t>
            </a:r>
            <a:endParaRPr sz="1633"/>
          </a:p>
        </p:txBody>
      </p:sp>
      <p:sp>
        <p:nvSpPr>
          <p:cNvPr id="148" name="Google Shape;148;p2"/>
          <p:cNvSpPr/>
          <p:nvPr/>
        </p:nvSpPr>
        <p:spPr>
          <a:xfrm>
            <a:off x="674255" y="2719827"/>
            <a:ext cx="914439" cy="97975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236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lvl="1" algn="ctr"/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Cloud </a:t>
            </a:r>
            <a:b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1633"/>
          </a:p>
        </p:txBody>
      </p:sp>
      <p:sp>
        <p:nvSpPr>
          <p:cNvPr id="149" name="Google Shape;149;p2"/>
          <p:cNvSpPr/>
          <p:nvPr/>
        </p:nvSpPr>
        <p:spPr>
          <a:xfrm>
            <a:off x="1728086" y="2719827"/>
            <a:ext cx="2057488" cy="97975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1784762" y="2869427"/>
            <a:ext cx="1926854" cy="68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marL="86719" indent="-86719">
              <a:buClr>
                <a:srgbClr val="262626"/>
              </a:buClr>
              <a:buSzPts val="800"/>
              <a:buFont typeface="Arial"/>
              <a:buChar char="•"/>
            </a:pPr>
            <a:r>
              <a:rPr lang="en-US" altLang="ko-KR" sz="907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Lambda </a:t>
            </a:r>
            <a:r>
              <a:rPr lang="ko-KR" altLang="en-US" sz="907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및 </a:t>
            </a:r>
            <a:r>
              <a:rPr lang="en-US" altLang="ko-KR" sz="907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ECS Scale-out </a:t>
            </a:r>
            <a:r>
              <a:rPr lang="ko-KR" altLang="en-US" sz="907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리소스 분리를 통한 성능확보 </a:t>
            </a:r>
            <a:endParaRPr sz="1633" dirty="0"/>
          </a:p>
          <a:p>
            <a:pPr marL="86719" indent="-86719">
              <a:spcBef>
                <a:spcPts val="272"/>
              </a:spcBef>
              <a:buClr>
                <a:srgbClr val="262626"/>
              </a:buClr>
              <a:buSzPts val="800"/>
              <a:buFont typeface="Arial"/>
              <a:buChar char="•"/>
            </a:pPr>
            <a:r>
              <a:rPr lang="en-US" altLang="ko-KR" sz="907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NCP </a:t>
            </a:r>
            <a:r>
              <a:rPr lang="ko-KR" altLang="en-US" sz="907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서비스 및 서버리스 아키텍처를 활용한 비용 절감</a:t>
            </a:r>
            <a:endParaRPr sz="1633" dirty="0"/>
          </a:p>
        </p:txBody>
      </p:sp>
      <p:sp>
        <p:nvSpPr>
          <p:cNvPr id="151" name="Google Shape;151;p2"/>
          <p:cNvSpPr/>
          <p:nvPr/>
        </p:nvSpPr>
        <p:spPr>
          <a:xfrm>
            <a:off x="3909971" y="2767782"/>
            <a:ext cx="2162964" cy="12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6719" indent="-86719">
              <a:buClr>
                <a:srgbClr val="262626"/>
              </a:buClr>
              <a:buSzPts val="720"/>
              <a:buFont typeface="Arial"/>
              <a:buChar char="•"/>
            </a:pP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온라인 트랜잭션</a:t>
            </a:r>
            <a:endParaRPr sz="1633"/>
          </a:p>
        </p:txBody>
      </p:sp>
      <p:sp>
        <p:nvSpPr>
          <p:cNvPr id="152" name="Google Shape;152;p2"/>
          <p:cNvSpPr/>
          <p:nvPr/>
        </p:nvSpPr>
        <p:spPr>
          <a:xfrm>
            <a:off x="6568280" y="2767782"/>
            <a:ext cx="2162964" cy="12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6719" indent="-86719">
              <a:buClr>
                <a:srgbClr val="262626"/>
              </a:buClr>
              <a:buSzPts val="720"/>
              <a:buFont typeface="Arial"/>
              <a:buChar char="•"/>
            </a:pP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배치</a:t>
            </a:r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인터페이스</a:t>
            </a:r>
            <a:endParaRPr sz="1633"/>
          </a:p>
        </p:txBody>
      </p:sp>
      <p:grpSp>
        <p:nvGrpSpPr>
          <p:cNvPr id="153" name="Google Shape;153;p2"/>
          <p:cNvGrpSpPr/>
          <p:nvPr/>
        </p:nvGrpSpPr>
        <p:grpSpPr>
          <a:xfrm>
            <a:off x="4426477" y="2853616"/>
            <a:ext cx="1692044" cy="752343"/>
            <a:chOff x="4625298" y="3060047"/>
            <a:chExt cx="1865165" cy="829319"/>
          </a:xfrm>
        </p:grpSpPr>
        <p:cxnSp>
          <p:nvCxnSpPr>
            <p:cNvPr id="154" name="Google Shape;154;p2"/>
            <p:cNvCxnSpPr>
              <a:stCxn id="155" idx="0"/>
              <a:endCxn id="156" idx="2"/>
            </p:cNvCxnSpPr>
            <p:nvPr/>
          </p:nvCxnSpPr>
          <p:spPr>
            <a:xfrm rot="5400000" flipH="1">
              <a:off x="5876540" y="3093391"/>
              <a:ext cx="123000" cy="760200"/>
            </a:xfrm>
            <a:prstGeom prst="bentConnector3">
              <a:avLst>
                <a:gd name="adj1" fmla="val 119592"/>
              </a:avLst>
            </a:prstGeom>
            <a:noFill/>
            <a:ln w="9525" cap="flat" cmpd="sng">
              <a:solidFill>
                <a:srgbClr val="F8084D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7" name="Google Shape;157;p2"/>
            <p:cNvCxnSpPr>
              <a:stCxn id="158" idx="0"/>
              <a:endCxn id="156" idx="2"/>
            </p:cNvCxnSpPr>
            <p:nvPr/>
          </p:nvCxnSpPr>
          <p:spPr>
            <a:xfrm rot="-5400000">
              <a:off x="5116220" y="3093391"/>
              <a:ext cx="123000" cy="760200"/>
            </a:xfrm>
            <a:prstGeom prst="bentConnector3">
              <a:avLst>
                <a:gd name="adj1" fmla="val 119592"/>
              </a:avLst>
            </a:prstGeom>
            <a:noFill/>
            <a:ln w="9525" cap="flat" cmpd="sng">
              <a:solidFill>
                <a:srgbClr val="F8084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9" name="Google Shape;159;p2"/>
            <p:cNvCxnSpPr>
              <a:stCxn id="160" idx="0"/>
              <a:endCxn id="156" idx="2"/>
            </p:cNvCxnSpPr>
            <p:nvPr/>
          </p:nvCxnSpPr>
          <p:spPr>
            <a:xfrm rot="-5400000">
              <a:off x="5308536" y="3285541"/>
              <a:ext cx="123000" cy="375900"/>
            </a:xfrm>
            <a:prstGeom prst="bentConnector3">
              <a:avLst>
                <a:gd name="adj1" fmla="val 119592"/>
              </a:avLst>
            </a:prstGeom>
            <a:noFill/>
            <a:ln w="9525" cap="flat" cmpd="sng">
              <a:solidFill>
                <a:srgbClr val="F8084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161" name="Google Shape;161;p2"/>
            <p:cNvGrpSpPr/>
            <p:nvPr/>
          </p:nvGrpSpPr>
          <p:grpSpPr>
            <a:xfrm>
              <a:off x="5394230" y="3477754"/>
              <a:ext cx="711767" cy="348617"/>
              <a:chOff x="5413114" y="3477754"/>
              <a:chExt cx="711767" cy="348617"/>
            </a:xfrm>
          </p:grpSpPr>
          <p:grpSp>
            <p:nvGrpSpPr>
              <p:cNvPr id="162" name="Google Shape;162;p2"/>
              <p:cNvGrpSpPr/>
              <p:nvPr/>
            </p:nvGrpSpPr>
            <p:grpSpPr>
              <a:xfrm>
                <a:off x="5413114" y="3477754"/>
                <a:ext cx="711767" cy="202455"/>
                <a:chOff x="5413114" y="3477754"/>
                <a:chExt cx="711767" cy="202455"/>
              </a:xfrm>
            </p:grpSpPr>
            <p:sp>
              <p:nvSpPr>
                <p:cNvPr id="163" name="Google Shape;163;p2"/>
                <p:cNvSpPr/>
                <p:nvPr/>
              </p:nvSpPr>
              <p:spPr>
                <a:xfrm>
                  <a:off x="5413114" y="3477754"/>
                  <a:ext cx="711767" cy="202455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gradFill>
                  <a:gsLst>
                    <a:gs pos="0">
                      <a:srgbClr val="A5A5A5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noAutofit/>
                </a:bodyPr>
                <a:lstStyle/>
                <a:p>
                  <a:pPr algn="ctr"/>
                  <a:endParaRPr sz="163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Google Shape;164;p2"/>
                <p:cNvSpPr txBox="1"/>
                <p:nvPr/>
              </p:nvSpPr>
              <p:spPr>
                <a:xfrm>
                  <a:off x="5509952" y="3486681"/>
                  <a:ext cx="518091" cy="1846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spAutoFit/>
                </a:bodyPr>
                <a:lstStyle/>
                <a:p>
                  <a:pPr algn="ctr">
                    <a:buClr>
                      <a:srgbClr val="262626"/>
                    </a:buClr>
                    <a:buSzPts val="480"/>
                  </a:pPr>
                  <a:r>
                    <a:rPr lang="en-US" altLang="ko-KR" sz="544">
                      <a:solidFill>
                        <a:srgbClr val="26262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Scale Out</a:t>
                  </a:r>
                  <a:endParaRPr sz="1633"/>
                </a:p>
              </p:txBody>
            </p:sp>
          </p:grpSp>
          <p:grpSp>
            <p:nvGrpSpPr>
              <p:cNvPr id="165" name="Google Shape;165;p2"/>
              <p:cNvGrpSpPr/>
              <p:nvPr/>
            </p:nvGrpSpPr>
            <p:grpSpPr>
              <a:xfrm>
                <a:off x="5413114" y="3549461"/>
                <a:ext cx="711767" cy="276910"/>
                <a:chOff x="5413114" y="3549461"/>
                <a:chExt cx="711767" cy="276910"/>
              </a:xfrm>
            </p:grpSpPr>
            <p:sp>
              <p:nvSpPr>
                <p:cNvPr id="166" name="Google Shape;166;p2"/>
                <p:cNvSpPr/>
                <p:nvPr/>
              </p:nvSpPr>
              <p:spPr>
                <a:xfrm rot="10800000">
                  <a:off x="5413114" y="3586688"/>
                  <a:ext cx="711767" cy="202455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gradFill>
                  <a:gsLst>
                    <a:gs pos="0">
                      <a:srgbClr val="A5A5A5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noAutofit/>
                </a:bodyPr>
                <a:lstStyle/>
                <a:p>
                  <a:pPr algn="ctr"/>
                  <a:endParaRPr sz="163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2"/>
                <p:cNvSpPr txBox="1"/>
                <p:nvPr/>
              </p:nvSpPr>
              <p:spPr>
                <a:xfrm>
                  <a:off x="5540409" y="3549461"/>
                  <a:ext cx="457176" cy="2769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spAutoFit/>
                </a:bodyPr>
                <a:lstStyle/>
                <a:p>
                  <a:pPr algn="ctr">
                    <a:buClr>
                      <a:srgbClr val="262626"/>
                    </a:buClr>
                    <a:buSzPts val="480"/>
                  </a:pPr>
                  <a:r>
                    <a:rPr lang="en-US" altLang="ko-KR" sz="544">
                      <a:solidFill>
                        <a:srgbClr val="26262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Scale In</a:t>
                  </a:r>
                  <a:endParaRPr sz="1633"/>
                </a:p>
              </p:txBody>
            </p:sp>
          </p:grpSp>
        </p:grpSp>
        <p:sp>
          <p:nvSpPr>
            <p:cNvPr id="168" name="Google Shape;168;p2"/>
            <p:cNvSpPr/>
            <p:nvPr/>
          </p:nvSpPr>
          <p:spPr>
            <a:xfrm>
              <a:off x="5379146" y="3060047"/>
              <a:ext cx="357469" cy="1077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altLang="ko-KR" sz="635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API G/W</a:t>
              </a:r>
              <a:endParaRPr sz="1633"/>
            </a:p>
          </p:txBody>
        </p:sp>
        <p:pic>
          <p:nvPicPr>
            <p:cNvPr id="156" name="Google Shape;156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449880" y="3196081"/>
              <a:ext cx="216000" cy="216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9" name="Google Shape;169;p2"/>
            <p:cNvGrpSpPr/>
            <p:nvPr/>
          </p:nvGrpSpPr>
          <p:grpSpPr>
            <a:xfrm>
              <a:off x="4625298" y="3534991"/>
              <a:ext cx="344645" cy="354375"/>
              <a:chOff x="4625298" y="3534991"/>
              <a:chExt cx="344645" cy="354375"/>
            </a:xfrm>
          </p:grpSpPr>
          <p:sp>
            <p:nvSpPr>
              <p:cNvPr id="170" name="Google Shape;170;p2"/>
              <p:cNvSpPr txBox="1"/>
              <p:nvPr/>
            </p:nvSpPr>
            <p:spPr>
              <a:xfrm>
                <a:off x="4625298" y="3781649"/>
                <a:ext cx="344645" cy="107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Function</a:t>
                </a:r>
                <a:endParaRPr sz="635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8" name="Google Shape;158;p2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689620" y="3534991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1" name="Google Shape;171;p2"/>
            <p:cNvGrpSpPr/>
            <p:nvPr/>
          </p:nvGrpSpPr>
          <p:grpSpPr>
            <a:xfrm>
              <a:off x="5009764" y="3534991"/>
              <a:ext cx="344645" cy="354375"/>
              <a:chOff x="5047509" y="3534991"/>
              <a:chExt cx="344645" cy="354375"/>
            </a:xfrm>
          </p:grpSpPr>
          <p:sp>
            <p:nvSpPr>
              <p:cNvPr id="172" name="Google Shape;172;p2"/>
              <p:cNvSpPr txBox="1"/>
              <p:nvPr/>
            </p:nvSpPr>
            <p:spPr>
              <a:xfrm>
                <a:off x="5047509" y="3781649"/>
                <a:ext cx="344645" cy="107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Function</a:t>
                </a:r>
                <a:endParaRPr sz="635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0" name="Google Shape;160;p2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111831" y="3534991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3" name="Google Shape;173;p2"/>
            <p:cNvGrpSpPr/>
            <p:nvPr/>
          </p:nvGrpSpPr>
          <p:grpSpPr>
            <a:xfrm>
              <a:off x="6145818" y="3534991"/>
              <a:ext cx="344645" cy="354375"/>
              <a:chOff x="6145818" y="3534991"/>
              <a:chExt cx="344645" cy="354375"/>
            </a:xfrm>
          </p:grpSpPr>
          <p:sp>
            <p:nvSpPr>
              <p:cNvPr id="174" name="Google Shape;174;p2"/>
              <p:cNvSpPr txBox="1"/>
              <p:nvPr/>
            </p:nvSpPr>
            <p:spPr>
              <a:xfrm>
                <a:off x="6145818" y="3781649"/>
                <a:ext cx="344645" cy="107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Function</a:t>
                </a:r>
                <a:endParaRPr sz="635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5" name="Google Shape;155;p2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210140" y="3534991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5" name="Google Shape;175;p2"/>
          <p:cNvGrpSpPr/>
          <p:nvPr/>
        </p:nvGrpSpPr>
        <p:grpSpPr>
          <a:xfrm>
            <a:off x="607866" y="1739534"/>
            <a:ext cx="4324830" cy="214995"/>
            <a:chOff x="556201" y="1842100"/>
            <a:chExt cx="4767324" cy="236992"/>
          </a:xfrm>
        </p:grpSpPr>
        <p:sp>
          <p:nvSpPr>
            <p:cNvPr id="176" name="Google Shape;176;p2"/>
            <p:cNvSpPr/>
            <p:nvPr/>
          </p:nvSpPr>
          <p:spPr>
            <a:xfrm>
              <a:off x="787525" y="1842100"/>
              <a:ext cx="4536000" cy="236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응답속도 보장 방안</a:t>
              </a:r>
              <a:endParaRPr sz="1633"/>
            </a:p>
          </p:txBody>
        </p:sp>
        <p:grpSp>
          <p:nvGrpSpPr>
            <p:cNvPr id="177" name="Google Shape;177;p2"/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178" name="Google Shape;178;p2"/>
              <p:cNvSpPr/>
              <p:nvPr/>
            </p:nvSpPr>
            <p:spPr>
              <a:xfrm>
                <a:off x="556201" y="1862334"/>
                <a:ext cx="196274" cy="19652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95" extrusionOk="0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607143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654768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1" name="Google Shape;181;p2"/>
          <p:cNvSpPr txBox="1"/>
          <p:nvPr/>
        </p:nvSpPr>
        <p:spPr>
          <a:xfrm>
            <a:off x="1719445" y="2416574"/>
            <a:ext cx="2057488" cy="228610"/>
          </a:xfrm>
          <a:prstGeom prst="rect">
            <a:avLst/>
          </a:prstGeom>
          <a:solidFill>
            <a:srgbClr val="A89A9A"/>
          </a:solidFill>
          <a:ln>
            <a:noFill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lvl="1" algn="ctr"/>
            <a:r>
              <a:rPr lang="ko-KR" altLang="en-US" sz="9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주요 방안</a:t>
            </a:r>
            <a:endParaRPr sz="1633"/>
          </a:p>
        </p:txBody>
      </p:sp>
      <p:sp>
        <p:nvSpPr>
          <p:cNvPr id="182" name="Google Shape;182;p2"/>
          <p:cNvSpPr txBox="1"/>
          <p:nvPr/>
        </p:nvSpPr>
        <p:spPr>
          <a:xfrm>
            <a:off x="3909970" y="2416574"/>
            <a:ext cx="5323343" cy="228610"/>
          </a:xfrm>
          <a:prstGeom prst="rect">
            <a:avLst/>
          </a:prstGeom>
          <a:solidFill>
            <a:srgbClr val="A89A9A"/>
          </a:solidFill>
          <a:ln>
            <a:noFill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lvl="1" algn="ctr"/>
            <a:r>
              <a:rPr lang="ko-KR" altLang="en-US" sz="9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상세 내용</a:t>
            </a:r>
            <a:endParaRPr sz="1633"/>
          </a:p>
        </p:txBody>
      </p:sp>
      <p:grpSp>
        <p:nvGrpSpPr>
          <p:cNvPr id="183" name="Google Shape;183;p2"/>
          <p:cNvGrpSpPr/>
          <p:nvPr/>
        </p:nvGrpSpPr>
        <p:grpSpPr>
          <a:xfrm>
            <a:off x="7084787" y="2761758"/>
            <a:ext cx="1797079" cy="850576"/>
            <a:chOff x="7299762" y="3060047"/>
            <a:chExt cx="1980947" cy="937602"/>
          </a:xfrm>
        </p:grpSpPr>
        <p:grpSp>
          <p:nvGrpSpPr>
            <p:cNvPr id="184" name="Google Shape;184;p2"/>
            <p:cNvGrpSpPr/>
            <p:nvPr/>
          </p:nvGrpSpPr>
          <p:grpSpPr>
            <a:xfrm>
              <a:off x="8464753" y="3159448"/>
              <a:ext cx="815956" cy="282251"/>
              <a:chOff x="8428749" y="3159448"/>
              <a:chExt cx="815956" cy="282251"/>
            </a:xfrm>
          </p:grpSpPr>
          <p:pic>
            <p:nvPicPr>
              <p:cNvPr id="185" name="Google Shape;185;p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8428749" y="3159448"/>
                <a:ext cx="298067" cy="2822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6" name="Google Shape;186;p2"/>
              <p:cNvSpPr/>
              <p:nvPr/>
            </p:nvSpPr>
            <p:spPr>
              <a:xfrm>
                <a:off x="8744568" y="3246712"/>
                <a:ext cx="500137" cy="107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Auto Scaling</a:t>
                </a:r>
                <a:endParaRPr sz="1633"/>
              </a:p>
            </p:txBody>
          </p:sp>
        </p:grpSp>
        <p:cxnSp>
          <p:nvCxnSpPr>
            <p:cNvPr id="187" name="Google Shape;187;p2"/>
            <p:cNvCxnSpPr>
              <a:stCxn id="188" idx="0"/>
              <a:endCxn id="189" idx="2"/>
            </p:cNvCxnSpPr>
            <p:nvPr/>
          </p:nvCxnSpPr>
          <p:spPr>
            <a:xfrm rot="5400000" flipH="1">
              <a:off x="8576364" y="3113341"/>
              <a:ext cx="123000" cy="720300"/>
            </a:xfrm>
            <a:prstGeom prst="bentConnector3">
              <a:avLst>
                <a:gd name="adj1" fmla="val 37209"/>
              </a:avLst>
            </a:prstGeom>
            <a:noFill/>
            <a:ln w="9525" cap="flat" cmpd="sng">
              <a:solidFill>
                <a:srgbClr val="F8084D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0" name="Google Shape;190;p2"/>
            <p:cNvCxnSpPr>
              <a:stCxn id="191" idx="0"/>
              <a:endCxn id="189" idx="2"/>
            </p:cNvCxnSpPr>
            <p:nvPr/>
          </p:nvCxnSpPr>
          <p:spPr>
            <a:xfrm rot="-5400000">
              <a:off x="7823322" y="3080791"/>
              <a:ext cx="123000" cy="785400"/>
            </a:xfrm>
            <a:prstGeom prst="bentConnector3">
              <a:avLst>
                <a:gd name="adj1" fmla="val 37209"/>
              </a:avLst>
            </a:prstGeom>
            <a:noFill/>
            <a:ln w="9525" cap="flat" cmpd="sng">
              <a:solidFill>
                <a:srgbClr val="F8084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" name="Google Shape;192;p2"/>
            <p:cNvCxnSpPr>
              <a:stCxn id="193" idx="0"/>
              <a:endCxn id="189" idx="2"/>
            </p:cNvCxnSpPr>
            <p:nvPr/>
          </p:nvCxnSpPr>
          <p:spPr>
            <a:xfrm rot="-5400000">
              <a:off x="8019771" y="3277291"/>
              <a:ext cx="123000" cy="392400"/>
            </a:xfrm>
            <a:prstGeom prst="bentConnector3">
              <a:avLst>
                <a:gd name="adj1" fmla="val 37209"/>
              </a:avLst>
            </a:prstGeom>
            <a:noFill/>
            <a:ln w="9525" cap="flat" cmpd="sng">
              <a:solidFill>
                <a:srgbClr val="F8084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194" name="Google Shape;194;p2"/>
            <p:cNvGrpSpPr/>
            <p:nvPr/>
          </p:nvGrpSpPr>
          <p:grpSpPr>
            <a:xfrm>
              <a:off x="8169595" y="3060047"/>
              <a:ext cx="216000" cy="352034"/>
              <a:chOff x="8169595" y="3060047"/>
              <a:chExt cx="216000" cy="352034"/>
            </a:xfrm>
          </p:grpSpPr>
          <p:sp>
            <p:nvSpPr>
              <p:cNvPr id="195" name="Google Shape;195;p2"/>
              <p:cNvSpPr/>
              <p:nvPr/>
            </p:nvSpPr>
            <p:spPr>
              <a:xfrm>
                <a:off x="8193437" y="3060047"/>
                <a:ext cx="168316" cy="215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ECS</a:t>
                </a:r>
                <a:endParaRPr sz="1633"/>
              </a:p>
            </p:txBody>
          </p:sp>
          <p:pic>
            <p:nvPicPr>
              <p:cNvPr id="189" name="Google Shape;189;p2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8169595" y="3196081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6" name="Google Shape;196;p2"/>
            <p:cNvGrpSpPr/>
            <p:nvPr/>
          </p:nvGrpSpPr>
          <p:grpSpPr>
            <a:xfrm>
              <a:off x="7299762" y="3534991"/>
              <a:ext cx="384721" cy="354375"/>
              <a:chOff x="7299762" y="3534991"/>
              <a:chExt cx="384721" cy="354375"/>
            </a:xfrm>
          </p:grpSpPr>
          <p:sp>
            <p:nvSpPr>
              <p:cNvPr id="197" name="Google Shape;197;p2"/>
              <p:cNvSpPr txBox="1"/>
              <p:nvPr/>
            </p:nvSpPr>
            <p:spPr>
              <a:xfrm>
                <a:off x="7299762" y="3781649"/>
                <a:ext cx="384721" cy="107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Container</a:t>
                </a:r>
                <a:endParaRPr sz="1633"/>
              </a:p>
            </p:txBody>
          </p:sp>
          <p:pic>
            <p:nvPicPr>
              <p:cNvPr id="191" name="Google Shape;191;p2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384122" y="3534991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8" name="Google Shape;198;p2"/>
            <p:cNvGrpSpPr/>
            <p:nvPr/>
          </p:nvGrpSpPr>
          <p:grpSpPr>
            <a:xfrm>
              <a:off x="8805654" y="3534991"/>
              <a:ext cx="384721" cy="354375"/>
              <a:chOff x="8805654" y="3534991"/>
              <a:chExt cx="384721" cy="354375"/>
            </a:xfrm>
          </p:grpSpPr>
          <p:sp>
            <p:nvSpPr>
              <p:cNvPr id="199" name="Google Shape;199;p2"/>
              <p:cNvSpPr txBox="1"/>
              <p:nvPr/>
            </p:nvSpPr>
            <p:spPr>
              <a:xfrm>
                <a:off x="8805654" y="3781649"/>
                <a:ext cx="384721" cy="107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Container</a:t>
                </a:r>
                <a:endParaRPr sz="1633"/>
              </a:p>
            </p:txBody>
          </p:sp>
          <p:pic>
            <p:nvPicPr>
              <p:cNvPr id="188" name="Google Shape;188;p2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8890014" y="3534991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0" name="Google Shape;200;p2"/>
            <p:cNvGrpSpPr/>
            <p:nvPr/>
          </p:nvGrpSpPr>
          <p:grpSpPr>
            <a:xfrm>
              <a:off x="8231979" y="3781649"/>
              <a:ext cx="419129" cy="216000"/>
              <a:chOff x="8238538" y="3781649"/>
              <a:chExt cx="419129" cy="216000"/>
            </a:xfrm>
          </p:grpSpPr>
          <p:sp>
            <p:nvSpPr>
              <p:cNvPr id="201" name="Google Shape;201;p2"/>
              <p:cNvSpPr txBox="1"/>
              <p:nvPr/>
            </p:nvSpPr>
            <p:spPr>
              <a:xfrm>
                <a:off x="8473321" y="3781649"/>
                <a:ext cx="184346" cy="215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Task</a:t>
                </a:r>
                <a:endParaRPr sz="1633"/>
              </a:p>
            </p:txBody>
          </p:sp>
          <p:pic>
            <p:nvPicPr>
              <p:cNvPr id="202" name="Google Shape;202;p2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238538" y="3781649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3" name="Google Shape;203;p2"/>
            <p:cNvGrpSpPr/>
            <p:nvPr/>
          </p:nvGrpSpPr>
          <p:grpSpPr>
            <a:xfrm>
              <a:off x="7692711" y="3534991"/>
              <a:ext cx="384721" cy="354375"/>
              <a:chOff x="7716220" y="3534991"/>
              <a:chExt cx="384721" cy="354375"/>
            </a:xfrm>
          </p:grpSpPr>
          <p:pic>
            <p:nvPicPr>
              <p:cNvPr id="193" name="Google Shape;193;p2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800580" y="3534991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" name="Google Shape;204;p2"/>
              <p:cNvSpPr txBox="1"/>
              <p:nvPr/>
            </p:nvSpPr>
            <p:spPr>
              <a:xfrm>
                <a:off x="7716220" y="3781649"/>
                <a:ext cx="384721" cy="107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buClr>
                    <a:srgbClr val="262626"/>
                  </a:buClr>
                  <a:buSzPts val="560"/>
                </a:pPr>
                <a:r>
                  <a:rPr lang="en-US" altLang="ko-KR" sz="635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Container</a:t>
                </a:r>
                <a:endParaRPr sz="1633"/>
              </a:p>
            </p:txBody>
          </p:sp>
        </p:grpSp>
        <p:grpSp>
          <p:nvGrpSpPr>
            <p:cNvPr id="205" name="Google Shape;205;p2"/>
            <p:cNvGrpSpPr/>
            <p:nvPr/>
          </p:nvGrpSpPr>
          <p:grpSpPr>
            <a:xfrm>
              <a:off x="8085660" y="3477754"/>
              <a:ext cx="711767" cy="348615"/>
              <a:chOff x="5413114" y="3477754"/>
              <a:chExt cx="711767" cy="348615"/>
            </a:xfrm>
          </p:grpSpPr>
          <p:grpSp>
            <p:nvGrpSpPr>
              <p:cNvPr id="206" name="Google Shape;206;p2"/>
              <p:cNvGrpSpPr/>
              <p:nvPr/>
            </p:nvGrpSpPr>
            <p:grpSpPr>
              <a:xfrm>
                <a:off x="5413114" y="3477754"/>
                <a:ext cx="711767" cy="202455"/>
                <a:chOff x="5413114" y="3477754"/>
                <a:chExt cx="711767" cy="202455"/>
              </a:xfrm>
            </p:grpSpPr>
            <p:sp>
              <p:nvSpPr>
                <p:cNvPr id="207" name="Google Shape;207;p2"/>
                <p:cNvSpPr/>
                <p:nvPr/>
              </p:nvSpPr>
              <p:spPr>
                <a:xfrm>
                  <a:off x="5413114" y="3477754"/>
                  <a:ext cx="711767" cy="202455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gradFill>
                  <a:gsLst>
                    <a:gs pos="0">
                      <a:srgbClr val="A5A5A5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noAutofit/>
                </a:bodyPr>
                <a:lstStyle/>
                <a:p>
                  <a:pPr algn="ctr"/>
                  <a:endParaRPr sz="163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2"/>
                <p:cNvSpPr txBox="1"/>
                <p:nvPr/>
              </p:nvSpPr>
              <p:spPr>
                <a:xfrm>
                  <a:off x="5509952" y="3486681"/>
                  <a:ext cx="518091" cy="1846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spAutoFit/>
                </a:bodyPr>
                <a:lstStyle/>
                <a:p>
                  <a:pPr algn="ctr">
                    <a:buClr>
                      <a:srgbClr val="262626"/>
                    </a:buClr>
                    <a:buSzPts val="480"/>
                  </a:pPr>
                  <a:r>
                    <a:rPr lang="en-US" altLang="ko-KR" sz="544">
                      <a:solidFill>
                        <a:srgbClr val="26262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Scale Out</a:t>
                  </a:r>
                  <a:endParaRPr sz="1633"/>
                </a:p>
              </p:txBody>
            </p:sp>
          </p:grpSp>
          <p:grpSp>
            <p:nvGrpSpPr>
              <p:cNvPr id="209" name="Google Shape;209;p2"/>
              <p:cNvGrpSpPr/>
              <p:nvPr/>
            </p:nvGrpSpPr>
            <p:grpSpPr>
              <a:xfrm>
                <a:off x="5413114" y="3549461"/>
                <a:ext cx="711767" cy="276908"/>
                <a:chOff x="5413114" y="3549461"/>
                <a:chExt cx="711767" cy="276908"/>
              </a:xfrm>
            </p:grpSpPr>
            <p:sp>
              <p:nvSpPr>
                <p:cNvPr id="210" name="Google Shape;210;p2"/>
                <p:cNvSpPr/>
                <p:nvPr/>
              </p:nvSpPr>
              <p:spPr>
                <a:xfrm rot="10800000">
                  <a:off x="5413114" y="3586688"/>
                  <a:ext cx="711767" cy="202455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gradFill>
                  <a:gsLst>
                    <a:gs pos="0">
                      <a:srgbClr val="A5A5A5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noAutofit/>
                </a:bodyPr>
                <a:lstStyle/>
                <a:p>
                  <a:pPr algn="ctr"/>
                  <a:endParaRPr sz="163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2"/>
                <p:cNvSpPr txBox="1"/>
                <p:nvPr/>
              </p:nvSpPr>
              <p:spPr>
                <a:xfrm>
                  <a:off x="5540409" y="3549461"/>
                  <a:ext cx="457176" cy="2769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spAutoFit/>
                </a:bodyPr>
                <a:lstStyle/>
                <a:p>
                  <a:pPr algn="ctr">
                    <a:buClr>
                      <a:srgbClr val="262626"/>
                    </a:buClr>
                    <a:buSzPts val="480"/>
                  </a:pPr>
                  <a:r>
                    <a:rPr lang="en-US" altLang="ko-KR" sz="544">
                      <a:solidFill>
                        <a:srgbClr val="26262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Scale In</a:t>
                  </a:r>
                  <a:endParaRPr sz="1633"/>
                </a:p>
              </p:txBody>
            </p:sp>
          </p:grpSp>
        </p:grpSp>
      </p:grpSp>
      <p:grpSp>
        <p:nvGrpSpPr>
          <p:cNvPr id="212" name="Google Shape;212;p2"/>
          <p:cNvGrpSpPr/>
          <p:nvPr/>
        </p:nvGrpSpPr>
        <p:grpSpPr>
          <a:xfrm>
            <a:off x="3907810" y="4572271"/>
            <a:ext cx="5323797" cy="849122"/>
            <a:chOff x="4193778" y="5040081"/>
            <a:chExt cx="5868500" cy="936000"/>
          </a:xfrm>
        </p:grpSpPr>
        <p:grpSp>
          <p:nvGrpSpPr>
            <p:cNvPr id="213" name="Google Shape;213;p2"/>
            <p:cNvGrpSpPr/>
            <p:nvPr/>
          </p:nvGrpSpPr>
          <p:grpSpPr>
            <a:xfrm>
              <a:off x="4193778" y="5040081"/>
              <a:ext cx="1368000" cy="936000"/>
              <a:chOff x="4193778" y="5040081"/>
              <a:chExt cx="1368000" cy="936000"/>
            </a:xfrm>
          </p:grpSpPr>
          <p:sp>
            <p:nvSpPr>
              <p:cNvPr id="214" name="Google Shape;214;p2"/>
              <p:cNvSpPr/>
              <p:nvPr/>
            </p:nvSpPr>
            <p:spPr>
              <a:xfrm flipH="1">
                <a:off x="4193778" y="5040081"/>
                <a:ext cx="1368000" cy="936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A89A9A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endParaRPr sz="907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 flipH="1">
                <a:off x="4193778" y="5040081"/>
                <a:ext cx="1368000" cy="216000"/>
              </a:xfrm>
              <a:prstGeom prst="rect">
                <a:avLst/>
              </a:prstGeom>
              <a:solidFill>
                <a:srgbClr val="A89A9A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r>
                  <a:rPr lang="en-US" altLang="ko-KR"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Redirect </a:t>
                </a:r>
                <a:r>
                  <a:rPr lang="ko-KR" altLang="en-US"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방지</a:t>
                </a:r>
                <a:endParaRPr sz="1633"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4265778" y="5303831"/>
                <a:ext cx="1224000" cy="246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640"/>
                  <a:buFont typeface="Arial"/>
                  <a:buChar char="•"/>
                </a:pP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302, 301 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등의 불필요한 </a:t>
                </a: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Redirect 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제거</a:t>
                </a:r>
                <a:endParaRPr sz="1633"/>
              </a:p>
            </p:txBody>
          </p:sp>
        </p:grpSp>
        <p:grpSp>
          <p:nvGrpSpPr>
            <p:cNvPr id="217" name="Google Shape;217;p2"/>
            <p:cNvGrpSpPr/>
            <p:nvPr/>
          </p:nvGrpSpPr>
          <p:grpSpPr>
            <a:xfrm>
              <a:off x="5693945" y="5040081"/>
              <a:ext cx="1368000" cy="936000"/>
              <a:chOff x="6067524" y="5040081"/>
              <a:chExt cx="1368000" cy="936000"/>
            </a:xfrm>
          </p:grpSpPr>
          <p:sp>
            <p:nvSpPr>
              <p:cNvPr id="218" name="Google Shape;218;p2"/>
              <p:cNvSpPr/>
              <p:nvPr/>
            </p:nvSpPr>
            <p:spPr>
              <a:xfrm flipH="1">
                <a:off x="6067524" y="5040081"/>
                <a:ext cx="1368000" cy="936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A89A9A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endParaRPr sz="907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 flipH="1">
                <a:off x="6067524" y="5040081"/>
                <a:ext cx="1368000" cy="216000"/>
              </a:xfrm>
              <a:prstGeom prst="rect">
                <a:avLst/>
              </a:prstGeom>
              <a:solidFill>
                <a:srgbClr val="A89A9A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r>
                  <a:rPr lang="en-US" altLang="ko-KR"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Caching</a:t>
                </a:r>
                <a:endParaRPr sz="1633"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6139524" y="5303831"/>
                <a:ext cx="1224000" cy="534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640"/>
                  <a:buFont typeface="Arial"/>
                  <a:buChar char="•"/>
                </a:pP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Cache 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설정을 위한 만료주기 등 태그설정</a:t>
                </a:r>
                <a:endParaRPr sz="1633"/>
              </a:p>
              <a:p>
                <a:pPr marL="86719" indent="-86719">
                  <a:spcBef>
                    <a:spcPts val="272"/>
                  </a:spcBef>
                  <a:buClr>
                    <a:srgbClr val="262626"/>
                  </a:buClr>
                  <a:buSzPts val="640"/>
                  <a:buFont typeface="Arial"/>
                  <a:buChar char="•"/>
                </a:pP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URL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캐싱</a:t>
                </a: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이미지분할</a:t>
                </a: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솔루션적용</a:t>
                </a: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 sz="1633"/>
              </a:p>
            </p:txBody>
          </p:sp>
        </p:grpSp>
        <p:grpSp>
          <p:nvGrpSpPr>
            <p:cNvPr id="221" name="Google Shape;221;p2"/>
            <p:cNvGrpSpPr/>
            <p:nvPr/>
          </p:nvGrpSpPr>
          <p:grpSpPr>
            <a:xfrm>
              <a:off x="7194112" y="5040081"/>
              <a:ext cx="1368000" cy="936000"/>
              <a:chOff x="7941270" y="5040081"/>
              <a:chExt cx="1368000" cy="936000"/>
            </a:xfrm>
          </p:grpSpPr>
          <p:sp>
            <p:nvSpPr>
              <p:cNvPr id="222" name="Google Shape;222;p2"/>
              <p:cNvSpPr/>
              <p:nvPr/>
            </p:nvSpPr>
            <p:spPr>
              <a:xfrm flipH="1">
                <a:off x="7941270" y="5040081"/>
                <a:ext cx="1368000" cy="936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A89A9A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endParaRPr sz="907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 flipH="1">
                <a:off x="7941270" y="5040081"/>
                <a:ext cx="1368000" cy="216000"/>
              </a:xfrm>
              <a:prstGeom prst="rect">
                <a:avLst/>
              </a:prstGeom>
              <a:solidFill>
                <a:srgbClr val="A89A9A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r>
                  <a:rPr lang="en-US" altLang="ko-KR"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N/W Cost </a:t>
                </a:r>
                <a:r>
                  <a:rPr lang="ko-KR" altLang="en-US"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축소</a:t>
                </a:r>
                <a:endParaRPr sz="1633"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8013270" y="5303831"/>
                <a:ext cx="1224000" cy="658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640"/>
                  <a:buFont typeface="Arial"/>
                  <a:buChar char="•"/>
                </a:pP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Http2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적용</a:t>
                </a: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, CDN</a:t>
                </a:r>
                <a:r>
                  <a:rPr lang="en-US" altLang="ko-KR" sz="726" baseline="30000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1)</a:t>
                </a: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도메인 샤딩</a:t>
                </a: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압축전송 적용</a:t>
                </a:r>
                <a:endParaRPr sz="1633"/>
              </a:p>
              <a:p>
                <a:pPr marL="86719" indent="-86719">
                  <a:spcBef>
                    <a:spcPts val="272"/>
                  </a:spcBef>
                  <a:buClr>
                    <a:srgbClr val="262626"/>
                  </a:buClr>
                  <a:buSzPts val="640"/>
                  <a:buFont typeface="Arial"/>
                  <a:buChar char="•"/>
                </a:pP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Webpack 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등 도구를 이용한 컨텐츠 분할</a:t>
                </a:r>
                <a:endParaRPr sz="1633"/>
              </a:p>
            </p:txBody>
          </p:sp>
        </p:grpSp>
        <p:grpSp>
          <p:nvGrpSpPr>
            <p:cNvPr id="225" name="Google Shape;225;p2"/>
            <p:cNvGrpSpPr/>
            <p:nvPr/>
          </p:nvGrpSpPr>
          <p:grpSpPr>
            <a:xfrm>
              <a:off x="8694278" y="5040081"/>
              <a:ext cx="1368000" cy="936000"/>
              <a:chOff x="9815016" y="5040081"/>
              <a:chExt cx="1368000" cy="936000"/>
            </a:xfrm>
          </p:grpSpPr>
          <p:sp>
            <p:nvSpPr>
              <p:cNvPr id="226" name="Google Shape;226;p2"/>
              <p:cNvSpPr/>
              <p:nvPr/>
            </p:nvSpPr>
            <p:spPr>
              <a:xfrm flipH="1">
                <a:off x="9815016" y="5040081"/>
                <a:ext cx="1368000" cy="936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A89A9A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endParaRPr sz="907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 flipH="1">
                <a:off x="9815016" y="5040081"/>
                <a:ext cx="1368000" cy="216000"/>
              </a:xfrm>
              <a:prstGeom prst="rect">
                <a:avLst/>
              </a:prstGeom>
              <a:solidFill>
                <a:srgbClr val="A89A9A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r>
                  <a:rPr lang="en-US" altLang="ko-KR"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Rendering </a:t>
                </a:r>
                <a:r>
                  <a:rPr lang="ko-KR" altLang="en-US"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최적화</a:t>
                </a:r>
                <a:endParaRPr sz="1633"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9887016" y="5303831"/>
                <a:ext cx="1224000" cy="534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640"/>
                  <a:buFont typeface="Arial"/>
                  <a:buChar char="•"/>
                </a:pP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Virtual DOM</a:t>
                </a:r>
                <a:r>
                  <a:rPr lang="en-US" altLang="ko-KR" sz="726" baseline="30000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2)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을 이용한 빠른 렌더링 처리</a:t>
                </a:r>
                <a:endParaRPr sz="1633"/>
              </a:p>
              <a:p>
                <a:pPr marL="86719" indent="-86719">
                  <a:spcBef>
                    <a:spcPts val="272"/>
                  </a:spcBef>
                  <a:buClr>
                    <a:srgbClr val="262626"/>
                  </a:buClr>
                  <a:buSzPts val="640"/>
                  <a:buFont typeface="Arial"/>
                  <a:buChar char="•"/>
                </a:pPr>
                <a:r>
                  <a:rPr lang="en-US" altLang="ko-KR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CSR</a:t>
                </a:r>
                <a:r>
                  <a:rPr lang="en-US" altLang="ko-KR" sz="726" baseline="30000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3)</a:t>
                </a:r>
                <a:r>
                  <a:rPr lang="ko-KR" altLang="en-US" sz="72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의 페이지별 최적안 설계</a:t>
                </a:r>
                <a:endParaRPr sz="72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28" name="Google Shape;228;p2"/>
          <p:cNvCxnSpPr>
            <a:stCxn id="136" idx="4"/>
            <a:endCxn id="219" idx="0"/>
          </p:cNvCxnSpPr>
          <p:nvPr/>
        </p:nvCxnSpPr>
        <p:spPr>
          <a:xfrm>
            <a:off x="4878311" y="4415583"/>
            <a:ext cx="1011054" cy="156761"/>
          </a:xfrm>
          <a:prstGeom prst="straightConnector1">
            <a:avLst/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9" name="Google Shape;229;p2"/>
          <p:cNvCxnSpPr>
            <a:stCxn id="137" idx="4"/>
            <a:endCxn id="223" idx="0"/>
          </p:cNvCxnSpPr>
          <p:nvPr/>
        </p:nvCxnSpPr>
        <p:spPr>
          <a:xfrm>
            <a:off x="6567299" y="4415583"/>
            <a:ext cx="682836" cy="156761"/>
          </a:xfrm>
          <a:prstGeom prst="straightConnector1">
            <a:avLst/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0" name="Google Shape;230;p2"/>
          <p:cNvCxnSpPr>
            <a:stCxn id="137" idx="4"/>
            <a:endCxn id="219" idx="0"/>
          </p:cNvCxnSpPr>
          <p:nvPr/>
        </p:nvCxnSpPr>
        <p:spPr>
          <a:xfrm flipH="1">
            <a:off x="5889362" y="4415583"/>
            <a:ext cx="677937" cy="156761"/>
          </a:xfrm>
          <a:prstGeom prst="straightConnector1">
            <a:avLst/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1" name="Google Shape;231;p2"/>
          <p:cNvCxnSpPr>
            <a:stCxn id="135" idx="4"/>
            <a:endCxn id="215" idx="0"/>
          </p:cNvCxnSpPr>
          <p:nvPr/>
        </p:nvCxnSpPr>
        <p:spPr>
          <a:xfrm>
            <a:off x="4201738" y="4415583"/>
            <a:ext cx="326585" cy="156761"/>
          </a:xfrm>
          <a:prstGeom prst="straightConnector1">
            <a:avLst/>
          </a:prstGeom>
          <a:noFill/>
          <a:ln w="9525" cap="flat" cmpd="sng">
            <a:solidFill>
              <a:srgbClr val="52363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"/>
          <p:cNvSpPr txBox="1">
            <a:spLocks noGrp="1"/>
          </p:cNvSpPr>
          <p:nvPr>
            <p:ph type="body" idx="1"/>
          </p:nvPr>
        </p:nvSpPr>
        <p:spPr>
          <a:xfrm>
            <a:off x="1524720" y="551029"/>
            <a:ext cx="7772496" cy="1395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1. 성능 요구사항 &gt; 1.1 어플리케이션 성능</a:t>
            </a:r>
            <a:endParaRPr/>
          </a:p>
        </p:txBody>
      </p:sp>
      <p:sp>
        <p:nvSpPr>
          <p:cNvPr id="237" name="Google Shape;237;p3"/>
          <p:cNvSpPr txBox="1">
            <a:spLocks noGrp="1"/>
          </p:cNvSpPr>
          <p:nvPr>
            <p:ph type="body" idx="2"/>
          </p:nvPr>
        </p:nvSpPr>
        <p:spPr>
          <a:xfrm>
            <a:off x="1524720" y="739876"/>
            <a:ext cx="7772496" cy="167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1.1.2 사용자 증가에 대한 성능 보장(동시 접속자수)</a:t>
            </a:r>
            <a:endParaRPr/>
          </a:p>
        </p:txBody>
      </p:sp>
      <p:sp>
        <p:nvSpPr>
          <p:cNvPr id="238" name="Google Shape;238;p3"/>
          <p:cNvSpPr txBox="1">
            <a:spLocks noGrp="1"/>
          </p:cNvSpPr>
          <p:nvPr>
            <p:ph type="body" idx="3"/>
          </p:nvPr>
        </p:nvSpPr>
        <p:spPr>
          <a:xfrm>
            <a:off x="1524721" y="966426"/>
            <a:ext cx="7772496" cy="3908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0" indent="0"/>
            <a:r>
              <a:rPr lang="ko-KR"/>
              <a:t>워크로드의 확장성 구성/설정을 분석하여 테스트 대상/범위를 정의하고 리소스 별 확장 Configuration 과</a:t>
            </a:r>
            <a:br>
              <a:rPr lang="ko-KR"/>
            </a:br>
            <a:r>
              <a:rPr lang="ko-KR"/>
              <a:t>Parameter에 대한 확장성 테스트(Scale In/Out)를 진행합니다.</a:t>
            </a:r>
            <a:endParaRPr/>
          </a:p>
        </p:txBody>
      </p:sp>
      <p:graphicFrame>
        <p:nvGraphicFramePr>
          <p:cNvPr id="239" name="Google Shape;239;p3"/>
          <p:cNvGraphicFramePr/>
          <p:nvPr/>
        </p:nvGraphicFramePr>
        <p:xfrm>
          <a:off x="609602" y="2057189"/>
          <a:ext cx="8687605" cy="15585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2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0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과업(Task)</a:t>
                      </a:r>
                      <a:endParaRPr sz="10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41481" marB="41481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활동(Activity)</a:t>
                      </a:r>
                      <a:endParaRPr sz="10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41481" marB="41481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 sz="1600"/>
                    </a:p>
                  </a:txBody>
                  <a:tcPr marL="82962" marR="82962" marT="41481" marB="41481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산출물(Output)</a:t>
                      </a:r>
                      <a:endParaRPr sz="10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41481" marB="41481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4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검증 준비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대상 업무 및 시나리오 선정</a:t>
                      </a:r>
                      <a:endParaRPr sz="9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동시 접속자 산정 및 리소스 사양 및 목표치 선정</a:t>
                      </a:r>
                      <a:endParaRPr sz="9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시나리오 선정 및 목표 임계치 설정</a:t>
                      </a:r>
                      <a:endParaRPr sz="9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동시 접속자 수 예상 리소스 사양 및 리소스 사용률 목표 산정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계획서</a:t>
                      </a:r>
                      <a:endParaRPr sz="9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143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검증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목표TPS부하주입/응답시간측정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수행 및 성능 지표 모니터링(측정)</a:t>
                      </a:r>
                      <a:endParaRPr sz="1600"/>
                    </a:p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Jmeter(부하툴), CloudWatch 툴(모니터링) 사용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결과 수집</a:t>
                      </a:r>
                      <a:endParaRPr sz="9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4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리소스별 성능 지표/모니터링측정 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43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분석 및 최적화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리소스 조정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기준을 고려하여 측정된 성능 지표 Data 분석</a:t>
                      </a:r>
                      <a:endParaRPr sz="9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리소스 부족/과할당 등을 식별하여 성능 기준에 맞는 최적화 수행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튜닝 내역서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321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 병목/지연 조치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0" name="Google Shape;240;p3"/>
          <p:cNvGrpSpPr/>
          <p:nvPr/>
        </p:nvGrpSpPr>
        <p:grpSpPr>
          <a:xfrm>
            <a:off x="609124" y="3625498"/>
            <a:ext cx="4245226" cy="2775976"/>
            <a:chOff x="558792" y="2266950"/>
            <a:chExt cx="4679576" cy="3059999"/>
          </a:xfrm>
        </p:grpSpPr>
        <p:sp>
          <p:nvSpPr>
            <p:cNvPr id="241" name="Google Shape;241;p3"/>
            <p:cNvSpPr/>
            <p:nvPr/>
          </p:nvSpPr>
          <p:spPr>
            <a:xfrm flipH="1">
              <a:off x="558792" y="2590949"/>
              <a:ext cx="4679569" cy="273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성능 검증</a:t>
              </a:r>
              <a:endParaRPr sz="1179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3"/>
          <p:cNvGrpSpPr/>
          <p:nvPr/>
        </p:nvGrpSpPr>
        <p:grpSpPr>
          <a:xfrm>
            <a:off x="5051648" y="3624973"/>
            <a:ext cx="4245226" cy="2775976"/>
            <a:chOff x="558792" y="2266950"/>
            <a:chExt cx="4679576" cy="3059999"/>
          </a:xfrm>
        </p:grpSpPr>
        <p:sp>
          <p:nvSpPr>
            <p:cNvPr id="244" name="Google Shape;244;p3"/>
            <p:cNvSpPr/>
            <p:nvPr/>
          </p:nvSpPr>
          <p:spPr>
            <a:xfrm flipH="1">
              <a:off x="558792" y="2590949"/>
              <a:ext cx="4679569" cy="273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분석 및 최적화</a:t>
              </a:r>
              <a:endParaRPr sz="1179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3"/>
          <p:cNvSpPr/>
          <p:nvPr/>
        </p:nvSpPr>
        <p:spPr>
          <a:xfrm>
            <a:off x="674255" y="3993587"/>
            <a:ext cx="750170" cy="86545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"/>
          <p:cNvSpPr/>
          <p:nvPr/>
        </p:nvSpPr>
        <p:spPr>
          <a:xfrm>
            <a:off x="734537" y="4180230"/>
            <a:ext cx="629607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Jmeter</a:t>
            </a:r>
            <a:endParaRPr sz="72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"/>
          <p:cNvSpPr/>
          <p:nvPr/>
        </p:nvSpPr>
        <p:spPr>
          <a:xfrm>
            <a:off x="1883078" y="5650104"/>
            <a:ext cx="2906611" cy="68582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/>
          <p:cNvSpPr/>
          <p:nvPr/>
        </p:nvSpPr>
        <p:spPr>
          <a:xfrm>
            <a:off x="734537" y="4609948"/>
            <a:ext cx="629607" cy="1959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72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3"/>
          <p:cNvCxnSpPr>
            <a:stCxn id="249" idx="0"/>
            <a:endCxn id="247" idx="2"/>
          </p:cNvCxnSpPr>
          <p:nvPr/>
        </p:nvCxnSpPr>
        <p:spPr>
          <a:xfrm rot="10800000">
            <a:off x="1049340" y="4376167"/>
            <a:ext cx="0" cy="233781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1" name="Google Shape;251;p3"/>
          <p:cNvSpPr/>
          <p:nvPr/>
        </p:nvSpPr>
        <p:spPr>
          <a:xfrm>
            <a:off x="1883078" y="3986885"/>
            <a:ext cx="2906611" cy="146963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"/>
          <p:cNvSpPr/>
          <p:nvPr/>
        </p:nvSpPr>
        <p:spPr>
          <a:xfrm>
            <a:off x="1946465" y="4180230"/>
            <a:ext cx="2777899" cy="120836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sz="16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3" name="Google Shape;253;p3"/>
          <p:cNvGrpSpPr/>
          <p:nvPr/>
        </p:nvGrpSpPr>
        <p:grpSpPr>
          <a:xfrm>
            <a:off x="2170420" y="4474189"/>
            <a:ext cx="2220052" cy="816464"/>
            <a:chOff x="2717614" y="6746083"/>
            <a:chExt cx="1141314" cy="900000"/>
          </a:xfrm>
        </p:grpSpPr>
        <p:cxnSp>
          <p:nvCxnSpPr>
            <p:cNvPr id="254" name="Google Shape;254;p3"/>
            <p:cNvCxnSpPr/>
            <p:nvPr/>
          </p:nvCxnSpPr>
          <p:spPr>
            <a:xfrm>
              <a:off x="2717614" y="6746083"/>
              <a:ext cx="0" cy="90000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5" name="Google Shape;255;p3"/>
            <p:cNvCxnSpPr/>
            <p:nvPr/>
          </p:nvCxnSpPr>
          <p:spPr>
            <a:xfrm>
              <a:off x="3858928" y="6746083"/>
              <a:ext cx="0" cy="90000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6" name="Google Shape;256;p3"/>
          <p:cNvSpPr/>
          <p:nvPr/>
        </p:nvSpPr>
        <p:spPr>
          <a:xfrm>
            <a:off x="2035410" y="4441549"/>
            <a:ext cx="2590969" cy="16329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ALB/NLB</a:t>
            </a:r>
            <a:endParaRPr sz="1633"/>
          </a:p>
        </p:txBody>
      </p:sp>
      <p:sp>
        <p:nvSpPr>
          <p:cNvPr id="257" name="Google Shape;257;p3"/>
          <p:cNvSpPr/>
          <p:nvPr/>
        </p:nvSpPr>
        <p:spPr>
          <a:xfrm>
            <a:off x="2035410" y="4670177"/>
            <a:ext cx="2590969" cy="16329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ECS/Fargate</a:t>
            </a:r>
            <a:endParaRPr sz="72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"/>
          <p:cNvSpPr/>
          <p:nvPr/>
        </p:nvSpPr>
        <p:spPr>
          <a:xfrm>
            <a:off x="2035410" y="4898805"/>
            <a:ext cx="2590969" cy="16329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RDS(mySQL)/Redis</a:t>
            </a:r>
            <a:endParaRPr sz="1633"/>
          </a:p>
        </p:txBody>
      </p:sp>
      <p:sp>
        <p:nvSpPr>
          <p:cNvPr id="259" name="Google Shape;259;p3"/>
          <p:cNvSpPr/>
          <p:nvPr/>
        </p:nvSpPr>
        <p:spPr>
          <a:xfrm>
            <a:off x="2035388" y="5127433"/>
            <a:ext cx="2590969" cy="16329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EBS/S3</a:t>
            </a:r>
            <a:endParaRPr sz="1633"/>
          </a:p>
        </p:txBody>
      </p:sp>
      <p:cxnSp>
        <p:nvCxnSpPr>
          <p:cNvPr id="260" name="Google Shape;260;p3"/>
          <p:cNvCxnSpPr>
            <a:endCxn id="261" idx="0"/>
          </p:cNvCxnSpPr>
          <p:nvPr/>
        </p:nvCxnSpPr>
        <p:spPr>
          <a:xfrm>
            <a:off x="3329852" y="5451606"/>
            <a:ext cx="6532" cy="443612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2" name="Google Shape;262;p3"/>
          <p:cNvSpPr/>
          <p:nvPr/>
        </p:nvSpPr>
        <p:spPr>
          <a:xfrm>
            <a:off x="674255" y="4933983"/>
            <a:ext cx="750170" cy="7511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734537" y="5268667"/>
            <a:ext cx="629607" cy="35924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StandAlone</a:t>
            </a:r>
            <a:endParaRPr sz="72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ko-KR" altLang="en-US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72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"/>
          <p:cNvSpPr txBox="1"/>
          <p:nvPr/>
        </p:nvSpPr>
        <p:spPr>
          <a:xfrm>
            <a:off x="2866528" y="5413730"/>
            <a:ext cx="939714" cy="27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성능지표 모니터링</a:t>
            </a:r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측정</a:t>
            </a:r>
            <a:endParaRPr sz="1633"/>
          </a:p>
        </p:txBody>
      </p:sp>
      <p:sp>
        <p:nvSpPr>
          <p:cNvPr id="261" name="Google Shape;261;p3"/>
          <p:cNvSpPr/>
          <p:nvPr/>
        </p:nvSpPr>
        <p:spPr>
          <a:xfrm>
            <a:off x="1948396" y="5895218"/>
            <a:ext cx="2775976" cy="16329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72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CloudWatch</a:t>
            </a:r>
            <a:endParaRPr sz="72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"/>
          <p:cNvSpPr/>
          <p:nvPr/>
        </p:nvSpPr>
        <p:spPr>
          <a:xfrm>
            <a:off x="1948396" y="6107316"/>
            <a:ext cx="2775976" cy="16329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72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성능 지표 정의서</a:t>
            </a:r>
            <a:endParaRPr sz="1633"/>
          </a:p>
        </p:txBody>
      </p:sp>
      <p:sp>
        <p:nvSpPr>
          <p:cNvPr id="266" name="Google Shape;266;p3"/>
          <p:cNvSpPr/>
          <p:nvPr/>
        </p:nvSpPr>
        <p:spPr>
          <a:xfrm>
            <a:off x="5116311" y="3984257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시나리오 별</a:t>
            </a:r>
            <a:endParaRPr sz="68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측정 결과</a:t>
            </a:r>
            <a:endParaRPr sz="1633"/>
          </a:p>
        </p:txBody>
      </p:sp>
      <p:sp>
        <p:nvSpPr>
          <p:cNvPr id="267" name="Google Shape;267;p3"/>
          <p:cNvSpPr/>
          <p:nvPr/>
        </p:nvSpPr>
        <p:spPr>
          <a:xfrm>
            <a:off x="5981877" y="3984257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서비스 관점</a:t>
            </a:r>
            <a:endParaRPr sz="68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성능기준</a:t>
            </a:r>
            <a:b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준수 여부</a:t>
            </a:r>
            <a:b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응답</a:t>
            </a: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처리시간</a:t>
            </a: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8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"/>
          <p:cNvSpPr/>
          <p:nvPr/>
        </p:nvSpPr>
        <p:spPr>
          <a:xfrm>
            <a:off x="6847442" y="3984257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en-US" altLang="ko-KR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NCP </a:t>
            </a:r>
            <a:r>
              <a:rPr lang="ko-KR" altLang="en-US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리소스</a:t>
            </a:r>
            <a:endParaRPr sz="680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ko-KR" altLang="en-US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성능지표 분석</a:t>
            </a:r>
            <a:endParaRPr sz="680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en-US" altLang="ko-KR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 기준대비 여유</a:t>
            </a:r>
            <a:r>
              <a:rPr lang="en-US" altLang="ko-KR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80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"/>
          <p:cNvSpPr/>
          <p:nvPr/>
        </p:nvSpPr>
        <p:spPr>
          <a:xfrm>
            <a:off x="5981858" y="5247228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en-US" altLang="ko-KR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NCP </a:t>
            </a:r>
            <a:r>
              <a:rPr lang="ko-KR" altLang="en-US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리소스</a:t>
            </a:r>
            <a:endParaRPr sz="680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ko-KR" altLang="en-US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성능지표 분석</a:t>
            </a:r>
            <a:endParaRPr sz="680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en-US" altLang="ko-KR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병목</a:t>
            </a:r>
            <a:r>
              <a:rPr lang="en-US" altLang="ko-KR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부족 여부</a:t>
            </a:r>
            <a:r>
              <a:rPr lang="en-US" altLang="ko-KR" sz="68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80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3"/>
          <p:cNvCxnSpPr>
            <a:stCxn id="266" idx="3"/>
            <a:endCxn id="267" idx="1"/>
          </p:cNvCxnSpPr>
          <p:nvPr/>
        </p:nvCxnSpPr>
        <p:spPr>
          <a:xfrm>
            <a:off x="5769482" y="4212867"/>
            <a:ext cx="21228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1" name="Google Shape;271;p3"/>
          <p:cNvCxnSpPr>
            <a:stCxn id="267" idx="3"/>
            <a:endCxn id="268" idx="1"/>
          </p:cNvCxnSpPr>
          <p:nvPr/>
        </p:nvCxnSpPr>
        <p:spPr>
          <a:xfrm>
            <a:off x="6635047" y="4212867"/>
            <a:ext cx="21228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2" name="Google Shape;272;p3"/>
          <p:cNvSpPr txBox="1"/>
          <p:nvPr/>
        </p:nvSpPr>
        <p:spPr>
          <a:xfrm>
            <a:off x="6591954" y="3989548"/>
            <a:ext cx="302767" cy="27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635">
              <a:solidFill>
                <a:srgbClr val="F808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"/>
          <p:cNvSpPr/>
          <p:nvPr/>
        </p:nvSpPr>
        <p:spPr>
          <a:xfrm>
            <a:off x="7713008" y="3984257"/>
            <a:ext cx="653171" cy="457220"/>
          </a:xfrm>
          <a:prstGeom prst="rect">
            <a:avLst/>
          </a:prstGeom>
          <a:solidFill>
            <a:srgbClr val="DCD7D7"/>
          </a:solidFill>
          <a:ln w="9525" cap="flat" cmpd="sng">
            <a:solidFill>
              <a:srgbClr val="A89A9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목표 부하</a:t>
            </a:r>
            <a:b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수용 가능한 </a:t>
            </a: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Capacity</a:t>
            </a: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로 판단 </a:t>
            </a:r>
            <a:endParaRPr sz="1633"/>
          </a:p>
        </p:txBody>
      </p:sp>
      <p:sp>
        <p:nvSpPr>
          <p:cNvPr id="274" name="Google Shape;274;p3"/>
          <p:cNvSpPr/>
          <p:nvPr/>
        </p:nvSpPr>
        <p:spPr>
          <a:xfrm>
            <a:off x="6847406" y="4615742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리소스 여유량에 따라 수량조정</a:t>
            </a:r>
            <a:b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/Spec Down</a:t>
            </a:r>
            <a:endParaRPr sz="68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3"/>
          <p:cNvCxnSpPr>
            <a:stCxn id="268" idx="3"/>
            <a:endCxn id="273" idx="1"/>
          </p:cNvCxnSpPr>
          <p:nvPr/>
        </p:nvCxnSpPr>
        <p:spPr>
          <a:xfrm>
            <a:off x="7500613" y="4212867"/>
            <a:ext cx="21228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6" name="Google Shape;276;p3"/>
          <p:cNvSpPr txBox="1"/>
          <p:nvPr/>
        </p:nvSpPr>
        <p:spPr>
          <a:xfrm>
            <a:off x="7472368" y="4038407"/>
            <a:ext cx="270776" cy="181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635">
              <a:solidFill>
                <a:srgbClr val="F808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"/>
          <p:cNvSpPr/>
          <p:nvPr/>
        </p:nvSpPr>
        <p:spPr>
          <a:xfrm>
            <a:off x="8578574" y="3984257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Scalability </a:t>
            </a: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검증을 위한 임계 부하 테스트</a:t>
            </a:r>
            <a:endParaRPr sz="1633"/>
          </a:p>
        </p:txBody>
      </p:sp>
      <p:cxnSp>
        <p:nvCxnSpPr>
          <p:cNvPr id="278" name="Google Shape;278;p3"/>
          <p:cNvCxnSpPr>
            <a:stCxn id="273" idx="3"/>
            <a:endCxn id="277" idx="1"/>
          </p:cNvCxnSpPr>
          <p:nvPr/>
        </p:nvCxnSpPr>
        <p:spPr>
          <a:xfrm>
            <a:off x="8366179" y="4212867"/>
            <a:ext cx="21228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9" name="Google Shape;279;p3"/>
          <p:cNvCxnSpPr>
            <a:stCxn id="268" idx="2"/>
            <a:endCxn id="274" idx="0"/>
          </p:cNvCxnSpPr>
          <p:nvPr/>
        </p:nvCxnSpPr>
        <p:spPr>
          <a:xfrm>
            <a:off x="7174028" y="4441477"/>
            <a:ext cx="0" cy="17417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0" name="Google Shape;280;p3"/>
          <p:cNvSpPr txBox="1"/>
          <p:nvPr/>
        </p:nvSpPr>
        <p:spPr>
          <a:xfrm>
            <a:off x="7132887" y="4390029"/>
            <a:ext cx="302767" cy="27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635">
              <a:solidFill>
                <a:srgbClr val="F808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"/>
          <p:cNvSpPr/>
          <p:nvPr/>
        </p:nvSpPr>
        <p:spPr>
          <a:xfrm>
            <a:off x="8578574" y="4615742"/>
            <a:ext cx="653171" cy="457220"/>
          </a:xfrm>
          <a:prstGeom prst="rect">
            <a:avLst/>
          </a:prstGeom>
          <a:solidFill>
            <a:srgbClr val="DCD7D7"/>
          </a:solidFill>
          <a:ln w="9525" cap="flat" cmpd="sng">
            <a:solidFill>
              <a:srgbClr val="A89A9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성능테스트</a:t>
            </a:r>
            <a:endParaRPr sz="68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수행 및 분석 과정 반복</a:t>
            </a:r>
            <a:endParaRPr sz="1633"/>
          </a:p>
        </p:txBody>
      </p:sp>
      <p:cxnSp>
        <p:nvCxnSpPr>
          <p:cNvPr id="282" name="Google Shape;282;p3"/>
          <p:cNvCxnSpPr>
            <a:stCxn id="274" idx="3"/>
            <a:endCxn id="281" idx="1"/>
          </p:cNvCxnSpPr>
          <p:nvPr/>
        </p:nvCxnSpPr>
        <p:spPr>
          <a:xfrm>
            <a:off x="7500577" y="4844352"/>
            <a:ext cx="1078004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3" name="Google Shape;283;p3"/>
          <p:cNvCxnSpPr>
            <a:stCxn id="267" idx="2"/>
            <a:endCxn id="269" idx="0"/>
          </p:cNvCxnSpPr>
          <p:nvPr/>
        </p:nvCxnSpPr>
        <p:spPr>
          <a:xfrm>
            <a:off x="6308462" y="4441476"/>
            <a:ext cx="0" cy="80585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4" name="Google Shape;284;p3"/>
          <p:cNvSpPr txBox="1"/>
          <p:nvPr/>
        </p:nvSpPr>
        <p:spPr>
          <a:xfrm>
            <a:off x="6062317" y="4438888"/>
            <a:ext cx="270776" cy="181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33"/>
          </a:p>
        </p:txBody>
      </p:sp>
      <p:sp>
        <p:nvSpPr>
          <p:cNvPr id="285" name="Google Shape;285;p3"/>
          <p:cNvSpPr txBox="1"/>
          <p:nvPr/>
        </p:nvSpPr>
        <p:spPr>
          <a:xfrm>
            <a:off x="5463789" y="4718741"/>
            <a:ext cx="780914" cy="25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r"/>
            <a:r>
              <a:rPr lang="en-US" altLang="ko-KR" sz="544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NCP </a:t>
            </a:r>
            <a:r>
              <a:rPr lang="ko-KR" altLang="en-US" sz="544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리소스 부족 또는</a:t>
            </a:r>
            <a:endParaRPr sz="544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/>
            <a:r>
              <a:rPr lang="en-US" altLang="ko-KR" sz="544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 </a:t>
            </a:r>
            <a:r>
              <a:rPr lang="ko-KR" altLang="en-US" sz="544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병목</a:t>
            </a:r>
            <a:r>
              <a:rPr lang="en-US" altLang="ko-KR" sz="544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544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지연 의심</a:t>
            </a:r>
            <a:endParaRPr sz="544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"/>
          <p:cNvSpPr/>
          <p:nvPr/>
        </p:nvSpPr>
        <p:spPr>
          <a:xfrm>
            <a:off x="5981858" y="5878714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 </a:t>
            </a:r>
            <a:endParaRPr sz="1633"/>
          </a:p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병목</a:t>
            </a: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지연 </a:t>
            </a: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Point </a:t>
            </a:r>
            <a:endParaRPr sz="1633"/>
          </a:p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식별 및 조치</a:t>
            </a:r>
            <a:endParaRPr sz="1633"/>
          </a:p>
        </p:txBody>
      </p:sp>
      <p:sp>
        <p:nvSpPr>
          <p:cNvPr id="287" name="Google Shape;287;p3"/>
          <p:cNvSpPr/>
          <p:nvPr/>
        </p:nvSpPr>
        <p:spPr>
          <a:xfrm>
            <a:off x="6847406" y="5247228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b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측면의 리소스 과다 사용 여부 분석</a:t>
            </a:r>
            <a:endParaRPr sz="68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3"/>
          <p:cNvCxnSpPr>
            <a:stCxn id="269" idx="3"/>
            <a:endCxn id="287" idx="1"/>
          </p:cNvCxnSpPr>
          <p:nvPr/>
        </p:nvCxnSpPr>
        <p:spPr>
          <a:xfrm>
            <a:off x="6635029" y="5475838"/>
            <a:ext cx="21228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9" name="Google Shape;289;p3"/>
          <p:cNvSpPr txBox="1"/>
          <p:nvPr/>
        </p:nvSpPr>
        <p:spPr>
          <a:xfrm>
            <a:off x="6591954" y="5249547"/>
            <a:ext cx="302767" cy="27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33"/>
          </a:p>
        </p:txBody>
      </p:sp>
      <p:cxnSp>
        <p:nvCxnSpPr>
          <p:cNvPr id="290" name="Google Shape;290;p3"/>
          <p:cNvCxnSpPr>
            <a:stCxn id="269" idx="2"/>
            <a:endCxn id="286" idx="0"/>
          </p:cNvCxnSpPr>
          <p:nvPr/>
        </p:nvCxnSpPr>
        <p:spPr>
          <a:xfrm>
            <a:off x="6308444" y="5704448"/>
            <a:ext cx="0" cy="17417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1" name="Google Shape;291;p3"/>
          <p:cNvSpPr txBox="1"/>
          <p:nvPr/>
        </p:nvSpPr>
        <p:spPr>
          <a:xfrm>
            <a:off x="6062317" y="5704178"/>
            <a:ext cx="270776" cy="181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33"/>
          </a:p>
        </p:txBody>
      </p:sp>
      <p:cxnSp>
        <p:nvCxnSpPr>
          <p:cNvPr id="292" name="Google Shape;292;p3"/>
          <p:cNvCxnSpPr>
            <a:stCxn id="286" idx="3"/>
            <a:endCxn id="281" idx="2"/>
          </p:cNvCxnSpPr>
          <p:nvPr/>
        </p:nvCxnSpPr>
        <p:spPr>
          <a:xfrm rot="10800000" flipH="1">
            <a:off x="6635030" y="5072865"/>
            <a:ext cx="2270041" cy="1034459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3" name="Google Shape;293;p3"/>
          <p:cNvSpPr/>
          <p:nvPr/>
        </p:nvSpPr>
        <p:spPr>
          <a:xfrm>
            <a:off x="7712954" y="5247228"/>
            <a:ext cx="653171" cy="457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2659" tIns="0" rIns="32659" bIns="0" anchor="ctr" anchorCtr="0">
            <a:noAutofit/>
          </a:bodyPr>
          <a:lstStyle/>
          <a:p>
            <a:pPr marL="0" lvl="1" algn="ctr"/>
            <a: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부족 리소스 수량조정</a:t>
            </a:r>
            <a:br>
              <a:rPr lang="ko-KR" altLang="en-US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68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/Spec Up</a:t>
            </a:r>
            <a:endParaRPr sz="68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3"/>
          <p:cNvCxnSpPr>
            <a:stCxn id="287" idx="2"/>
            <a:endCxn id="286" idx="0"/>
          </p:cNvCxnSpPr>
          <p:nvPr/>
        </p:nvCxnSpPr>
        <p:spPr>
          <a:xfrm rot="5400000">
            <a:off x="6654176" y="5358812"/>
            <a:ext cx="174179" cy="865451"/>
          </a:xfrm>
          <a:prstGeom prst="bentConnector3">
            <a:avLst>
              <a:gd name="adj1" fmla="val 50025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5" name="Google Shape;295;p3"/>
          <p:cNvSpPr txBox="1"/>
          <p:nvPr/>
        </p:nvSpPr>
        <p:spPr>
          <a:xfrm>
            <a:off x="7132887" y="5655319"/>
            <a:ext cx="302767" cy="27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33"/>
          </a:p>
        </p:txBody>
      </p:sp>
      <p:cxnSp>
        <p:nvCxnSpPr>
          <p:cNvPr id="296" name="Google Shape;296;p3"/>
          <p:cNvCxnSpPr>
            <a:stCxn id="287" idx="3"/>
            <a:endCxn id="293" idx="1"/>
          </p:cNvCxnSpPr>
          <p:nvPr/>
        </p:nvCxnSpPr>
        <p:spPr>
          <a:xfrm>
            <a:off x="7500577" y="5475838"/>
            <a:ext cx="21228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7" name="Google Shape;297;p3"/>
          <p:cNvCxnSpPr>
            <a:stCxn id="293" idx="3"/>
            <a:endCxn id="281" idx="2"/>
          </p:cNvCxnSpPr>
          <p:nvPr/>
        </p:nvCxnSpPr>
        <p:spPr>
          <a:xfrm rot="10800000" flipH="1">
            <a:off x="8366125" y="5073049"/>
            <a:ext cx="539138" cy="402789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8" name="Google Shape;298;p3"/>
          <p:cNvSpPr txBox="1"/>
          <p:nvPr/>
        </p:nvSpPr>
        <p:spPr>
          <a:xfrm>
            <a:off x="6718500" y="6101927"/>
            <a:ext cx="1729353" cy="33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t" anchorCtr="0">
            <a:spAutoFit/>
          </a:bodyPr>
          <a:lstStyle/>
          <a:p>
            <a:pPr algn="ctr"/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 </a:t>
            </a: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측면의 병목</a:t>
            </a:r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지연 </a:t>
            </a:r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는</a:t>
            </a:r>
            <a:b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 테스트와 병행해서 </a:t>
            </a:r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PJT</a:t>
            </a: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팀에서 식별</a:t>
            </a:r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조치 수행</a:t>
            </a:r>
            <a:endParaRPr sz="544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7472368" y="5298406"/>
            <a:ext cx="270776" cy="181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33"/>
          </a:p>
        </p:txBody>
      </p:sp>
      <p:grpSp>
        <p:nvGrpSpPr>
          <p:cNvPr id="300" name="Google Shape;300;p3"/>
          <p:cNvGrpSpPr/>
          <p:nvPr/>
        </p:nvGrpSpPr>
        <p:grpSpPr>
          <a:xfrm>
            <a:off x="1423700" y="4377542"/>
            <a:ext cx="463939" cy="71131"/>
            <a:chOff x="1484079" y="4825428"/>
            <a:chExt cx="454118" cy="78409"/>
          </a:xfrm>
        </p:grpSpPr>
        <p:cxnSp>
          <p:nvCxnSpPr>
            <p:cNvPr id="301" name="Google Shape;301;p3"/>
            <p:cNvCxnSpPr/>
            <p:nvPr/>
          </p:nvCxnSpPr>
          <p:spPr>
            <a:xfrm>
              <a:off x="1711138" y="4676778"/>
              <a:ext cx="0" cy="454117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02" name="Google Shape;302;p3"/>
            <p:cNvCxnSpPr/>
            <p:nvPr/>
          </p:nvCxnSpPr>
          <p:spPr>
            <a:xfrm rot="10800000">
              <a:off x="1711137" y="4598369"/>
              <a:ext cx="0" cy="454117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303" name="Google Shape;303;p3"/>
          <p:cNvSpPr txBox="1"/>
          <p:nvPr/>
        </p:nvSpPr>
        <p:spPr>
          <a:xfrm>
            <a:off x="1405334" y="4044761"/>
            <a:ext cx="500540" cy="37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>
              <a:buClr>
                <a:srgbClr val="3271AA"/>
              </a:buClr>
              <a:buSzPts val="980"/>
            </a:pPr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목표</a:t>
            </a:r>
            <a:endParaRPr sz="635">
              <a:solidFill>
                <a:srgbClr val="F8084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3271AA"/>
              </a:buClr>
              <a:buSzPts val="980"/>
            </a:pPr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RPS/TPS</a:t>
            </a:r>
            <a:endParaRPr sz="635">
              <a:solidFill>
                <a:srgbClr val="F808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"/>
          <p:cNvSpPr txBox="1"/>
          <p:nvPr/>
        </p:nvSpPr>
        <p:spPr>
          <a:xfrm>
            <a:off x="1429328" y="4392691"/>
            <a:ext cx="452552" cy="37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응답시간</a:t>
            </a:r>
            <a:endParaRPr sz="635">
              <a:solidFill>
                <a:srgbClr val="F8084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측정</a:t>
            </a:r>
            <a:endParaRPr sz="1633"/>
          </a:p>
        </p:txBody>
      </p:sp>
      <p:grpSp>
        <p:nvGrpSpPr>
          <p:cNvPr id="305" name="Google Shape;305;p3"/>
          <p:cNvGrpSpPr/>
          <p:nvPr/>
        </p:nvGrpSpPr>
        <p:grpSpPr>
          <a:xfrm>
            <a:off x="1423702" y="5260786"/>
            <a:ext cx="463938" cy="71131"/>
            <a:chOff x="1484080" y="5799041"/>
            <a:chExt cx="454117" cy="78409"/>
          </a:xfrm>
        </p:grpSpPr>
        <p:cxnSp>
          <p:nvCxnSpPr>
            <p:cNvPr id="306" name="Google Shape;306;p3"/>
            <p:cNvCxnSpPr/>
            <p:nvPr/>
          </p:nvCxnSpPr>
          <p:spPr>
            <a:xfrm rot="10800000">
              <a:off x="1711138" y="5571982"/>
              <a:ext cx="0" cy="454117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07" name="Google Shape;307;p3"/>
            <p:cNvCxnSpPr/>
            <p:nvPr/>
          </p:nvCxnSpPr>
          <p:spPr>
            <a:xfrm>
              <a:off x="1711138" y="5650391"/>
              <a:ext cx="0" cy="454117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308" name="Google Shape;308;p3"/>
          <p:cNvSpPr txBox="1"/>
          <p:nvPr/>
        </p:nvSpPr>
        <p:spPr>
          <a:xfrm>
            <a:off x="1427147" y="4881174"/>
            <a:ext cx="456915" cy="37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Batch/</a:t>
            </a:r>
            <a:endParaRPr sz="1633"/>
          </a:p>
          <a:p>
            <a:pPr algn="ctr"/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b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등 호출</a:t>
            </a:r>
            <a:endParaRPr sz="1633"/>
          </a:p>
        </p:txBody>
      </p:sp>
      <p:sp>
        <p:nvSpPr>
          <p:cNvPr id="309" name="Google Shape;309;p3"/>
          <p:cNvSpPr txBox="1"/>
          <p:nvPr/>
        </p:nvSpPr>
        <p:spPr>
          <a:xfrm>
            <a:off x="1429329" y="5289320"/>
            <a:ext cx="452552" cy="37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처리시간</a:t>
            </a:r>
            <a:endParaRPr sz="635">
              <a:solidFill>
                <a:srgbClr val="F8084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측정</a:t>
            </a:r>
            <a:endParaRPr sz="1633"/>
          </a:p>
        </p:txBody>
      </p:sp>
      <p:sp>
        <p:nvSpPr>
          <p:cNvPr id="310" name="Google Shape;310;p3"/>
          <p:cNvSpPr txBox="1"/>
          <p:nvPr/>
        </p:nvSpPr>
        <p:spPr>
          <a:xfrm>
            <a:off x="5193426" y="5981680"/>
            <a:ext cx="722745" cy="33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 Logic</a:t>
            </a:r>
            <a:endParaRPr sz="1633"/>
          </a:p>
          <a:p>
            <a:pPr algn="r"/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DB Query(Slow </a:t>
            </a: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등</a:t>
            </a:r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I/F Latency </a:t>
            </a:r>
            <a:r>
              <a:rPr lang="ko-KR" altLang="en-US" sz="54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등 외부 요인</a:t>
            </a:r>
            <a:endParaRPr sz="544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3"/>
          <p:cNvGrpSpPr/>
          <p:nvPr/>
        </p:nvGrpSpPr>
        <p:grpSpPr>
          <a:xfrm>
            <a:off x="607866" y="1739534"/>
            <a:ext cx="4324830" cy="214995"/>
            <a:chOff x="556201" y="1842100"/>
            <a:chExt cx="4767324" cy="236992"/>
          </a:xfrm>
        </p:grpSpPr>
        <p:sp>
          <p:nvSpPr>
            <p:cNvPr id="312" name="Google Shape;312;p3"/>
            <p:cNvSpPr/>
            <p:nvPr/>
          </p:nvSpPr>
          <p:spPr>
            <a:xfrm>
              <a:off x="787525" y="1842100"/>
              <a:ext cx="4536000" cy="236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사용자 증가에 대한 성능 보장</a:t>
              </a:r>
              <a:endParaRPr sz="1633"/>
            </a:p>
          </p:txBody>
        </p:sp>
        <p:grpSp>
          <p:nvGrpSpPr>
            <p:cNvPr id="313" name="Google Shape;313;p3"/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314" name="Google Shape;314;p3"/>
              <p:cNvSpPr/>
              <p:nvPr/>
            </p:nvSpPr>
            <p:spPr>
              <a:xfrm>
                <a:off x="556201" y="1862334"/>
                <a:ext cx="196274" cy="19652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95" extrusionOk="0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607143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654768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7" name="Google Shape;317;p3"/>
          <p:cNvSpPr/>
          <p:nvPr/>
        </p:nvSpPr>
        <p:spPr>
          <a:xfrm>
            <a:off x="736538" y="3993587"/>
            <a:ext cx="625603" cy="33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t" anchorCtr="0">
            <a:spAutoFit/>
          </a:bodyPr>
          <a:lstStyle/>
          <a:p>
            <a:pPr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부하주입기</a:t>
            </a:r>
            <a:endParaRPr sz="1633"/>
          </a:p>
        </p:txBody>
      </p:sp>
      <p:sp>
        <p:nvSpPr>
          <p:cNvPr id="318" name="Google Shape;318;p3"/>
          <p:cNvSpPr/>
          <p:nvPr/>
        </p:nvSpPr>
        <p:spPr>
          <a:xfrm>
            <a:off x="706727" y="4931461"/>
            <a:ext cx="685226" cy="33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t" anchorCtr="0">
            <a:spAutoFit/>
          </a:bodyPr>
          <a:lstStyle/>
          <a:p>
            <a:pPr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b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/CLI 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등</a:t>
            </a:r>
            <a:endParaRPr sz="1633"/>
          </a:p>
        </p:txBody>
      </p:sp>
      <p:sp>
        <p:nvSpPr>
          <p:cNvPr id="319" name="Google Shape;319;p3"/>
          <p:cNvSpPr/>
          <p:nvPr/>
        </p:nvSpPr>
        <p:spPr>
          <a:xfrm>
            <a:off x="3008314" y="3986886"/>
            <a:ext cx="656142" cy="33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t" anchorCtr="0">
            <a:spAutoFit/>
          </a:bodyPr>
          <a:lstStyle/>
          <a:p>
            <a:pPr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테스트 환경</a:t>
            </a:r>
            <a:endParaRPr sz="1633"/>
          </a:p>
        </p:txBody>
      </p:sp>
      <p:sp>
        <p:nvSpPr>
          <p:cNvPr id="320" name="Google Shape;320;p3"/>
          <p:cNvSpPr/>
          <p:nvPr/>
        </p:nvSpPr>
        <p:spPr>
          <a:xfrm>
            <a:off x="3153154" y="5706141"/>
            <a:ext cx="366462" cy="25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모니터링</a:t>
            </a:r>
            <a:endParaRPr sz="1633"/>
          </a:p>
        </p:txBody>
      </p:sp>
      <p:sp>
        <p:nvSpPr>
          <p:cNvPr id="321" name="Google Shape;321;p3"/>
          <p:cNvSpPr/>
          <p:nvPr/>
        </p:nvSpPr>
        <p:spPr>
          <a:xfrm>
            <a:off x="2717642" y="4212892"/>
            <a:ext cx="1255493" cy="209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t" anchorCtr="0">
            <a:spAutoFit/>
          </a:bodyPr>
          <a:lstStyle/>
          <a:p>
            <a:pPr algn="ctr">
              <a:buClr>
                <a:srgbClr val="262626"/>
              </a:buClr>
              <a:buSzPts val="900"/>
            </a:pPr>
            <a:r>
              <a:rPr lang="en-US" altLang="ko-KR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NCP </a:t>
            </a:r>
            <a:r>
              <a:rPr lang="ko-KR" altLang="en-US" sz="816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리소스</a:t>
            </a:r>
            <a:endParaRPr sz="816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"/>
          <p:cNvSpPr txBox="1">
            <a:spLocks noGrp="1"/>
          </p:cNvSpPr>
          <p:nvPr>
            <p:ph type="body" idx="1"/>
          </p:nvPr>
        </p:nvSpPr>
        <p:spPr>
          <a:xfrm>
            <a:off x="1524720" y="551029"/>
            <a:ext cx="7772496" cy="1395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1. 성능 요구사항 &gt; 1.1 어플리케이션 성능</a:t>
            </a:r>
            <a:endParaRPr/>
          </a:p>
        </p:txBody>
      </p:sp>
      <p:sp>
        <p:nvSpPr>
          <p:cNvPr id="327" name="Google Shape;327;p4"/>
          <p:cNvSpPr txBox="1">
            <a:spLocks noGrp="1"/>
          </p:cNvSpPr>
          <p:nvPr>
            <p:ph type="body" idx="2"/>
          </p:nvPr>
        </p:nvSpPr>
        <p:spPr>
          <a:xfrm>
            <a:off x="1524720" y="739876"/>
            <a:ext cx="7772496" cy="167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1.1.3 시스템 안정성(서비스 연속성 보장)</a:t>
            </a:r>
            <a:endParaRPr/>
          </a:p>
        </p:txBody>
      </p:sp>
      <p:sp>
        <p:nvSpPr>
          <p:cNvPr id="328" name="Google Shape;328;p4"/>
          <p:cNvSpPr txBox="1">
            <a:spLocks noGrp="1"/>
          </p:cNvSpPr>
          <p:nvPr>
            <p:ph type="body" idx="3"/>
          </p:nvPr>
        </p:nvSpPr>
        <p:spPr>
          <a:xfrm>
            <a:off x="1524721" y="966426"/>
            <a:ext cx="7772496" cy="3908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0" indent="0"/>
            <a:r>
              <a:rPr lang="ko-KR" dirty="0"/>
              <a:t>피크 타임 및 과부하에 따른 시스템 안정성을 점검하고, </a:t>
            </a:r>
            <a:r>
              <a:rPr lang="en" altLang="ko-KR" dirty="0"/>
              <a:t>NCP</a:t>
            </a:r>
            <a:r>
              <a:rPr lang="ko-KR" dirty="0"/>
              <a:t> 환경을 고려한 테스트를 수행하여</a:t>
            </a:r>
            <a:br>
              <a:rPr lang="ko-KR" dirty="0"/>
            </a:br>
            <a:r>
              <a:rPr lang="ko-KR" dirty="0"/>
              <a:t>서비스의 연속성 방안을 수립 및 실행합니다.</a:t>
            </a:r>
            <a:endParaRPr dirty="0"/>
          </a:p>
        </p:txBody>
      </p:sp>
      <p:grpSp>
        <p:nvGrpSpPr>
          <p:cNvPr id="329" name="Google Shape;329;p4"/>
          <p:cNvGrpSpPr/>
          <p:nvPr/>
        </p:nvGrpSpPr>
        <p:grpSpPr>
          <a:xfrm>
            <a:off x="609124" y="3625498"/>
            <a:ext cx="4245226" cy="2775976"/>
            <a:chOff x="558792" y="2266950"/>
            <a:chExt cx="4679576" cy="3059999"/>
          </a:xfrm>
        </p:grpSpPr>
        <p:sp>
          <p:nvSpPr>
            <p:cNvPr id="330" name="Google Shape;330;p4"/>
            <p:cNvSpPr/>
            <p:nvPr/>
          </p:nvSpPr>
          <p:spPr>
            <a:xfrm flipH="1">
              <a:off x="558792" y="2590949"/>
              <a:ext cx="4679569" cy="273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확장성 검증</a:t>
              </a:r>
              <a:endParaRPr sz="1633"/>
            </a:p>
          </p:txBody>
        </p:sp>
      </p:grpSp>
      <p:grpSp>
        <p:nvGrpSpPr>
          <p:cNvPr id="332" name="Google Shape;332;p4"/>
          <p:cNvGrpSpPr/>
          <p:nvPr/>
        </p:nvGrpSpPr>
        <p:grpSpPr>
          <a:xfrm>
            <a:off x="1981054" y="3984257"/>
            <a:ext cx="2808635" cy="2350969"/>
            <a:chOff x="1925885" y="4391905"/>
            <a:chExt cx="3240001" cy="2591508"/>
          </a:xfrm>
        </p:grpSpPr>
        <p:sp>
          <p:nvSpPr>
            <p:cNvPr id="333" name="Google Shape;333;p4"/>
            <p:cNvSpPr/>
            <p:nvPr/>
          </p:nvSpPr>
          <p:spPr>
            <a:xfrm flipH="1">
              <a:off x="1925885" y="4392613"/>
              <a:ext cx="3239839" cy="2590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A89A9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1925886" y="4391905"/>
              <a:ext cx="3240000" cy="252000"/>
            </a:xfrm>
            <a:prstGeom prst="rect">
              <a:avLst/>
            </a:prstGeom>
            <a:solidFill>
              <a:srgbClr val="A89A9A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>
                <a:lnSpc>
                  <a:spcPct val="110000"/>
                </a:lnSpc>
              </a:pPr>
              <a:r>
                <a:rPr lang="ko-KR" altLang="en-US" sz="99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테스트 대상 워크로드</a:t>
              </a:r>
              <a:endParaRPr sz="1633"/>
            </a:p>
          </p:txBody>
        </p:sp>
      </p:grpSp>
      <p:grpSp>
        <p:nvGrpSpPr>
          <p:cNvPr id="335" name="Google Shape;335;p4"/>
          <p:cNvGrpSpPr/>
          <p:nvPr/>
        </p:nvGrpSpPr>
        <p:grpSpPr>
          <a:xfrm>
            <a:off x="674255" y="3984899"/>
            <a:ext cx="849122" cy="2350327"/>
            <a:chOff x="634939" y="3818891"/>
            <a:chExt cx="2233613" cy="2590800"/>
          </a:xfrm>
        </p:grpSpPr>
        <p:sp>
          <p:nvSpPr>
            <p:cNvPr id="336" name="Google Shape;336;p4"/>
            <p:cNvSpPr/>
            <p:nvPr/>
          </p:nvSpPr>
          <p:spPr>
            <a:xfrm flipH="1">
              <a:off x="634940" y="3818891"/>
              <a:ext cx="2233611" cy="2590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A89A9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 flipH="1">
              <a:off x="634939" y="3818891"/>
              <a:ext cx="2233613" cy="252000"/>
            </a:xfrm>
            <a:prstGeom prst="rect">
              <a:avLst/>
            </a:prstGeom>
            <a:solidFill>
              <a:srgbClr val="A89A9A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en-US" altLang="ko-KR" sz="99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PJT</a:t>
              </a:r>
              <a:r>
                <a:rPr lang="ko-KR" altLang="en-US" sz="99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별 환경 </a:t>
              </a:r>
              <a:endParaRPr sz="1633"/>
            </a:p>
          </p:txBody>
        </p:sp>
      </p:grpSp>
      <p:grpSp>
        <p:nvGrpSpPr>
          <p:cNvPr id="338" name="Google Shape;338;p4"/>
          <p:cNvGrpSpPr/>
          <p:nvPr/>
        </p:nvGrpSpPr>
        <p:grpSpPr>
          <a:xfrm>
            <a:off x="5051648" y="3624973"/>
            <a:ext cx="4245226" cy="2775976"/>
            <a:chOff x="558792" y="2266950"/>
            <a:chExt cx="4679576" cy="3059999"/>
          </a:xfrm>
        </p:grpSpPr>
        <p:sp>
          <p:nvSpPr>
            <p:cNvPr id="339" name="Google Shape;339;p4"/>
            <p:cNvSpPr/>
            <p:nvPr/>
          </p:nvSpPr>
          <p:spPr>
            <a:xfrm flipH="1">
              <a:off x="558792" y="2590949"/>
              <a:ext cx="4679569" cy="273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확장성 절차</a:t>
              </a:r>
              <a:endParaRPr sz="1633"/>
            </a:p>
          </p:txBody>
        </p:sp>
      </p:grpSp>
      <p:graphicFrame>
        <p:nvGraphicFramePr>
          <p:cNvPr id="341" name="Google Shape;341;p4"/>
          <p:cNvGraphicFramePr/>
          <p:nvPr/>
        </p:nvGraphicFramePr>
        <p:xfrm>
          <a:off x="609601" y="2057188"/>
          <a:ext cx="8687604" cy="13684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2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5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0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과업(Task)</a:t>
                      </a:r>
                      <a:endParaRPr sz="10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41481" marB="41481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활동(Activity)</a:t>
                      </a:r>
                      <a:endParaRPr sz="10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41481" marB="41481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산출물(Output)</a:t>
                      </a:r>
                      <a:endParaRPr sz="10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41481" marB="41481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53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확장성 정책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확인 화면 선별 등의 테스트 대상 정의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테스트</a:t>
                      </a:r>
                      <a:b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계획서</a:t>
                      </a:r>
                      <a:endParaRPr sz="9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85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시나리오 및 시나리오 별 임계 부하량 선정 등 테스트 범위 정의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853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확장성 구성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리소스별 확장구성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테스트</a:t>
                      </a:r>
                      <a:b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ko-KR" sz="9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 보고서</a:t>
                      </a:r>
                      <a:endParaRPr sz="9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85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확장성 테스트/정상 동작 여부확인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853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540"/>
                        <a:buFont typeface="Noto Sans Symbols"/>
                        <a:buNone/>
                      </a:pPr>
                      <a:r>
                        <a:rPr lang="ko-KR" sz="10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확장성 설정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리소스 설정변경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85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590" marR="0" lvl="0" indent="-955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ko-KR" sz="9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리소스 최적화</a:t>
                      </a:r>
                      <a:endParaRPr sz="1600"/>
                    </a:p>
                  </a:txBody>
                  <a:tcPr marL="82962" marR="82962" marT="16329" marB="16329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2" name="Google Shape;342;p4"/>
          <p:cNvSpPr/>
          <p:nvPr/>
        </p:nvSpPr>
        <p:spPr>
          <a:xfrm>
            <a:off x="6298236" y="4278217"/>
            <a:ext cx="816464" cy="4898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워크로드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SA 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b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설정분석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"/>
          <p:cNvSpPr/>
          <p:nvPr/>
        </p:nvSpPr>
        <p:spPr>
          <a:xfrm>
            <a:off x="6298236" y="4957813"/>
            <a:ext cx="816464" cy="4898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확장성 테스트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대상 정의</a:t>
            </a:r>
            <a:endParaRPr sz="1633"/>
          </a:p>
        </p:txBody>
      </p:sp>
      <p:sp>
        <p:nvSpPr>
          <p:cNvPr id="344" name="Google Shape;344;p4"/>
          <p:cNvSpPr/>
          <p:nvPr/>
        </p:nvSpPr>
        <p:spPr>
          <a:xfrm>
            <a:off x="5116311" y="4278217"/>
            <a:ext cx="816464" cy="489878"/>
          </a:xfrm>
          <a:prstGeom prst="rect">
            <a:avLst/>
          </a:prstGeom>
          <a:solidFill>
            <a:srgbClr val="DCD7D7"/>
          </a:solidFill>
          <a:ln w="9525" cap="flat" cmpd="sng">
            <a:solidFill>
              <a:srgbClr val="A89A9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Scalability 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검증을 위한 임계 부하 테스트</a:t>
            </a:r>
            <a:endParaRPr sz="1633"/>
          </a:p>
        </p:txBody>
      </p:sp>
      <p:sp>
        <p:nvSpPr>
          <p:cNvPr id="345" name="Google Shape;345;p4"/>
          <p:cNvSpPr/>
          <p:nvPr/>
        </p:nvSpPr>
        <p:spPr>
          <a:xfrm>
            <a:off x="6298236" y="5637409"/>
            <a:ext cx="816464" cy="4898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리소스 별 확장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Conf/</a:t>
            </a:r>
            <a:b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 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체크</a:t>
            </a:r>
            <a:endParaRPr sz="1633"/>
          </a:p>
        </p:txBody>
      </p:sp>
      <p:cxnSp>
        <p:nvCxnSpPr>
          <p:cNvPr id="346" name="Google Shape;346;p4"/>
          <p:cNvCxnSpPr>
            <a:stCxn id="344" idx="2"/>
            <a:endCxn id="345" idx="1"/>
          </p:cNvCxnSpPr>
          <p:nvPr/>
        </p:nvCxnSpPr>
        <p:spPr>
          <a:xfrm rot="-5400000" flipH="1">
            <a:off x="5354310" y="4938328"/>
            <a:ext cx="1114201" cy="773735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7" name="Google Shape;347;p4"/>
          <p:cNvSpPr/>
          <p:nvPr/>
        </p:nvSpPr>
        <p:spPr>
          <a:xfrm>
            <a:off x="7356713" y="4278217"/>
            <a:ext cx="816464" cy="4898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임계 부하 주입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성능 테스트 </a:t>
            </a:r>
            <a:b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동일 방식</a:t>
            </a:r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4"/>
          <p:cNvCxnSpPr>
            <a:stCxn id="345" idx="3"/>
            <a:endCxn id="347" idx="1"/>
          </p:cNvCxnSpPr>
          <p:nvPr/>
        </p:nvCxnSpPr>
        <p:spPr>
          <a:xfrm rot="10800000" flipH="1">
            <a:off x="7114700" y="4523208"/>
            <a:ext cx="241945" cy="135914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9" name="Google Shape;349;p4"/>
          <p:cNvSpPr/>
          <p:nvPr/>
        </p:nvSpPr>
        <p:spPr>
          <a:xfrm>
            <a:off x="7356713" y="5637409"/>
            <a:ext cx="816464" cy="489878"/>
          </a:xfrm>
          <a:prstGeom prst="rect">
            <a:avLst/>
          </a:prstGeom>
          <a:solidFill>
            <a:srgbClr val="DCD7D7"/>
          </a:solidFill>
          <a:ln w="9525" cap="flat" cmpd="sng">
            <a:solidFill>
              <a:srgbClr val="A89A9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확장 여부 검증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(Scale-out)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"/>
          <p:cNvSpPr/>
          <p:nvPr/>
        </p:nvSpPr>
        <p:spPr>
          <a:xfrm>
            <a:off x="7356713" y="4957813"/>
            <a:ext cx="816464" cy="4898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임계 여부 확인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(Monitoring</a:t>
            </a:r>
            <a:b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/Alerting)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"/>
          <p:cNvSpPr/>
          <p:nvPr/>
        </p:nvSpPr>
        <p:spPr>
          <a:xfrm>
            <a:off x="8415281" y="5637409"/>
            <a:ext cx="816464" cy="489878"/>
          </a:xfrm>
          <a:prstGeom prst="rect">
            <a:avLst/>
          </a:prstGeom>
          <a:solidFill>
            <a:srgbClr val="DCD7D7"/>
          </a:solidFill>
          <a:ln w="9525" cap="flat" cmpd="sng">
            <a:solidFill>
              <a:srgbClr val="A89A9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확장 리소스 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원복 여부 확인</a:t>
            </a:r>
            <a:endParaRPr sz="1633"/>
          </a:p>
        </p:txBody>
      </p:sp>
      <p:sp>
        <p:nvSpPr>
          <p:cNvPr id="352" name="Google Shape;352;p4"/>
          <p:cNvSpPr/>
          <p:nvPr/>
        </p:nvSpPr>
        <p:spPr>
          <a:xfrm>
            <a:off x="8415190" y="4278217"/>
            <a:ext cx="816464" cy="4898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부하 해제</a:t>
            </a:r>
            <a:endParaRPr sz="1633"/>
          </a:p>
        </p:txBody>
      </p:sp>
      <p:cxnSp>
        <p:nvCxnSpPr>
          <p:cNvPr id="353" name="Google Shape;353;p4"/>
          <p:cNvCxnSpPr>
            <a:stCxn id="351" idx="2"/>
            <a:endCxn id="349" idx="2"/>
          </p:cNvCxnSpPr>
          <p:nvPr/>
        </p:nvCxnSpPr>
        <p:spPr>
          <a:xfrm rot="5400000">
            <a:off x="8293901" y="5598219"/>
            <a:ext cx="544" cy="1058681"/>
          </a:xfrm>
          <a:prstGeom prst="bentConnector3">
            <a:avLst>
              <a:gd name="adj1" fmla="val 37041750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4" name="Google Shape;354;p4"/>
          <p:cNvCxnSpPr>
            <a:stCxn id="352" idx="2"/>
            <a:endCxn id="351" idx="0"/>
          </p:cNvCxnSpPr>
          <p:nvPr/>
        </p:nvCxnSpPr>
        <p:spPr>
          <a:xfrm>
            <a:off x="8823422" y="4768095"/>
            <a:ext cx="0" cy="869262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5" name="Google Shape;355;p4"/>
          <p:cNvCxnSpPr>
            <a:stCxn id="342" idx="2"/>
            <a:endCxn id="343" idx="0"/>
          </p:cNvCxnSpPr>
          <p:nvPr/>
        </p:nvCxnSpPr>
        <p:spPr>
          <a:xfrm>
            <a:off x="6706468" y="4768095"/>
            <a:ext cx="0" cy="189692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6" name="Google Shape;356;p4"/>
          <p:cNvCxnSpPr>
            <a:stCxn id="343" idx="2"/>
            <a:endCxn id="345" idx="0"/>
          </p:cNvCxnSpPr>
          <p:nvPr/>
        </p:nvCxnSpPr>
        <p:spPr>
          <a:xfrm>
            <a:off x="6706468" y="5447691"/>
            <a:ext cx="0" cy="189692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7" name="Google Shape;357;p4"/>
          <p:cNvCxnSpPr>
            <a:stCxn id="347" idx="2"/>
            <a:endCxn id="350" idx="0"/>
          </p:cNvCxnSpPr>
          <p:nvPr/>
        </p:nvCxnSpPr>
        <p:spPr>
          <a:xfrm>
            <a:off x="7764945" y="4768095"/>
            <a:ext cx="0" cy="189692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8" name="Google Shape;358;p4"/>
          <p:cNvCxnSpPr>
            <a:endCxn id="349" idx="0"/>
          </p:cNvCxnSpPr>
          <p:nvPr/>
        </p:nvCxnSpPr>
        <p:spPr>
          <a:xfrm flipH="1">
            <a:off x="7764945" y="5346748"/>
            <a:ext cx="1361" cy="290661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9" name="Google Shape;359;p4"/>
          <p:cNvCxnSpPr>
            <a:stCxn id="347" idx="3"/>
            <a:endCxn id="352" idx="1"/>
          </p:cNvCxnSpPr>
          <p:nvPr/>
        </p:nvCxnSpPr>
        <p:spPr>
          <a:xfrm>
            <a:off x="8173177" y="4523156"/>
            <a:ext cx="241945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0" name="Google Shape;360;p4"/>
          <p:cNvSpPr/>
          <p:nvPr/>
        </p:nvSpPr>
        <p:spPr>
          <a:xfrm>
            <a:off x="739572" y="4278216"/>
            <a:ext cx="718488" cy="587854"/>
          </a:xfrm>
          <a:prstGeom prst="rect">
            <a:avLst/>
          </a:prstGeom>
          <a:solidFill>
            <a:srgbClr val="DCD7D7"/>
          </a:solidFill>
          <a:ln w="9525" cap="flat" cmpd="sng">
            <a:solidFill>
              <a:srgbClr val="A89A9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/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PJT </a:t>
            </a: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요건</a:t>
            </a:r>
            <a:b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반영한</a:t>
            </a:r>
            <a:b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별도 환경</a:t>
            </a:r>
            <a:br>
              <a:rPr lang="ko-KR" altLang="en-US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816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(Jmeter)</a:t>
            </a:r>
            <a:endParaRPr sz="816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4"/>
          <p:cNvGrpSpPr/>
          <p:nvPr/>
        </p:nvGrpSpPr>
        <p:grpSpPr>
          <a:xfrm>
            <a:off x="3418034" y="4278217"/>
            <a:ext cx="1306342" cy="1992171"/>
            <a:chOff x="3674744" y="4845916"/>
            <a:chExt cx="1374259" cy="2196000"/>
          </a:xfrm>
        </p:grpSpPr>
        <p:sp>
          <p:nvSpPr>
            <p:cNvPr id="362" name="Google Shape;362;p4"/>
            <p:cNvSpPr/>
            <p:nvPr/>
          </p:nvSpPr>
          <p:spPr>
            <a:xfrm>
              <a:off x="3674745" y="4845916"/>
              <a:ext cx="1374258" cy="2196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endParaRPr sz="163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4"/>
            <p:cNvSpPr/>
            <p:nvPr/>
          </p:nvSpPr>
          <p:spPr>
            <a:xfrm flipH="1">
              <a:off x="3674744" y="4845916"/>
              <a:ext cx="1374258" cy="252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998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모니터링 및 검증</a:t>
              </a:r>
              <a:endParaRPr sz="1633"/>
            </a:p>
          </p:txBody>
        </p:sp>
      </p:grpSp>
      <p:sp>
        <p:nvSpPr>
          <p:cNvPr id="364" name="Google Shape;364;p4"/>
          <p:cNvSpPr/>
          <p:nvPr/>
        </p:nvSpPr>
        <p:spPr>
          <a:xfrm>
            <a:off x="3423045" y="4540698"/>
            <a:ext cx="1306342" cy="131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t" anchorCtr="0">
            <a:spAutoFit/>
          </a:bodyPr>
          <a:lstStyle/>
          <a:p>
            <a:pPr marL="86719" indent="-86719"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임계 부하 인지</a:t>
            </a:r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719" indent="-86719">
              <a:spcBef>
                <a:spcPts val="272"/>
              </a:spcBef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확장성 정책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b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설정의 정상 동작 여부</a:t>
            </a:r>
            <a:b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(ex: Scale-out)</a:t>
            </a:r>
            <a:endParaRPr sz="1633"/>
          </a:p>
          <a:p>
            <a:pPr marL="86719" indent="-86719">
              <a:spcBef>
                <a:spcPts val="272"/>
              </a:spcBef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서비스 정상 여부</a:t>
            </a:r>
            <a:endParaRPr sz="907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719" indent="-86719">
              <a:spcBef>
                <a:spcPts val="272"/>
              </a:spcBef>
              <a:buClr>
                <a:srgbClr val="262626"/>
              </a:buClr>
              <a:buSzPts val="800"/>
              <a:buFont typeface="Arial"/>
              <a:buChar char="•"/>
            </a:pPr>
            <a:r>
              <a:rPr lang="ko-KR" altLang="en-US" sz="90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원복 정상 동작 여부 등</a:t>
            </a:r>
            <a:endParaRPr sz="1633"/>
          </a:p>
        </p:txBody>
      </p:sp>
      <p:grpSp>
        <p:nvGrpSpPr>
          <p:cNvPr id="365" name="Google Shape;365;p4"/>
          <p:cNvGrpSpPr/>
          <p:nvPr/>
        </p:nvGrpSpPr>
        <p:grpSpPr>
          <a:xfrm>
            <a:off x="2046367" y="4278217"/>
            <a:ext cx="1306342" cy="1992171"/>
            <a:chOff x="635287" y="4568049"/>
            <a:chExt cx="2538001" cy="2196000"/>
          </a:xfrm>
        </p:grpSpPr>
        <p:sp>
          <p:nvSpPr>
            <p:cNvPr id="366" name="Google Shape;366;p4"/>
            <p:cNvSpPr/>
            <p:nvPr/>
          </p:nvSpPr>
          <p:spPr>
            <a:xfrm>
              <a:off x="635289" y="4568049"/>
              <a:ext cx="2537999" cy="2196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endParaRPr sz="163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4"/>
            <p:cNvSpPr/>
            <p:nvPr/>
          </p:nvSpPr>
          <p:spPr>
            <a:xfrm flipH="1">
              <a:off x="635287" y="4568049"/>
              <a:ext cx="2537998" cy="252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en-US" altLang="ko-KR" sz="998" dirty="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NCP </a:t>
              </a:r>
              <a:r>
                <a:rPr lang="ko-KR" altLang="en-US" sz="998" dirty="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리소스</a:t>
              </a:r>
              <a:endParaRPr sz="1633" dirty="0"/>
            </a:p>
          </p:txBody>
        </p:sp>
      </p:grpSp>
      <p:grpSp>
        <p:nvGrpSpPr>
          <p:cNvPr id="368" name="Google Shape;368;p4"/>
          <p:cNvGrpSpPr/>
          <p:nvPr/>
        </p:nvGrpSpPr>
        <p:grpSpPr>
          <a:xfrm>
            <a:off x="2115901" y="4572176"/>
            <a:ext cx="1171491" cy="1632802"/>
            <a:chOff x="2218530" y="5039977"/>
            <a:chExt cx="1291352" cy="1799862"/>
          </a:xfrm>
        </p:grpSpPr>
        <p:grpSp>
          <p:nvGrpSpPr>
            <p:cNvPr id="369" name="Google Shape;369;p4"/>
            <p:cNvGrpSpPr/>
            <p:nvPr/>
          </p:nvGrpSpPr>
          <p:grpSpPr>
            <a:xfrm>
              <a:off x="2969882" y="5039977"/>
              <a:ext cx="540000" cy="1799862"/>
              <a:chOff x="2969882" y="5039977"/>
              <a:chExt cx="540000" cy="1799862"/>
            </a:xfrm>
          </p:grpSpPr>
          <p:sp>
            <p:nvSpPr>
              <p:cNvPr id="370" name="Google Shape;370;p4"/>
              <p:cNvSpPr/>
              <p:nvPr/>
            </p:nvSpPr>
            <p:spPr>
              <a:xfrm>
                <a:off x="2969882" y="5039977"/>
                <a:ext cx="540000" cy="54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A5A5A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1" algn="ctr"/>
                <a: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확장성</a:t>
                </a:r>
                <a:b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정책</a:t>
                </a:r>
                <a:endParaRPr sz="1633"/>
              </a:p>
            </p:txBody>
          </p:sp>
          <p:sp>
            <p:nvSpPr>
              <p:cNvPr id="371" name="Google Shape;371;p4"/>
              <p:cNvSpPr/>
              <p:nvPr/>
            </p:nvSpPr>
            <p:spPr>
              <a:xfrm>
                <a:off x="2969882" y="5669908"/>
                <a:ext cx="540000" cy="54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A5A5A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1" algn="ctr"/>
                <a: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확장성</a:t>
                </a:r>
                <a:b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구성</a:t>
                </a:r>
                <a:endParaRPr sz="1633"/>
              </a:p>
            </p:txBody>
          </p:sp>
          <p:sp>
            <p:nvSpPr>
              <p:cNvPr id="372" name="Google Shape;372;p4"/>
              <p:cNvSpPr/>
              <p:nvPr/>
            </p:nvSpPr>
            <p:spPr>
              <a:xfrm>
                <a:off x="2969882" y="6299839"/>
                <a:ext cx="540000" cy="54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A5A5A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1" algn="ctr"/>
                <a: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확장성</a:t>
                </a:r>
                <a:b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ko-KR" altLang="en-US" sz="816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설정</a:t>
                </a:r>
                <a:endParaRPr sz="1633"/>
              </a:p>
            </p:txBody>
          </p:sp>
        </p:grpSp>
        <p:sp>
          <p:nvSpPr>
            <p:cNvPr id="373" name="Google Shape;373;p4"/>
            <p:cNvSpPr/>
            <p:nvPr/>
          </p:nvSpPr>
          <p:spPr>
            <a:xfrm>
              <a:off x="2218530" y="5039977"/>
              <a:ext cx="684000" cy="1799862"/>
            </a:xfrm>
            <a:prstGeom prst="rect">
              <a:avLst/>
            </a:prstGeom>
            <a:solidFill>
              <a:srgbClr val="DCD7D7"/>
            </a:solidFill>
            <a:ln w="9525" cap="flat" cmpd="sng">
              <a:solidFill>
                <a:srgbClr val="A89A9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1" algn="ctr"/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성능 테스트</a:t>
              </a:r>
              <a:b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동일 대상 </a:t>
              </a:r>
              <a:b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및 시나리오</a:t>
              </a:r>
              <a:endParaRPr sz="1633"/>
            </a:p>
          </p:txBody>
        </p:sp>
      </p:grpSp>
      <p:cxnSp>
        <p:nvCxnSpPr>
          <p:cNvPr id="374" name="Google Shape;374;p4"/>
          <p:cNvCxnSpPr>
            <a:stCxn id="360" idx="2"/>
            <a:endCxn id="373" idx="1"/>
          </p:cNvCxnSpPr>
          <p:nvPr/>
        </p:nvCxnSpPr>
        <p:spPr>
          <a:xfrm rot="-5400000" flipH="1">
            <a:off x="1346068" y="4618818"/>
            <a:ext cx="522537" cy="1017042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5" name="Google Shape;375;p4"/>
          <p:cNvSpPr txBox="1"/>
          <p:nvPr/>
        </p:nvSpPr>
        <p:spPr>
          <a:xfrm>
            <a:off x="1488142" y="5103435"/>
            <a:ext cx="525263" cy="27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41458" rIns="82939" bIns="41458" anchor="ctr" anchorCtr="0">
            <a:spAutoFit/>
          </a:bodyPr>
          <a:lstStyle/>
          <a:p>
            <a:pPr algn="ctr"/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임계</a:t>
            </a:r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확장</a:t>
            </a:r>
            <a:r>
              <a:rPr lang="en-US" altLang="ko-KR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633"/>
          </a:p>
          <a:p>
            <a:pPr algn="ctr"/>
            <a:r>
              <a:rPr lang="ko-KR" altLang="en-US" sz="635">
                <a:solidFill>
                  <a:srgbClr val="F8084D"/>
                </a:solidFill>
                <a:latin typeface="Arial"/>
                <a:ea typeface="Arial"/>
                <a:cs typeface="Arial"/>
                <a:sym typeface="Arial"/>
              </a:rPr>
              <a:t>부하</a:t>
            </a:r>
            <a:endParaRPr sz="1633"/>
          </a:p>
        </p:txBody>
      </p:sp>
      <p:grpSp>
        <p:nvGrpSpPr>
          <p:cNvPr id="376" name="Google Shape;376;p4"/>
          <p:cNvGrpSpPr/>
          <p:nvPr/>
        </p:nvGrpSpPr>
        <p:grpSpPr>
          <a:xfrm>
            <a:off x="607866" y="1739534"/>
            <a:ext cx="4324830" cy="214995"/>
            <a:chOff x="556201" y="1842100"/>
            <a:chExt cx="4767324" cy="236992"/>
          </a:xfrm>
        </p:grpSpPr>
        <p:sp>
          <p:nvSpPr>
            <p:cNvPr id="377" name="Google Shape;377;p4"/>
            <p:cNvSpPr/>
            <p:nvPr/>
          </p:nvSpPr>
          <p:spPr>
            <a:xfrm>
              <a:off x="787525" y="1842100"/>
              <a:ext cx="4536000" cy="236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서비스 연속성</a:t>
              </a:r>
              <a:r>
                <a:rPr lang="en-US" altLang="ko-KR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ko-KR" altLang="en-US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확장성</a:t>
              </a:r>
              <a:r>
                <a:rPr lang="en-US" altLang="ko-KR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) </a:t>
              </a:r>
              <a:r>
                <a:rPr lang="ko-KR" altLang="en-US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방안</a:t>
              </a:r>
              <a:endParaRPr sz="1633"/>
            </a:p>
          </p:txBody>
        </p:sp>
        <p:grpSp>
          <p:nvGrpSpPr>
            <p:cNvPr id="378" name="Google Shape;378;p4"/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379" name="Google Shape;379;p4"/>
              <p:cNvSpPr/>
              <p:nvPr/>
            </p:nvSpPr>
            <p:spPr>
              <a:xfrm>
                <a:off x="556201" y="1862334"/>
                <a:ext cx="196274" cy="19652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95" extrusionOk="0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4"/>
              <p:cNvSpPr/>
              <p:nvPr/>
            </p:nvSpPr>
            <p:spPr>
              <a:xfrm>
                <a:off x="607143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4"/>
              <p:cNvSpPr/>
              <p:nvPr/>
            </p:nvSpPr>
            <p:spPr>
              <a:xfrm>
                <a:off x="654768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2" name="Google Shape;382;p4"/>
          <p:cNvSpPr/>
          <p:nvPr/>
        </p:nvSpPr>
        <p:spPr>
          <a:xfrm>
            <a:off x="5116311" y="3984257"/>
            <a:ext cx="816464" cy="228610"/>
          </a:xfrm>
          <a:prstGeom prst="rect">
            <a:avLst/>
          </a:prstGeom>
          <a:solidFill>
            <a:srgbClr val="A89A9A"/>
          </a:solidFill>
          <a:ln>
            <a:noFill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lvl="1" algn="ctr">
              <a:lnSpc>
                <a:spcPct val="110000"/>
              </a:lnSpc>
            </a:pPr>
            <a:r>
              <a:rPr lang="ko-KR" altLang="en-US" sz="9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성능 테스트</a:t>
            </a:r>
            <a:endParaRPr sz="1633"/>
          </a:p>
        </p:txBody>
      </p:sp>
      <p:sp>
        <p:nvSpPr>
          <p:cNvPr id="383" name="Google Shape;383;p4"/>
          <p:cNvSpPr/>
          <p:nvPr/>
        </p:nvSpPr>
        <p:spPr>
          <a:xfrm>
            <a:off x="6298236" y="3984257"/>
            <a:ext cx="2939269" cy="228610"/>
          </a:xfrm>
          <a:prstGeom prst="rect">
            <a:avLst/>
          </a:prstGeom>
          <a:solidFill>
            <a:srgbClr val="A89A9A"/>
          </a:solidFill>
          <a:ln>
            <a:noFill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lvl="1" algn="ctr">
              <a:lnSpc>
                <a:spcPct val="110000"/>
              </a:lnSpc>
            </a:pPr>
            <a:r>
              <a:rPr lang="ko-KR" altLang="en-US" sz="9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확장성 테스트</a:t>
            </a:r>
            <a:endParaRPr sz="163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"/>
          <p:cNvSpPr txBox="1">
            <a:spLocks noGrp="1"/>
          </p:cNvSpPr>
          <p:nvPr>
            <p:ph type="body" idx="1"/>
          </p:nvPr>
        </p:nvSpPr>
        <p:spPr>
          <a:xfrm>
            <a:off x="1524720" y="551029"/>
            <a:ext cx="7772496" cy="1395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2. 품질 요구사항 &gt; 2.1 품질관리</a:t>
            </a:r>
            <a:endParaRPr/>
          </a:p>
        </p:txBody>
      </p:sp>
      <p:sp>
        <p:nvSpPr>
          <p:cNvPr id="389" name="Google Shape;389;p5"/>
          <p:cNvSpPr txBox="1">
            <a:spLocks noGrp="1"/>
          </p:cNvSpPr>
          <p:nvPr>
            <p:ph type="body" idx="2"/>
          </p:nvPr>
        </p:nvSpPr>
        <p:spPr>
          <a:xfrm>
            <a:off x="1524720" y="739877"/>
            <a:ext cx="7772496" cy="167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2.1.1 품질관리 개요</a:t>
            </a:r>
            <a:endParaRPr/>
          </a:p>
        </p:txBody>
      </p:sp>
      <p:sp>
        <p:nvSpPr>
          <p:cNvPr id="390" name="Google Shape;390;p5"/>
          <p:cNvSpPr txBox="1">
            <a:spLocks noGrp="1"/>
          </p:cNvSpPr>
          <p:nvPr>
            <p:ph type="body" idx="3"/>
          </p:nvPr>
        </p:nvSpPr>
        <p:spPr>
          <a:xfrm>
            <a:off x="1524721" y="966426"/>
            <a:ext cx="7772496" cy="3919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/>
            <a:r>
              <a:rPr lang="ko-KR"/>
              <a:t>전문 품질 인력과 제안사의 조직적 품질 역량을 통해 체계적인 품질관리를 수행합니다.</a:t>
            </a:r>
            <a:endParaRPr/>
          </a:p>
        </p:txBody>
      </p:sp>
      <p:grpSp>
        <p:nvGrpSpPr>
          <p:cNvPr id="391" name="Google Shape;391;p5"/>
          <p:cNvGrpSpPr/>
          <p:nvPr/>
        </p:nvGrpSpPr>
        <p:grpSpPr>
          <a:xfrm>
            <a:off x="607866" y="1739534"/>
            <a:ext cx="4324830" cy="214995"/>
            <a:chOff x="556201" y="1842100"/>
            <a:chExt cx="4767324" cy="236992"/>
          </a:xfrm>
        </p:grpSpPr>
        <p:sp>
          <p:nvSpPr>
            <p:cNvPr id="392" name="Google Shape;392;p5"/>
            <p:cNvSpPr/>
            <p:nvPr/>
          </p:nvSpPr>
          <p:spPr>
            <a:xfrm>
              <a:off x="787525" y="1842100"/>
              <a:ext cx="4536000" cy="236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품질관리 개요</a:t>
              </a:r>
              <a:endParaRPr sz="1633"/>
            </a:p>
          </p:txBody>
        </p:sp>
        <p:grpSp>
          <p:nvGrpSpPr>
            <p:cNvPr id="393" name="Google Shape;393;p5"/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394" name="Google Shape;394;p5"/>
              <p:cNvSpPr/>
              <p:nvPr/>
            </p:nvSpPr>
            <p:spPr>
              <a:xfrm>
                <a:off x="556201" y="1862334"/>
                <a:ext cx="196274" cy="19652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95" extrusionOk="0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5"/>
              <p:cNvSpPr/>
              <p:nvPr/>
            </p:nvSpPr>
            <p:spPr>
              <a:xfrm>
                <a:off x="607143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5"/>
              <p:cNvSpPr/>
              <p:nvPr/>
            </p:nvSpPr>
            <p:spPr>
              <a:xfrm>
                <a:off x="654768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7" name="Google Shape;397;p5"/>
          <p:cNvSpPr txBox="1"/>
          <p:nvPr/>
        </p:nvSpPr>
        <p:spPr>
          <a:xfrm>
            <a:off x="2832627" y="2077629"/>
            <a:ext cx="4189403" cy="42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252" tIns="42615" rIns="85252" bIns="42615" anchor="t" anchorCtr="0">
            <a:noAutofit/>
          </a:bodyPr>
          <a:lstStyle/>
          <a:p>
            <a:pPr marL="0" lvl="1" algn="ctr"/>
            <a:r>
              <a:rPr lang="ko-KR" altLang="en-US" sz="1452">
                <a:solidFill>
                  <a:srgbClr val="523636"/>
                </a:solidFill>
                <a:latin typeface="Arial"/>
                <a:ea typeface="Arial"/>
                <a:cs typeface="Arial"/>
                <a:sym typeface="Arial"/>
              </a:rPr>
              <a:t>산출물 신뢰성 확보</a:t>
            </a:r>
            <a:r>
              <a:rPr lang="en-US" altLang="ko-KR" sz="1452">
                <a:solidFill>
                  <a:srgbClr val="52363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452">
                <a:solidFill>
                  <a:srgbClr val="523636"/>
                </a:solidFill>
                <a:latin typeface="Arial"/>
                <a:ea typeface="Arial"/>
                <a:cs typeface="Arial"/>
                <a:sym typeface="Arial"/>
              </a:rPr>
              <a:t>고객 만족 달성</a:t>
            </a:r>
            <a:r>
              <a:rPr lang="en-US" altLang="ko-KR" sz="1452">
                <a:solidFill>
                  <a:srgbClr val="52363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452">
                <a:solidFill>
                  <a:srgbClr val="523636"/>
                </a:solidFill>
                <a:latin typeface="Arial"/>
                <a:ea typeface="Arial"/>
                <a:cs typeface="Arial"/>
                <a:sym typeface="Arial"/>
              </a:rPr>
              <a:t>품질 경쟁력 제고</a:t>
            </a:r>
            <a:endParaRPr sz="1633"/>
          </a:p>
        </p:txBody>
      </p:sp>
      <p:grpSp>
        <p:nvGrpSpPr>
          <p:cNvPr id="398" name="Google Shape;398;p5"/>
          <p:cNvGrpSpPr/>
          <p:nvPr/>
        </p:nvGrpSpPr>
        <p:grpSpPr>
          <a:xfrm>
            <a:off x="2413395" y="1895369"/>
            <a:ext cx="5079211" cy="350750"/>
            <a:chOff x="3399902" y="2089292"/>
            <a:chExt cx="5598889" cy="386637"/>
          </a:xfrm>
        </p:grpSpPr>
        <p:sp>
          <p:nvSpPr>
            <p:cNvPr id="399" name="Google Shape;399;p5"/>
            <p:cNvSpPr txBox="1"/>
            <p:nvPr/>
          </p:nvSpPr>
          <p:spPr>
            <a:xfrm>
              <a:off x="8551334" y="2089292"/>
              <a:ext cx="447457" cy="386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252" tIns="42615" rIns="85252" bIns="42615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ko-KR" altLang="en-US" sz="3266">
                  <a:solidFill>
                    <a:srgbClr val="523636"/>
                  </a:solidFill>
                  <a:latin typeface="Arial"/>
                  <a:ea typeface="Arial"/>
                  <a:cs typeface="Arial"/>
                  <a:sym typeface="Arial"/>
                </a:rPr>
                <a:t>”</a:t>
              </a:r>
              <a:endParaRPr sz="3266">
                <a:solidFill>
                  <a:srgbClr val="52363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"/>
            <p:cNvSpPr txBox="1"/>
            <p:nvPr/>
          </p:nvSpPr>
          <p:spPr>
            <a:xfrm>
              <a:off x="3399902" y="2089292"/>
              <a:ext cx="447457" cy="386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252" tIns="42615" rIns="85252" bIns="42615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ko-KR" altLang="en-US" sz="3266">
                  <a:solidFill>
                    <a:srgbClr val="523636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3266">
                <a:solidFill>
                  <a:srgbClr val="52363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1" name="Google Shape;401;p5"/>
          <p:cNvGrpSpPr/>
          <p:nvPr/>
        </p:nvGrpSpPr>
        <p:grpSpPr>
          <a:xfrm>
            <a:off x="987208" y="2527141"/>
            <a:ext cx="7931584" cy="952205"/>
            <a:chOff x="930981" y="2776179"/>
            <a:chExt cx="8743102" cy="1049630"/>
          </a:xfrm>
        </p:grpSpPr>
        <p:grpSp>
          <p:nvGrpSpPr>
            <p:cNvPr id="402" name="Google Shape;402;p5"/>
            <p:cNvGrpSpPr/>
            <p:nvPr/>
          </p:nvGrpSpPr>
          <p:grpSpPr>
            <a:xfrm>
              <a:off x="3934531" y="2776179"/>
              <a:ext cx="2736002" cy="1049630"/>
              <a:chOff x="4013906" y="2776179"/>
              <a:chExt cx="2736002" cy="1049630"/>
            </a:xfrm>
          </p:grpSpPr>
          <p:sp>
            <p:nvSpPr>
              <p:cNvPr id="403" name="Google Shape;403;p5"/>
              <p:cNvSpPr/>
              <p:nvPr/>
            </p:nvSpPr>
            <p:spPr>
              <a:xfrm flipH="1">
                <a:off x="4013908" y="2786189"/>
                <a:ext cx="2736000" cy="972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endParaRPr sz="907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5"/>
              <p:cNvSpPr/>
              <p:nvPr/>
            </p:nvSpPr>
            <p:spPr>
              <a:xfrm flipH="1">
                <a:off x="4013906" y="2786189"/>
                <a:ext cx="2736000" cy="252000"/>
              </a:xfrm>
              <a:prstGeom prst="rect">
                <a:avLst/>
              </a:prstGeom>
              <a:solidFill>
                <a:srgbClr val="867272"/>
              </a:solidFill>
              <a:ln>
                <a:noFill/>
              </a:ln>
            </p:spPr>
            <p:txBody>
              <a:bodyPr spcFirstLastPara="1" wrap="square" lIns="620512" tIns="0" rIns="0" bIns="0" anchor="ctr" anchorCtr="0">
                <a:noAutofit/>
              </a:bodyPr>
              <a:lstStyle/>
              <a:p>
                <a:pPr marL="0" lvl="1"/>
                <a:r>
                  <a:rPr lang="ko-KR" altLang="en-US" sz="998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품질보증 활동 강화</a:t>
                </a:r>
                <a:endParaRPr sz="1633"/>
              </a:p>
            </p:txBody>
          </p:sp>
          <p:sp>
            <p:nvSpPr>
              <p:cNvPr id="405" name="Google Shape;405;p5"/>
              <p:cNvSpPr/>
              <p:nvPr/>
            </p:nvSpPr>
            <p:spPr>
              <a:xfrm>
                <a:off x="4085908" y="3075622"/>
                <a:ext cx="2592000" cy="750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2939" tIns="41458" rIns="82939" bIns="41458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단계 말에 집중된 품질 검토 방식에서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선제적인 산출물 수시 검토 수행</a:t>
                </a:r>
                <a:endParaRPr sz="907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86719" indent="-86719">
                  <a:spcBef>
                    <a:spcPts val="272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요구사항 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Baseline 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설정과 지속적인 변경관리를 통한 기능 구현 정확성 구현</a:t>
                </a:r>
                <a:endParaRPr sz="1633"/>
              </a:p>
            </p:txBody>
          </p:sp>
          <p:grpSp>
            <p:nvGrpSpPr>
              <p:cNvPr id="406" name="Google Shape;406;p5"/>
              <p:cNvGrpSpPr/>
              <p:nvPr/>
            </p:nvGrpSpPr>
            <p:grpSpPr>
              <a:xfrm>
                <a:off x="4013907" y="2786189"/>
                <a:ext cx="648000" cy="252000"/>
                <a:chOff x="4013907" y="2786189"/>
                <a:chExt cx="613613" cy="252000"/>
              </a:xfrm>
            </p:grpSpPr>
            <p:sp>
              <p:nvSpPr>
                <p:cNvPr id="407" name="Google Shape;407;p5"/>
                <p:cNvSpPr/>
                <p:nvPr/>
              </p:nvSpPr>
              <p:spPr>
                <a:xfrm flipH="1">
                  <a:off x="4216938" y="2786189"/>
                  <a:ext cx="410582" cy="252000"/>
                </a:xfrm>
                <a:prstGeom prst="parallelogram">
                  <a:avLst>
                    <a:gd name="adj" fmla="val 48623"/>
                  </a:avLst>
                </a:prstGeom>
                <a:solidFill>
                  <a:srgbClr val="352323"/>
                </a:solidFill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noAutofit/>
                </a:bodyPr>
                <a:lstStyle/>
                <a:p>
                  <a:pPr marL="0" lvl="1" algn="ctr"/>
                  <a:endParaRPr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08" name="Google Shape;408;p5"/>
                <p:cNvGrpSpPr/>
                <p:nvPr/>
              </p:nvGrpSpPr>
              <p:grpSpPr>
                <a:xfrm>
                  <a:off x="4013907" y="2786189"/>
                  <a:ext cx="576000" cy="252000"/>
                  <a:chOff x="1089732" y="2786189"/>
                  <a:chExt cx="576000" cy="252000"/>
                </a:xfrm>
              </p:grpSpPr>
              <p:sp>
                <p:nvSpPr>
                  <p:cNvPr id="409" name="Google Shape;409;p5"/>
                  <p:cNvSpPr/>
                  <p:nvPr/>
                </p:nvSpPr>
                <p:spPr>
                  <a:xfrm flipH="1">
                    <a:off x="1089732" y="2786189"/>
                    <a:ext cx="447908" cy="252000"/>
                  </a:xfrm>
                  <a:prstGeom prst="rect">
                    <a:avLst/>
                  </a:prstGeom>
                  <a:solidFill>
                    <a:srgbClr val="523636"/>
                  </a:solidFill>
                  <a:ln>
                    <a:noFill/>
                  </a:ln>
                </p:spPr>
                <p:txBody>
                  <a:bodyPr spcFirstLastPara="1" wrap="square" lIns="82939" tIns="41458" rIns="82939" bIns="41458" anchor="ctr" anchorCtr="0">
                    <a:noAutofit/>
                  </a:bodyPr>
                  <a:lstStyle/>
                  <a:p>
                    <a:pPr marL="0" lvl="1" algn="ctr"/>
                    <a:endParaRPr sz="907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10" name="Google Shape;410;p5"/>
                  <p:cNvSpPr/>
                  <p:nvPr/>
                </p:nvSpPr>
                <p:spPr>
                  <a:xfrm flipH="1">
                    <a:off x="1255150" y="2786189"/>
                    <a:ext cx="410582" cy="252000"/>
                  </a:xfrm>
                  <a:prstGeom prst="parallelogram">
                    <a:avLst>
                      <a:gd name="adj" fmla="val 48623"/>
                    </a:avLst>
                  </a:prstGeom>
                  <a:solidFill>
                    <a:srgbClr val="523636"/>
                  </a:solidFill>
                  <a:ln>
                    <a:noFill/>
                  </a:ln>
                </p:spPr>
                <p:txBody>
                  <a:bodyPr spcFirstLastPara="1" wrap="square" lIns="82939" tIns="41458" rIns="82939" bIns="41458" anchor="ctr" anchorCtr="0">
                    <a:noAutofit/>
                  </a:bodyPr>
                  <a:lstStyle/>
                  <a:p>
                    <a:pPr marL="0" lvl="1" algn="ctr"/>
                    <a:endParaRPr sz="907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11" name="Google Shape;411;p5"/>
              <p:cNvGrpSpPr/>
              <p:nvPr/>
            </p:nvGrpSpPr>
            <p:grpSpPr>
              <a:xfrm>
                <a:off x="4076045" y="2776179"/>
                <a:ext cx="389958" cy="276785"/>
                <a:chOff x="1156632" y="2776179"/>
                <a:chExt cx="389958" cy="276785"/>
              </a:xfrm>
            </p:grpSpPr>
            <p:sp>
              <p:nvSpPr>
                <p:cNvPr id="412" name="Google Shape;412;p5"/>
                <p:cNvSpPr/>
                <p:nvPr/>
              </p:nvSpPr>
              <p:spPr>
                <a:xfrm>
                  <a:off x="1156632" y="2776179"/>
                  <a:ext cx="201978" cy="276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lvl="1" algn="ctr"/>
                  <a:r>
                    <a:rPr lang="ko-KR" altLang="en-US" sz="816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특징</a:t>
                  </a:r>
                  <a:endParaRPr sz="907" i="1">
                    <a:solidFill>
                      <a:srgbClr val="FFDB2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" name="Google Shape;413;p5"/>
                <p:cNvSpPr/>
                <p:nvPr/>
              </p:nvSpPr>
              <p:spPr>
                <a:xfrm>
                  <a:off x="1373466" y="2819810"/>
                  <a:ext cx="173124" cy="1847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lvl="1" algn="ctr"/>
                  <a:r>
                    <a:rPr lang="en-US" altLang="ko-KR" sz="1089" i="1">
                      <a:solidFill>
                        <a:srgbClr val="FFED9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r>
                    <a:rPr lang="en-US" altLang="ko-KR" sz="1089" i="1">
                      <a:solidFill>
                        <a:srgbClr val="FFDB2D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sz="1633"/>
                </a:p>
              </p:txBody>
            </p:sp>
          </p:grpSp>
        </p:grpSp>
        <p:grpSp>
          <p:nvGrpSpPr>
            <p:cNvPr id="414" name="Google Shape;414;p5"/>
            <p:cNvGrpSpPr/>
            <p:nvPr/>
          </p:nvGrpSpPr>
          <p:grpSpPr>
            <a:xfrm>
              <a:off x="6938081" y="2776179"/>
              <a:ext cx="2736002" cy="982010"/>
              <a:chOff x="6938081" y="2776179"/>
              <a:chExt cx="2736002" cy="982010"/>
            </a:xfrm>
          </p:grpSpPr>
          <p:sp>
            <p:nvSpPr>
              <p:cNvPr id="415" name="Google Shape;415;p5"/>
              <p:cNvSpPr/>
              <p:nvPr/>
            </p:nvSpPr>
            <p:spPr>
              <a:xfrm flipH="1">
                <a:off x="6938083" y="2786189"/>
                <a:ext cx="2736000" cy="972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endParaRPr sz="907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5"/>
              <p:cNvSpPr/>
              <p:nvPr/>
            </p:nvSpPr>
            <p:spPr>
              <a:xfrm flipH="1">
                <a:off x="6938081" y="2786189"/>
                <a:ext cx="2736000" cy="252000"/>
              </a:xfrm>
              <a:prstGeom prst="rect">
                <a:avLst/>
              </a:prstGeom>
              <a:solidFill>
                <a:srgbClr val="867272"/>
              </a:solidFill>
              <a:ln>
                <a:noFill/>
              </a:ln>
            </p:spPr>
            <p:txBody>
              <a:bodyPr spcFirstLastPara="1" wrap="square" lIns="620512" tIns="0" rIns="0" bIns="0" anchor="ctr" anchorCtr="0">
                <a:noAutofit/>
              </a:bodyPr>
              <a:lstStyle/>
              <a:p>
                <a:pPr marL="0" lvl="1"/>
                <a:r>
                  <a:rPr lang="ko-KR" altLang="en-US" sz="998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전사 품질지원 체계 활용</a:t>
                </a:r>
                <a:endParaRPr sz="1633"/>
              </a:p>
            </p:txBody>
          </p:sp>
          <p:sp>
            <p:nvSpPr>
              <p:cNvPr id="417" name="Google Shape;417;p5"/>
              <p:cNvSpPr/>
              <p:nvPr/>
            </p:nvSpPr>
            <p:spPr>
              <a:xfrm>
                <a:off x="7010083" y="3075622"/>
                <a:ext cx="2592000" cy="442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2939" tIns="41458" rIns="82939" bIns="41458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전사 품질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/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방법론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/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테스트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/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튜닝 지원 </a:t>
                </a:r>
                <a:endParaRPr sz="1633"/>
              </a:p>
              <a:p>
                <a:pPr marL="86719" indent="-86719">
                  <a:spcBef>
                    <a:spcPts val="272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Risk 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진단 및 프로세스 이행 점검 </a:t>
                </a:r>
                <a:endParaRPr sz="1633"/>
              </a:p>
            </p:txBody>
          </p:sp>
          <p:grpSp>
            <p:nvGrpSpPr>
              <p:cNvPr id="418" name="Google Shape;418;p5"/>
              <p:cNvGrpSpPr/>
              <p:nvPr/>
            </p:nvGrpSpPr>
            <p:grpSpPr>
              <a:xfrm>
                <a:off x="6938082" y="2786189"/>
                <a:ext cx="648000" cy="252000"/>
                <a:chOff x="6938082" y="2786189"/>
                <a:chExt cx="613613" cy="252000"/>
              </a:xfrm>
            </p:grpSpPr>
            <p:sp>
              <p:nvSpPr>
                <p:cNvPr id="419" name="Google Shape;419;p5"/>
                <p:cNvSpPr/>
                <p:nvPr/>
              </p:nvSpPr>
              <p:spPr>
                <a:xfrm flipH="1">
                  <a:off x="7141113" y="2786189"/>
                  <a:ext cx="410582" cy="252000"/>
                </a:xfrm>
                <a:prstGeom prst="parallelogram">
                  <a:avLst>
                    <a:gd name="adj" fmla="val 48623"/>
                  </a:avLst>
                </a:prstGeom>
                <a:solidFill>
                  <a:srgbClr val="352323"/>
                </a:solidFill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noAutofit/>
                </a:bodyPr>
                <a:lstStyle/>
                <a:p>
                  <a:pPr marL="0" lvl="1" algn="ctr"/>
                  <a:endParaRPr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0" name="Google Shape;420;p5"/>
                <p:cNvGrpSpPr/>
                <p:nvPr/>
              </p:nvGrpSpPr>
              <p:grpSpPr>
                <a:xfrm>
                  <a:off x="6938082" y="2786189"/>
                  <a:ext cx="576000" cy="252000"/>
                  <a:chOff x="1089732" y="2786189"/>
                  <a:chExt cx="576000" cy="252000"/>
                </a:xfrm>
              </p:grpSpPr>
              <p:sp>
                <p:nvSpPr>
                  <p:cNvPr id="421" name="Google Shape;421;p5"/>
                  <p:cNvSpPr/>
                  <p:nvPr/>
                </p:nvSpPr>
                <p:spPr>
                  <a:xfrm flipH="1">
                    <a:off x="1089732" y="2786189"/>
                    <a:ext cx="447908" cy="252000"/>
                  </a:xfrm>
                  <a:prstGeom prst="rect">
                    <a:avLst/>
                  </a:prstGeom>
                  <a:solidFill>
                    <a:srgbClr val="523636"/>
                  </a:solidFill>
                  <a:ln>
                    <a:noFill/>
                  </a:ln>
                </p:spPr>
                <p:txBody>
                  <a:bodyPr spcFirstLastPara="1" wrap="square" lIns="82939" tIns="41458" rIns="82939" bIns="41458" anchor="ctr" anchorCtr="0">
                    <a:noAutofit/>
                  </a:bodyPr>
                  <a:lstStyle/>
                  <a:p>
                    <a:pPr marL="0" lvl="1" algn="ctr"/>
                    <a:endParaRPr sz="907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2" name="Google Shape;422;p5"/>
                  <p:cNvSpPr/>
                  <p:nvPr/>
                </p:nvSpPr>
                <p:spPr>
                  <a:xfrm flipH="1">
                    <a:off x="1255150" y="2786189"/>
                    <a:ext cx="410582" cy="252000"/>
                  </a:xfrm>
                  <a:prstGeom prst="parallelogram">
                    <a:avLst>
                      <a:gd name="adj" fmla="val 48623"/>
                    </a:avLst>
                  </a:prstGeom>
                  <a:solidFill>
                    <a:srgbClr val="523636"/>
                  </a:solidFill>
                  <a:ln>
                    <a:noFill/>
                  </a:ln>
                </p:spPr>
                <p:txBody>
                  <a:bodyPr spcFirstLastPara="1" wrap="square" lIns="82939" tIns="41458" rIns="82939" bIns="41458" anchor="ctr" anchorCtr="0">
                    <a:noAutofit/>
                  </a:bodyPr>
                  <a:lstStyle/>
                  <a:p>
                    <a:pPr marL="0" lvl="1" algn="ctr"/>
                    <a:endParaRPr sz="907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23" name="Google Shape;423;p5"/>
              <p:cNvGrpSpPr/>
              <p:nvPr/>
            </p:nvGrpSpPr>
            <p:grpSpPr>
              <a:xfrm>
                <a:off x="7000220" y="2776179"/>
                <a:ext cx="389958" cy="276785"/>
                <a:chOff x="1156632" y="2776179"/>
                <a:chExt cx="389958" cy="276785"/>
              </a:xfrm>
            </p:grpSpPr>
            <p:sp>
              <p:nvSpPr>
                <p:cNvPr id="424" name="Google Shape;424;p5"/>
                <p:cNvSpPr/>
                <p:nvPr/>
              </p:nvSpPr>
              <p:spPr>
                <a:xfrm>
                  <a:off x="1156632" y="2776179"/>
                  <a:ext cx="201978" cy="276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lvl="1" algn="ctr"/>
                  <a:r>
                    <a:rPr lang="ko-KR" altLang="en-US" sz="816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특징</a:t>
                  </a:r>
                  <a:endParaRPr sz="907" i="1">
                    <a:solidFill>
                      <a:srgbClr val="FFDB2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5"/>
                <p:cNvSpPr/>
                <p:nvPr/>
              </p:nvSpPr>
              <p:spPr>
                <a:xfrm>
                  <a:off x="1373466" y="2819810"/>
                  <a:ext cx="173124" cy="1847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lvl="1" algn="ctr"/>
                  <a:r>
                    <a:rPr lang="en-US" altLang="ko-KR" sz="1089" i="1">
                      <a:solidFill>
                        <a:srgbClr val="FFED9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r>
                    <a:rPr lang="en-US" altLang="ko-KR" sz="1089" i="1">
                      <a:solidFill>
                        <a:srgbClr val="FFDB2D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sz="1633"/>
                </a:p>
              </p:txBody>
            </p:sp>
          </p:grpSp>
        </p:grpSp>
        <p:grpSp>
          <p:nvGrpSpPr>
            <p:cNvPr id="426" name="Google Shape;426;p5"/>
            <p:cNvGrpSpPr/>
            <p:nvPr/>
          </p:nvGrpSpPr>
          <p:grpSpPr>
            <a:xfrm>
              <a:off x="930981" y="2776179"/>
              <a:ext cx="2736002" cy="982010"/>
              <a:chOff x="1089731" y="2776179"/>
              <a:chExt cx="2736002" cy="982010"/>
            </a:xfrm>
          </p:grpSpPr>
          <p:sp>
            <p:nvSpPr>
              <p:cNvPr id="427" name="Google Shape;427;p5"/>
              <p:cNvSpPr/>
              <p:nvPr/>
            </p:nvSpPr>
            <p:spPr>
              <a:xfrm flipH="1">
                <a:off x="1089733" y="2786189"/>
                <a:ext cx="2736000" cy="972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marL="0" lvl="1" algn="ctr"/>
                <a:endParaRPr sz="907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5"/>
              <p:cNvSpPr/>
              <p:nvPr/>
            </p:nvSpPr>
            <p:spPr>
              <a:xfrm flipH="1">
                <a:off x="1089731" y="2786189"/>
                <a:ext cx="2736000" cy="252000"/>
              </a:xfrm>
              <a:prstGeom prst="rect">
                <a:avLst/>
              </a:prstGeom>
              <a:solidFill>
                <a:srgbClr val="867272"/>
              </a:solidFill>
              <a:ln>
                <a:noFill/>
              </a:ln>
            </p:spPr>
            <p:txBody>
              <a:bodyPr spcFirstLastPara="1" wrap="square" lIns="620512" tIns="0" rIns="0" bIns="0" anchor="ctr" anchorCtr="0">
                <a:noAutofit/>
              </a:bodyPr>
              <a:lstStyle/>
              <a:p>
                <a:pPr marL="0" lvl="1"/>
                <a:r>
                  <a:rPr lang="ko-KR" altLang="en-US" sz="998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최적화된 개발방법론 적용</a:t>
                </a:r>
                <a:endParaRPr sz="1633"/>
              </a:p>
            </p:txBody>
          </p:sp>
          <p:sp>
            <p:nvSpPr>
              <p:cNvPr id="429" name="Google Shape;429;p5"/>
              <p:cNvSpPr/>
              <p:nvPr/>
            </p:nvSpPr>
            <p:spPr>
              <a:xfrm>
                <a:off x="1161733" y="3075622"/>
                <a:ext cx="2592000" cy="5963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2939" tIns="41458" rIns="82939" bIns="41458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다양한 프로젝트에서 검증된 현장 중심의 실용적 개발 방법론 적용</a:t>
                </a:r>
                <a:endParaRPr sz="1633"/>
              </a:p>
              <a:p>
                <a:pPr marL="86719" indent="-86719">
                  <a:spcBef>
                    <a:spcPts val="272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핵심 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Task 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중심의 절차 적용 </a:t>
                </a:r>
                <a:endParaRPr sz="1633"/>
              </a:p>
            </p:txBody>
          </p:sp>
          <p:grpSp>
            <p:nvGrpSpPr>
              <p:cNvPr id="430" name="Google Shape;430;p5"/>
              <p:cNvGrpSpPr/>
              <p:nvPr/>
            </p:nvGrpSpPr>
            <p:grpSpPr>
              <a:xfrm>
                <a:off x="1089732" y="2786189"/>
                <a:ext cx="648000" cy="252000"/>
                <a:chOff x="1089732" y="2786189"/>
                <a:chExt cx="613613" cy="252000"/>
              </a:xfrm>
            </p:grpSpPr>
            <p:sp>
              <p:nvSpPr>
                <p:cNvPr id="431" name="Google Shape;431;p5"/>
                <p:cNvSpPr/>
                <p:nvPr/>
              </p:nvSpPr>
              <p:spPr>
                <a:xfrm flipH="1">
                  <a:off x="1292763" y="2786189"/>
                  <a:ext cx="410582" cy="252000"/>
                </a:xfrm>
                <a:prstGeom prst="parallelogram">
                  <a:avLst>
                    <a:gd name="adj" fmla="val 48623"/>
                  </a:avLst>
                </a:prstGeom>
                <a:solidFill>
                  <a:srgbClr val="352323"/>
                </a:solidFill>
                <a:ln>
                  <a:noFill/>
                </a:ln>
              </p:spPr>
              <p:txBody>
                <a:bodyPr spcFirstLastPara="1" wrap="square" lIns="82939" tIns="41458" rIns="82939" bIns="41458" anchor="ctr" anchorCtr="0">
                  <a:noAutofit/>
                </a:bodyPr>
                <a:lstStyle/>
                <a:p>
                  <a:pPr marL="0" lvl="1" algn="ctr"/>
                  <a:endParaRPr sz="907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32" name="Google Shape;432;p5"/>
                <p:cNvGrpSpPr/>
                <p:nvPr/>
              </p:nvGrpSpPr>
              <p:grpSpPr>
                <a:xfrm>
                  <a:off x="1089732" y="2786189"/>
                  <a:ext cx="576000" cy="252000"/>
                  <a:chOff x="1089732" y="2786189"/>
                  <a:chExt cx="576000" cy="252000"/>
                </a:xfrm>
              </p:grpSpPr>
              <p:sp>
                <p:nvSpPr>
                  <p:cNvPr id="433" name="Google Shape;433;p5"/>
                  <p:cNvSpPr/>
                  <p:nvPr/>
                </p:nvSpPr>
                <p:spPr>
                  <a:xfrm flipH="1">
                    <a:off x="1089732" y="2786189"/>
                    <a:ext cx="447908" cy="252000"/>
                  </a:xfrm>
                  <a:prstGeom prst="rect">
                    <a:avLst/>
                  </a:prstGeom>
                  <a:solidFill>
                    <a:srgbClr val="523636"/>
                  </a:solidFill>
                  <a:ln>
                    <a:noFill/>
                  </a:ln>
                </p:spPr>
                <p:txBody>
                  <a:bodyPr spcFirstLastPara="1" wrap="square" lIns="82939" tIns="41458" rIns="82939" bIns="41458" anchor="ctr" anchorCtr="0">
                    <a:noAutofit/>
                  </a:bodyPr>
                  <a:lstStyle/>
                  <a:p>
                    <a:pPr marL="0" lvl="1" algn="ctr"/>
                    <a:endParaRPr sz="907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4" name="Google Shape;434;p5"/>
                  <p:cNvSpPr/>
                  <p:nvPr/>
                </p:nvSpPr>
                <p:spPr>
                  <a:xfrm flipH="1">
                    <a:off x="1255150" y="2786189"/>
                    <a:ext cx="410582" cy="252000"/>
                  </a:xfrm>
                  <a:prstGeom prst="parallelogram">
                    <a:avLst>
                      <a:gd name="adj" fmla="val 48623"/>
                    </a:avLst>
                  </a:prstGeom>
                  <a:solidFill>
                    <a:srgbClr val="523636"/>
                  </a:solidFill>
                  <a:ln>
                    <a:noFill/>
                  </a:ln>
                </p:spPr>
                <p:txBody>
                  <a:bodyPr spcFirstLastPara="1" wrap="square" lIns="82939" tIns="41458" rIns="82939" bIns="41458" anchor="ctr" anchorCtr="0">
                    <a:noAutofit/>
                  </a:bodyPr>
                  <a:lstStyle/>
                  <a:p>
                    <a:pPr marL="0" lvl="1" algn="ctr"/>
                    <a:endParaRPr sz="907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5" name="Google Shape;435;p5"/>
              <p:cNvGrpSpPr/>
              <p:nvPr/>
            </p:nvGrpSpPr>
            <p:grpSpPr>
              <a:xfrm>
                <a:off x="1151870" y="2776179"/>
                <a:ext cx="389958" cy="276785"/>
                <a:chOff x="1156632" y="2776179"/>
                <a:chExt cx="389958" cy="276785"/>
              </a:xfrm>
            </p:grpSpPr>
            <p:sp>
              <p:nvSpPr>
                <p:cNvPr id="436" name="Google Shape;436;p5"/>
                <p:cNvSpPr/>
                <p:nvPr/>
              </p:nvSpPr>
              <p:spPr>
                <a:xfrm>
                  <a:off x="1156632" y="2776179"/>
                  <a:ext cx="201978" cy="276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lvl="1" algn="ctr"/>
                  <a:r>
                    <a:rPr lang="ko-KR" altLang="en-US" sz="816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특징</a:t>
                  </a:r>
                  <a:endParaRPr sz="907" i="1">
                    <a:solidFill>
                      <a:srgbClr val="FFDB2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5"/>
                <p:cNvSpPr/>
                <p:nvPr/>
              </p:nvSpPr>
              <p:spPr>
                <a:xfrm>
                  <a:off x="1373466" y="2819810"/>
                  <a:ext cx="173124" cy="1847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lvl="1" algn="ctr"/>
                  <a:r>
                    <a:rPr lang="en-US" altLang="ko-KR" sz="1089" i="1">
                      <a:solidFill>
                        <a:srgbClr val="FFED9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r>
                    <a:rPr lang="en-US" altLang="ko-KR" sz="1089" i="1">
                      <a:solidFill>
                        <a:srgbClr val="FFDB2D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sz="1633"/>
                </a:p>
              </p:txBody>
            </p:sp>
          </p:grpSp>
        </p:grpSp>
      </p:grpSp>
      <p:grpSp>
        <p:nvGrpSpPr>
          <p:cNvPr id="438" name="Google Shape;438;p5"/>
          <p:cNvGrpSpPr/>
          <p:nvPr/>
        </p:nvGrpSpPr>
        <p:grpSpPr>
          <a:xfrm>
            <a:off x="608749" y="3573079"/>
            <a:ext cx="8688502" cy="1208366"/>
            <a:chOff x="557174" y="3996009"/>
            <a:chExt cx="9577464" cy="1332000"/>
          </a:xfrm>
        </p:grpSpPr>
        <p:sp>
          <p:nvSpPr>
            <p:cNvPr id="439" name="Google Shape;439;p5"/>
            <p:cNvSpPr/>
            <p:nvPr/>
          </p:nvSpPr>
          <p:spPr>
            <a:xfrm>
              <a:off x="557174" y="3996009"/>
              <a:ext cx="9577464" cy="1332000"/>
            </a:xfrm>
            <a:prstGeom prst="rect">
              <a:avLst/>
            </a:prstGeom>
            <a:solidFill>
              <a:srgbClr val="DCD7D7"/>
            </a:solidFill>
            <a:ln w="9525" cap="flat" cmpd="sng">
              <a:solidFill>
                <a:srgbClr val="A89A9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65317" rIns="0" bIns="0" anchor="t" anchorCtr="0">
              <a:noAutofit/>
            </a:bodyPr>
            <a:lstStyle/>
            <a:p>
              <a:pPr marL="0" lvl="1" algn="ctr"/>
              <a:r>
                <a:rPr lang="ko-KR" altLang="en-US" sz="108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품질 관리 활동</a:t>
              </a:r>
              <a:endParaRPr sz="1633"/>
            </a:p>
          </p:txBody>
        </p:sp>
        <p:sp>
          <p:nvSpPr>
            <p:cNvPr id="440" name="Google Shape;440;p5"/>
            <p:cNvSpPr/>
            <p:nvPr/>
          </p:nvSpPr>
          <p:spPr>
            <a:xfrm flipH="1">
              <a:off x="629381" y="4316095"/>
              <a:ext cx="3024000" cy="234000"/>
            </a:xfrm>
            <a:prstGeom prst="rect">
              <a:avLst/>
            </a:prstGeom>
            <a:solidFill>
              <a:srgbClr val="A89A9A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99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품질 계획 수립</a:t>
              </a:r>
              <a:endParaRPr sz="1633"/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629381" y="4613512"/>
              <a:ext cx="3024000" cy="305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659" tIns="0" rIns="32659" bIns="0" anchor="t" anchorCtr="0">
              <a:spAutoFit/>
            </a:bodyPr>
            <a:lstStyle/>
            <a:p>
              <a:pPr marL="86719" indent="-86719">
                <a:buClr>
                  <a:srgbClr val="262626"/>
                </a:buClr>
                <a:buSzPts val="720"/>
                <a:buFont typeface="Arial"/>
                <a:buChar char="•"/>
              </a:pP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객관적</a:t>
              </a: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정량적 품질 목표 수립</a:t>
              </a:r>
              <a:endParaRPr sz="1633"/>
            </a:p>
            <a:p>
              <a:pPr marL="86719" indent="-86719">
                <a:spcBef>
                  <a:spcPts val="181"/>
                </a:spcBef>
                <a:buClr>
                  <a:srgbClr val="262626"/>
                </a:buClr>
                <a:buSzPts val="720"/>
                <a:buFont typeface="Arial"/>
                <a:buChar char="•"/>
              </a:pP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품질 목표와 </a:t>
              </a: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Align</a:t>
              </a: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된 품질 활동 계획 수립</a:t>
              </a:r>
              <a:endParaRPr sz="1633"/>
            </a:p>
          </p:txBody>
        </p:sp>
        <p:sp>
          <p:nvSpPr>
            <p:cNvPr id="442" name="Google Shape;442;p5"/>
            <p:cNvSpPr/>
            <p:nvPr/>
          </p:nvSpPr>
          <p:spPr>
            <a:xfrm flipH="1">
              <a:off x="3833905" y="4316095"/>
              <a:ext cx="3024000" cy="234000"/>
            </a:xfrm>
            <a:prstGeom prst="rect">
              <a:avLst/>
            </a:prstGeom>
            <a:solidFill>
              <a:srgbClr val="A89A9A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99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품질 보증 및 통제 활동</a:t>
              </a:r>
              <a:endParaRPr sz="1633"/>
            </a:p>
          </p:txBody>
        </p:sp>
        <p:sp>
          <p:nvSpPr>
            <p:cNvPr id="443" name="Google Shape;443;p5"/>
            <p:cNvSpPr/>
            <p:nvPr/>
          </p:nvSpPr>
          <p:spPr>
            <a:xfrm flipH="1">
              <a:off x="7038430" y="4316095"/>
              <a:ext cx="3024000" cy="234000"/>
            </a:xfrm>
            <a:prstGeom prst="rect">
              <a:avLst/>
            </a:prstGeom>
            <a:solidFill>
              <a:srgbClr val="A89A9A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99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품질 조직 구성</a:t>
              </a:r>
              <a:endParaRPr sz="1633"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3833905" y="4613512"/>
              <a:ext cx="3024000" cy="6101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659" tIns="0" rIns="32659" bIns="0" anchor="t" anchorCtr="0">
              <a:spAutoFit/>
            </a:bodyPr>
            <a:lstStyle/>
            <a:p>
              <a:pPr marL="86719" indent="-86719">
                <a:buClr>
                  <a:srgbClr val="262626"/>
                </a:buClr>
                <a:buSzPts val="720"/>
                <a:buFont typeface="Arial"/>
                <a:buChar char="•"/>
              </a:pP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예방 차원의 품질 활동 강화</a:t>
              </a: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교육 강화</a:t>
              </a: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633"/>
            </a:p>
            <a:p>
              <a:pPr marL="86719" indent="-86719">
                <a:spcBef>
                  <a:spcPts val="181"/>
                </a:spcBef>
                <a:buClr>
                  <a:srgbClr val="262626"/>
                </a:buClr>
                <a:buSzPts val="720"/>
                <a:buFont typeface="Arial"/>
                <a:buChar char="•"/>
              </a:pP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실질적 품질 확보에 집중</a:t>
              </a:r>
              <a:b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(PL </a:t>
              </a: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및 발주사</a:t>
              </a: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고객 현업</a:t>
              </a: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에 의한 컨텐츠 품질 검토</a:t>
              </a: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633"/>
            </a:p>
            <a:p>
              <a:pPr marL="86719" indent="-86719">
                <a:spcBef>
                  <a:spcPts val="181"/>
                </a:spcBef>
                <a:buClr>
                  <a:srgbClr val="262626"/>
                </a:buClr>
                <a:buSzPts val="720"/>
                <a:buFont typeface="Arial"/>
                <a:buChar char="•"/>
              </a:pP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정량적 분석 및 개선 활동</a:t>
              </a:r>
              <a:endParaRPr sz="1633"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7038430" y="4613512"/>
              <a:ext cx="3024000" cy="305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659" tIns="0" rIns="32659" bIns="0" anchor="t" anchorCtr="0">
              <a:spAutoFit/>
            </a:bodyPr>
            <a:lstStyle/>
            <a:p>
              <a:pPr marL="86719" indent="-86719">
                <a:buClr>
                  <a:srgbClr val="262626"/>
                </a:buClr>
                <a:buSzPts val="720"/>
                <a:buFont typeface="Arial"/>
                <a:buChar char="•"/>
              </a:pP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아키텍처</a:t>
              </a:r>
              <a:r>
                <a:rPr lang="en-US" altLang="ko-KR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테스트 지원 조직 협력</a:t>
              </a:r>
              <a:endParaRPr sz="1633"/>
            </a:p>
            <a:p>
              <a:pPr marL="86719" indent="-86719">
                <a:spcBef>
                  <a:spcPts val="181"/>
                </a:spcBef>
                <a:buClr>
                  <a:srgbClr val="262626"/>
                </a:buClr>
                <a:buSzPts val="720"/>
                <a:buFont typeface="Arial"/>
                <a:buChar char="•"/>
              </a:pPr>
              <a:r>
                <a:rPr lang="ko-KR" altLang="en-US" sz="816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전사 품질 역량 활용</a:t>
              </a:r>
              <a:endParaRPr sz="1633"/>
            </a:p>
          </p:txBody>
        </p:sp>
        <p:cxnSp>
          <p:nvCxnSpPr>
            <p:cNvPr id="446" name="Google Shape;446;p5"/>
            <p:cNvCxnSpPr/>
            <p:nvPr/>
          </p:nvCxnSpPr>
          <p:spPr>
            <a:xfrm>
              <a:off x="3743643" y="4550862"/>
              <a:ext cx="0" cy="684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7" name="Google Shape;447;p5"/>
            <p:cNvCxnSpPr/>
            <p:nvPr/>
          </p:nvCxnSpPr>
          <p:spPr>
            <a:xfrm>
              <a:off x="6948167" y="4550862"/>
              <a:ext cx="0" cy="684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48" name="Google Shape;448;p5"/>
          <p:cNvGrpSpPr/>
          <p:nvPr/>
        </p:nvGrpSpPr>
        <p:grpSpPr>
          <a:xfrm>
            <a:off x="609413" y="4936522"/>
            <a:ext cx="8687656" cy="1464737"/>
            <a:chOff x="557906" y="5441600"/>
            <a:chExt cx="9576532" cy="1614601"/>
          </a:xfrm>
        </p:grpSpPr>
        <p:sp>
          <p:nvSpPr>
            <p:cNvPr id="449" name="Google Shape;449;p5"/>
            <p:cNvSpPr/>
            <p:nvPr/>
          </p:nvSpPr>
          <p:spPr>
            <a:xfrm>
              <a:off x="557906" y="5441600"/>
              <a:ext cx="9478089" cy="375592"/>
            </a:xfrm>
            <a:custGeom>
              <a:avLst/>
              <a:gdLst/>
              <a:ahLst/>
              <a:cxnLst/>
              <a:rect l="l" t="t" r="r" b="b"/>
              <a:pathLst>
                <a:path w="9478089" h="375592" extrusionOk="0">
                  <a:moveTo>
                    <a:pt x="8954837" y="0"/>
                  </a:moveTo>
                  <a:lnTo>
                    <a:pt x="9478089" y="375592"/>
                  </a:lnTo>
                  <a:lnTo>
                    <a:pt x="0" y="375592"/>
                  </a:lnTo>
                  <a:lnTo>
                    <a:pt x="0" y="158692"/>
                  </a:lnTo>
                  <a:lnTo>
                    <a:pt x="8954837" y="158692"/>
                  </a:lnTo>
                  <a:close/>
                </a:path>
              </a:pathLst>
            </a:custGeom>
            <a:gradFill>
              <a:gsLst>
                <a:gs pos="0">
                  <a:srgbClr val="FFDB2D"/>
                </a:gs>
                <a:gs pos="30000">
                  <a:srgbClr val="FFDB2D"/>
                </a:gs>
                <a:gs pos="81000">
                  <a:srgbClr val="FFE97F">
                    <a:alpha val="80784"/>
                  </a:srgbClr>
                </a:gs>
                <a:gs pos="100000">
                  <a:srgbClr val="FFF4B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algn="ctr"/>
              <a:endParaRPr sz="163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" name="Google Shape;450;p5"/>
            <p:cNvGrpSpPr/>
            <p:nvPr/>
          </p:nvGrpSpPr>
          <p:grpSpPr>
            <a:xfrm>
              <a:off x="558700" y="5817192"/>
              <a:ext cx="9575738" cy="1239009"/>
              <a:chOff x="558700" y="5817192"/>
              <a:chExt cx="9575738" cy="1239009"/>
            </a:xfrm>
          </p:grpSpPr>
          <p:sp>
            <p:nvSpPr>
              <p:cNvPr id="451" name="Google Shape;451;p5"/>
              <p:cNvSpPr/>
              <p:nvPr/>
            </p:nvSpPr>
            <p:spPr>
              <a:xfrm>
                <a:off x="558700" y="5817192"/>
                <a:ext cx="2376000" cy="288000"/>
              </a:xfrm>
              <a:prstGeom prst="chevron">
                <a:avLst>
                  <a:gd name="adj" fmla="val 32222"/>
                </a:avLst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algn="ctr"/>
                <a:r>
                  <a:rPr lang="ko-KR" altLang="en-US" sz="998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공통</a:t>
                </a:r>
                <a:endParaRPr sz="1633"/>
              </a:p>
            </p:txBody>
          </p:sp>
          <p:sp>
            <p:nvSpPr>
              <p:cNvPr id="452" name="Google Shape;452;p5"/>
              <p:cNvSpPr/>
              <p:nvPr/>
            </p:nvSpPr>
            <p:spPr>
              <a:xfrm>
                <a:off x="2958613" y="5817192"/>
                <a:ext cx="2376000" cy="288000"/>
              </a:xfrm>
              <a:prstGeom prst="chevron">
                <a:avLst>
                  <a:gd name="adj" fmla="val 32222"/>
                </a:avLst>
              </a:prstGeom>
              <a:solidFill>
                <a:srgbClr val="DCD7D7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algn="ctr"/>
                <a:r>
                  <a:rPr lang="ko-KR" altLang="en-US" sz="998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분석</a:t>
                </a:r>
                <a:endParaRPr sz="1633"/>
              </a:p>
            </p:txBody>
          </p:sp>
          <p:sp>
            <p:nvSpPr>
              <p:cNvPr id="453" name="Google Shape;453;p5"/>
              <p:cNvSpPr/>
              <p:nvPr/>
            </p:nvSpPr>
            <p:spPr>
              <a:xfrm>
                <a:off x="5358526" y="5817192"/>
                <a:ext cx="2376000" cy="288000"/>
              </a:xfrm>
              <a:prstGeom prst="chevron">
                <a:avLst>
                  <a:gd name="adj" fmla="val 32222"/>
                </a:avLst>
              </a:prstGeom>
              <a:solidFill>
                <a:srgbClr val="A89A9A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algn="ctr"/>
                <a:r>
                  <a:rPr lang="ko-KR" altLang="en-US" sz="998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설계</a:t>
                </a:r>
                <a:endParaRPr sz="1633"/>
              </a:p>
            </p:txBody>
          </p:sp>
          <p:sp>
            <p:nvSpPr>
              <p:cNvPr id="454" name="Google Shape;454;p5"/>
              <p:cNvSpPr/>
              <p:nvPr/>
            </p:nvSpPr>
            <p:spPr>
              <a:xfrm>
                <a:off x="7758438" y="5817192"/>
                <a:ext cx="2376000" cy="288000"/>
              </a:xfrm>
              <a:prstGeom prst="chevron">
                <a:avLst>
                  <a:gd name="adj" fmla="val 32222"/>
                </a:avLst>
              </a:prstGeom>
              <a:solidFill>
                <a:srgbClr val="867272"/>
              </a:solidFill>
              <a:ln>
                <a:noFill/>
              </a:ln>
            </p:spPr>
            <p:txBody>
              <a:bodyPr spcFirstLastPara="1" wrap="square" lIns="82939" tIns="41458" rIns="82939" bIns="41458" anchor="ctr" anchorCtr="0">
                <a:noAutofit/>
              </a:bodyPr>
              <a:lstStyle/>
              <a:p>
                <a:pPr algn="ctr"/>
                <a:r>
                  <a:rPr lang="ko-KR" altLang="en-US" sz="998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개발 및 테스트</a:t>
                </a:r>
                <a:endParaRPr sz="1633"/>
              </a:p>
            </p:txBody>
          </p:sp>
          <p:sp>
            <p:nvSpPr>
              <p:cNvPr id="455" name="Google Shape;455;p5"/>
              <p:cNvSpPr/>
              <p:nvPr/>
            </p:nvSpPr>
            <p:spPr>
              <a:xfrm>
                <a:off x="558700" y="6184438"/>
                <a:ext cx="2268001" cy="854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2659" tIns="0" rIns="32659" bIns="0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표준 및 가이드 불명확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표준 절차의 복잡성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과다한 산출물 작성</a:t>
                </a:r>
                <a:b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비공식 산출물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, Working 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문서 등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산출물에 대한 고객 검토 미흡</a:t>
                </a:r>
                <a:endParaRPr sz="1633"/>
              </a:p>
            </p:txBody>
          </p:sp>
          <p:sp>
            <p:nvSpPr>
              <p:cNvPr id="456" name="Google Shape;456;p5"/>
              <p:cNvSpPr/>
              <p:nvPr/>
            </p:nvSpPr>
            <p:spPr>
              <a:xfrm>
                <a:off x="2958613" y="6184438"/>
                <a:ext cx="2268001" cy="518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2659" tIns="0" rIns="32659" bIns="0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현행 시스템 분석 자료 미흡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요구사항의 미 도출 및 불명확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업무 범위 및 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R&amp;R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에 대한 이견 발생</a:t>
                </a:r>
                <a:endParaRPr sz="1633"/>
              </a:p>
            </p:txBody>
          </p:sp>
          <p:sp>
            <p:nvSpPr>
              <p:cNvPr id="457" name="Google Shape;457;p5"/>
              <p:cNvSpPr/>
              <p:nvPr/>
            </p:nvSpPr>
            <p:spPr>
              <a:xfrm>
                <a:off x="5358526" y="6184438"/>
                <a:ext cx="2268001" cy="672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2659" tIns="0" rIns="32659" bIns="0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지속적인 요구사항 변경 및 추가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의사결정 지연으로 인한 설계 미흡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설계 산출물에 대한 실질적인 품질 검토 부족</a:t>
                </a:r>
                <a:endParaRPr sz="1633"/>
              </a:p>
            </p:txBody>
          </p:sp>
          <p:sp>
            <p:nvSpPr>
              <p:cNvPr id="458" name="Google Shape;458;p5"/>
              <p:cNvSpPr/>
              <p:nvPr/>
            </p:nvSpPr>
            <p:spPr>
              <a:xfrm>
                <a:off x="7758438" y="6184438"/>
                <a:ext cx="2268001" cy="700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2659" tIns="0" rIns="32659" bIns="0" anchor="t" anchorCtr="0">
                <a:spAutoFit/>
              </a:bodyPr>
              <a:lstStyle/>
              <a:p>
                <a:pPr marL="86719" indent="-86719"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설계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/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개발 산출물 간 불일치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테스트 시나리오</a:t>
                </a:r>
                <a:r>
                  <a:rPr lang="en-US" altLang="ko-KR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/</a:t>
                </a: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케이스 미흡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테스트 데이터 불충분</a:t>
                </a:r>
                <a:endParaRPr sz="1633"/>
              </a:p>
              <a:p>
                <a:pPr marL="86719" indent="-86719">
                  <a:spcBef>
                    <a:spcPts val="181"/>
                  </a:spcBef>
                  <a:buClr>
                    <a:srgbClr val="262626"/>
                  </a:buClr>
                  <a:buSzPts val="800"/>
                  <a:buFont typeface="Arial"/>
                  <a:buChar char="•"/>
                </a:pPr>
                <a:r>
                  <a:rPr lang="ko-KR" altLang="en-US" sz="907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결함에 대한 조치 여부 불명확</a:t>
                </a:r>
                <a:endParaRPr sz="1633"/>
              </a:p>
            </p:txBody>
          </p:sp>
          <p:grpSp>
            <p:nvGrpSpPr>
              <p:cNvPr id="459" name="Google Shape;459;p5"/>
              <p:cNvGrpSpPr/>
              <p:nvPr/>
            </p:nvGrpSpPr>
            <p:grpSpPr>
              <a:xfrm>
                <a:off x="2892657" y="6192201"/>
                <a:ext cx="4799825" cy="864000"/>
                <a:chOff x="2892657" y="6192201"/>
                <a:chExt cx="4799825" cy="864000"/>
              </a:xfrm>
            </p:grpSpPr>
            <p:cxnSp>
              <p:nvCxnSpPr>
                <p:cNvPr id="460" name="Google Shape;460;p5"/>
                <p:cNvCxnSpPr/>
                <p:nvPr/>
              </p:nvCxnSpPr>
              <p:spPr>
                <a:xfrm>
                  <a:off x="2892657" y="6192201"/>
                  <a:ext cx="0" cy="86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ot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61" name="Google Shape;461;p5"/>
                <p:cNvCxnSpPr/>
                <p:nvPr/>
              </p:nvCxnSpPr>
              <p:spPr>
                <a:xfrm>
                  <a:off x="5292570" y="6192201"/>
                  <a:ext cx="0" cy="86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ot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62" name="Google Shape;462;p5"/>
                <p:cNvCxnSpPr/>
                <p:nvPr/>
              </p:nvCxnSpPr>
              <p:spPr>
                <a:xfrm>
                  <a:off x="7692482" y="6192201"/>
                  <a:ext cx="0" cy="86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ot"/>
                  <a:miter lim="800000"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463" name="Google Shape;463;p5"/>
            <p:cNvSpPr txBox="1"/>
            <p:nvPr/>
          </p:nvSpPr>
          <p:spPr>
            <a:xfrm>
              <a:off x="4710326" y="5562418"/>
              <a:ext cx="1176604" cy="307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907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단계 별 품질 예상 </a:t>
              </a:r>
              <a:r>
                <a:rPr lang="en-US" altLang="ko-KR" sz="907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Risk</a:t>
              </a:r>
              <a:endParaRPr sz="1633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"/>
          <p:cNvSpPr txBox="1">
            <a:spLocks noGrp="1"/>
          </p:cNvSpPr>
          <p:nvPr>
            <p:ph type="body" idx="1"/>
          </p:nvPr>
        </p:nvSpPr>
        <p:spPr>
          <a:xfrm>
            <a:off x="1524720" y="551029"/>
            <a:ext cx="7772496" cy="1395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2. 품질 요구사항 &gt; 2.1 품질관리</a:t>
            </a:r>
            <a:endParaRPr/>
          </a:p>
        </p:txBody>
      </p:sp>
      <p:sp>
        <p:nvSpPr>
          <p:cNvPr id="469" name="Google Shape;469;p6"/>
          <p:cNvSpPr txBox="1">
            <a:spLocks noGrp="1"/>
          </p:cNvSpPr>
          <p:nvPr>
            <p:ph type="body" idx="2"/>
          </p:nvPr>
        </p:nvSpPr>
        <p:spPr>
          <a:xfrm>
            <a:off x="1524720" y="739877"/>
            <a:ext cx="7772496" cy="167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2.1.2 품질보증 계획</a:t>
            </a:r>
            <a:endParaRPr/>
          </a:p>
        </p:txBody>
      </p:sp>
      <p:sp>
        <p:nvSpPr>
          <p:cNvPr id="470" name="Google Shape;470;p6"/>
          <p:cNvSpPr txBox="1">
            <a:spLocks noGrp="1"/>
          </p:cNvSpPr>
          <p:nvPr>
            <p:ph type="body" idx="3"/>
          </p:nvPr>
        </p:nvSpPr>
        <p:spPr>
          <a:xfrm>
            <a:off x="1524721" y="966426"/>
            <a:ext cx="7772496" cy="3919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/>
            <a:r>
              <a:rPr lang="ko-KR"/>
              <a:t>품질 계획, 목표, 요건에 대한 지속적인 품질 관리를 시행하며, 구축 이후에는 결과 검토를 통한 피드백, 수정/보완 등을 통하여 서비스의 품질을 보증합니다.</a:t>
            </a:r>
            <a:endParaRPr/>
          </a:p>
        </p:txBody>
      </p:sp>
      <p:grpSp>
        <p:nvGrpSpPr>
          <p:cNvPr id="471" name="Google Shape;471;p6"/>
          <p:cNvGrpSpPr/>
          <p:nvPr/>
        </p:nvGrpSpPr>
        <p:grpSpPr>
          <a:xfrm>
            <a:off x="607866" y="1739534"/>
            <a:ext cx="4324830" cy="214995"/>
            <a:chOff x="556201" y="1842100"/>
            <a:chExt cx="4767324" cy="236992"/>
          </a:xfrm>
        </p:grpSpPr>
        <p:sp>
          <p:nvSpPr>
            <p:cNvPr id="472" name="Google Shape;472;p6"/>
            <p:cNvSpPr/>
            <p:nvPr/>
          </p:nvSpPr>
          <p:spPr>
            <a:xfrm>
              <a:off x="787525" y="1842100"/>
              <a:ext cx="4536000" cy="236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품질보증 계획</a:t>
              </a:r>
              <a:endParaRPr sz="1633"/>
            </a:p>
          </p:txBody>
        </p:sp>
        <p:grpSp>
          <p:nvGrpSpPr>
            <p:cNvPr id="473" name="Google Shape;473;p6"/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474" name="Google Shape;474;p6"/>
              <p:cNvSpPr/>
              <p:nvPr/>
            </p:nvSpPr>
            <p:spPr>
              <a:xfrm>
                <a:off x="556201" y="1862334"/>
                <a:ext cx="196274" cy="19652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95" extrusionOk="0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6"/>
              <p:cNvSpPr/>
              <p:nvPr/>
            </p:nvSpPr>
            <p:spPr>
              <a:xfrm>
                <a:off x="607143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6"/>
              <p:cNvSpPr/>
              <p:nvPr/>
            </p:nvSpPr>
            <p:spPr>
              <a:xfrm>
                <a:off x="654768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7" name="Google Shape;477;p6"/>
          <p:cNvGrpSpPr/>
          <p:nvPr/>
        </p:nvGrpSpPr>
        <p:grpSpPr>
          <a:xfrm>
            <a:off x="607867" y="2056537"/>
            <a:ext cx="2686644" cy="4344936"/>
            <a:chOff x="558795" y="2266950"/>
            <a:chExt cx="4679573" cy="4789487"/>
          </a:xfrm>
        </p:grpSpPr>
        <p:sp>
          <p:nvSpPr>
            <p:cNvPr id="478" name="Google Shape;478;p6"/>
            <p:cNvSpPr/>
            <p:nvPr/>
          </p:nvSpPr>
          <p:spPr>
            <a:xfrm flipH="1">
              <a:off x="558795" y="2590950"/>
              <a:ext cx="4679569" cy="446548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6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품질관리 절차</a:t>
              </a:r>
              <a:endParaRPr sz="1633"/>
            </a:p>
          </p:txBody>
        </p:sp>
      </p:grpSp>
      <p:grpSp>
        <p:nvGrpSpPr>
          <p:cNvPr id="480" name="Google Shape;480;p6"/>
          <p:cNvGrpSpPr/>
          <p:nvPr/>
        </p:nvGrpSpPr>
        <p:grpSpPr>
          <a:xfrm>
            <a:off x="6610231" y="2056537"/>
            <a:ext cx="2686644" cy="4344936"/>
            <a:chOff x="558795" y="2266950"/>
            <a:chExt cx="4679573" cy="4789487"/>
          </a:xfrm>
        </p:grpSpPr>
        <p:sp>
          <p:nvSpPr>
            <p:cNvPr id="481" name="Google Shape;481;p6"/>
            <p:cNvSpPr/>
            <p:nvPr/>
          </p:nvSpPr>
          <p:spPr>
            <a:xfrm flipH="1">
              <a:off x="558795" y="2590950"/>
              <a:ext cx="4679569" cy="446548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6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전사품질관리 활동</a:t>
              </a:r>
              <a:endParaRPr sz="1633"/>
            </a:p>
          </p:txBody>
        </p:sp>
      </p:grpSp>
      <p:grpSp>
        <p:nvGrpSpPr>
          <p:cNvPr id="483" name="Google Shape;483;p6"/>
          <p:cNvGrpSpPr/>
          <p:nvPr/>
        </p:nvGrpSpPr>
        <p:grpSpPr>
          <a:xfrm>
            <a:off x="3609678" y="2056537"/>
            <a:ext cx="2686644" cy="4344936"/>
            <a:chOff x="558795" y="2266950"/>
            <a:chExt cx="4679573" cy="4789487"/>
          </a:xfrm>
        </p:grpSpPr>
        <p:sp>
          <p:nvSpPr>
            <p:cNvPr id="484" name="Google Shape;484;p6"/>
            <p:cNvSpPr/>
            <p:nvPr/>
          </p:nvSpPr>
          <p:spPr>
            <a:xfrm flipH="1">
              <a:off x="558795" y="2590950"/>
              <a:ext cx="4679569" cy="446548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6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프로젝트 품질관리 내용</a:t>
              </a:r>
              <a:endParaRPr sz="1633"/>
            </a:p>
          </p:txBody>
        </p:sp>
      </p:grpSp>
      <p:cxnSp>
        <p:nvCxnSpPr>
          <p:cNvPr id="486" name="Google Shape;486;p6"/>
          <p:cNvCxnSpPr/>
          <p:nvPr/>
        </p:nvCxnSpPr>
        <p:spPr>
          <a:xfrm>
            <a:off x="3146017" y="2101581"/>
            <a:ext cx="0" cy="233207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487" name="Google Shape;487;p6"/>
          <p:cNvGrpSpPr/>
          <p:nvPr/>
        </p:nvGrpSpPr>
        <p:grpSpPr>
          <a:xfrm>
            <a:off x="6781499" y="2522464"/>
            <a:ext cx="2355226" cy="896569"/>
            <a:chOff x="6806288" y="3215207"/>
            <a:chExt cx="2596200" cy="1290272"/>
          </a:xfrm>
        </p:grpSpPr>
        <p:sp>
          <p:nvSpPr>
            <p:cNvPr id="488" name="Google Shape;488;p6"/>
            <p:cNvSpPr/>
            <p:nvPr/>
          </p:nvSpPr>
          <p:spPr>
            <a:xfrm>
              <a:off x="6806288" y="3215207"/>
              <a:ext cx="2596200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사내감리</a:t>
              </a:r>
              <a:endParaRPr sz="1633"/>
            </a:p>
          </p:txBody>
        </p:sp>
        <p:cxnSp>
          <p:nvCxnSpPr>
            <p:cNvPr id="489" name="Google Shape;489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90" name="Google Shape;490;p6"/>
          <p:cNvSpPr/>
          <p:nvPr/>
        </p:nvSpPr>
        <p:spPr>
          <a:xfrm>
            <a:off x="7543147" y="2666668"/>
            <a:ext cx="1514391" cy="76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각 단계를 종료할 때</a:t>
            </a:r>
            <a:r>
              <a:rPr lang="en-US" altLang="ko-KR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전문 감리인이 문서 검토 및 인터뷰 실시를 통해 산출물과 프로젝트 진행 시 위험 요소를 도출</a:t>
            </a:r>
            <a:endParaRPr sz="1633"/>
          </a:p>
        </p:txBody>
      </p:sp>
      <p:grpSp>
        <p:nvGrpSpPr>
          <p:cNvPr id="491" name="Google Shape;491;p6"/>
          <p:cNvGrpSpPr/>
          <p:nvPr/>
        </p:nvGrpSpPr>
        <p:grpSpPr>
          <a:xfrm>
            <a:off x="6781499" y="3547174"/>
            <a:ext cx="2355226" cy="896569"/>
            <a:chOff x="6806288" y="3215207"/>
            <a:chExt cx="2596200" cy="1290272"/>
          </a:xfrm>
        </p:grpSpPr>
        <p:sp>
          <p:nvSpPr>
            <p:cNvPr id="492" name="Google Shape;492;p6"/>
            <p:cNvSpPr/>
            <p:nvPr/>
          </p:nvSpPr>
          <p:spPr>
            <a:xfrm>
              <a:off x="6806288" y="3215207"/>
              <a:ext cx="2596200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제품검사</a:t>
              </a:r>
              <a:endParaRPr sz="1633"/>
            </a:p>
          </p:txBody>
        </p:sp>
        <p:cxnSp>
          <p:nvCxnSpPr>
            <p:cNvPr id="493" name="Google Shape;493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94" name="Google Shape;494;p6"/>
          <p:cNvSpPr/>
          <p:nvPr/>
        </p:nvSpPr>
        <p:spPr>
          <a:xfrm>
            <a:off x="7543147" y="3755313"/>
            <a:ext cx="1514391" cy="46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설치 시점에 시스템 기능 및 성능을 점검하여 보완케 하고 구현 시점에 최종 검사를 실시 </a:t>
            </a:r>
            <a:endParaRPr sz="1633"/>
          </a:p>
        </p:txBody>
      </p:sp>
      <p:grpSp>
        <p:nvGrpSpPr>
          <p:cNvPr id="495" name="Google Shape;495;p6"/>
          <p:cNvGrpSpPr/>
          <p:nvPr/>
        </p:nvGrpSpPr>
        <p:grpSpPr>
          <a:xfrm>
            <a:off x="6781499" y="4807021"/>
            <a:ext cx="2355226" cy="1311061"/>
            <a:chOff x="6806288" y="3215207"/>
            <a:chExt cx="2596200" cy="1290272"/>
          </a:xfrm>
        </p:grpSpPr>
        <p:sp>
          <p:nvSpPr>
            <p:cNvPr id="496" name="Google Shape;496;p6"/>
            <p:cNvSpPr/>
            <p:nvPr/>
          </p:nvSpPr>
          <p:spPr>
            <a:xfrm>
              <a:off x="6806288" y="3215207"/>
              <a:ext cx="2596200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고객</a:t>
              </a:r>
              <a:b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만족도</a:t>
              </a:r>
              <a:endParaRPr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조사</a:t>
              </a:r>
              <a:endParaRPr sz="1633"/>
            </a:p>
          </p:txBody>
        </p:sp>
        <p:cxnSp>
          <p:nvCxnSpPr>
            <p:cNvPr id="497" name="Google Shape;497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98" name="Google Shape;498;p6"/>
          <p:cNvSpPr/>
          <p:nvPr/>
        </p:nvSpPr>
        <p:spPr>
          <a:xfrm>
            <a:off x="7543147" y="5001800"/>
            <a:ext cx="1514391" cy="92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프로젝트 구축 또는 서비스 런칭 후 고객 만족도 조사를 실시하여 고객불만사항을 파악하고 개선 대책을 통하여 문제점을 해결하고 고객 감동을 추구</a:t>
            </a:r>
            <a:endParaRPr sz="1633"/>
          </a:p>
        </p:txBody>
      </p:sp>
      <p:grpSp>
        <p:nvGrpSpPr>
          <p:cNvPr id="499" name="Google Shape;499;p6"/>
          <p:cNvGrpSpPr/>
          <p:nvPr/>
        </p:nvGrpSpPr>
        <p:grpSpPr>
          <a:xfrm>
            <a:off x="3697452" y="2522465"/>
            <a:ext cx="2511097" cy="443031"/>
            <a:chOff x="6806287" y="3215207"/>
            <a:chExt cx="2768019" cy="1290272"/>
          </a:xfrm>
        </p:grpSpPr>
        <p:sp>
          <p:nvSpPr>
            <p:cNvPr id="500" name="Google Shape;500;p6"/>
            <p:cNvSpPr/>
            <p:nvPr/>
          </p:nvSpPr>
          <p:spPr>
            <a:xfrm>
              <a:off x="6806287" y="3215207"/>
              <a:ext cx="2768019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품질보증 </a:t>
              </a:r>
              <a:endParaRPr sz="1633"/>
            </a:p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계획수립</a:t>
              </a:r>
              <a:endParaRPr sz="1633"/>
            </a:p>
          </p:txBody>
        </p:sp>
        <p:cxnSp>
          <p:nvCxnSpPr>
            <p:cNvPr id="501" name="Google Shape;501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02" name="Google Shape;502;p6"/>
          <p:cNvSpPr/>
          <p:nvPr/>
        </p:nvSpPr>
        <p:spPr>
          <a:xfrm>
            <a:off x="4459099" y="2590627"/>
            <a:ext cx="1749445" cy="30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품질보증목표와 품질보증활동 계획을 수립</a:t>
            </a:r>
            <a:endParaRPr sz="1633"/>
          </a:p>
        </p:txBody>
      </p:sp>
      <p:grpSp>
        <p:nvGrpSpPr>
          <p:cNvPr id="503" name="Google Shape;503;p6"/>
          <p:cNvGrpSpPr/>
          <p:nvPr/>
        </p:nvGrpSpPr>
        <p:grpSpPr>
          <a:xfrm>
            <a:off x="3697452" y="3051920"/>
            <a:ext cx="2511097" cy="443031"/>
            <a:chOff x="6806287" y="3215207"/>
            <a:chExt cx="2768019" cy="1290272"/>
          </a:xfrm>
        </p:grpSpPr>
        <p:sp>
          <p:nvSpPr>
            <p:cNvPr id="504" name="Google Shape;504;p6"/>
            <p:cNvSpPr/>
            <p:nvPr/>
          </p:nvSpPr>
          <p:spPr>
            <a:xfrm>
              <a:off x="6806287" y="3215207"/>
              <a:ext cx="2768019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표준 및 </a:t>
              </a:r>
              <a:b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절차 수립</a:t>
              </a:r>
              <a:endParaRPr sz="1633"/>
            </a:p>
          </p:txBody>
        </p:sp>
        <p:cxnSp>
          <p:nvCxnSpPr>
            <p:cNvPr id="505" name="Google Shape;505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06" name="Google Shape;506;p6"/>
          <p:cNvSpPr/>
          <p:nvPr/>
        </p:nvSpPr>
        <p:spPr>
          <a:xfrm>
            <a:off x="4459100" y="3120082"/>
            <a:ext cx="1671377" cy="30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각 산출물 작성 표준 및 작성절차 사용양식 정의</a:t>
            </a:r>
            <a:endParaRPr sz="1633"/>
          </a:p>
        </p:txBody>
      </p:sp>
      <p:grpSp>
        <p:nvGrpSpPr>
          <p:cNvPr id="507" name="Google Shape;507;p6"/>
          <p:cNvGrpSpPr/>
          <p:nvPr/>
        </p:nvGrpSpPr>
        <p:grpSpPr>
          <a:xfrm>
            <a:off x="3697452" y="3581375"/>
            <a:ext cx="2511097" cy="531291"/>
            <a:chOff x="6806287" y="3215207"/>
            <a:chExt cx="2768019" cy="1290272"/>
          </a:xfrm>
        </p:grpSpPr>
        <p:sp>
          <p:nvSpPr>
            <p:cNvPr id="508" name="Google Shape;508;p6"/>
            <p:cNvSpPr/>
            <p:nvPr/>
          </p:nvSpPr>
          <p:spPr>
            <a:xfrm>
              <a:off x="6806287" y="3215207"/>
              <a:ext cx="2768019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형상관리</a:t>
              </a:r>
              <a:endParaRPr sz="1633"/>
            </a:p>
          </p:txBody>
        </p:sp>
        <p:cxnSp>
          <p:nvCxnSpPr>
            <p:cNvPr id="509" name="Google Shape;509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10" name="Google Shape;510;p6"/>
          <p:cNvSpPr/>
          <p:nvPr/>
        </p:nvSpPr>
        <p:spPr>
          <a:xfrm>
            <a:off x="4459099" y="3620152"/>
            <a:ext cx="1749445" cy="61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도입 소프트웨어 및 문서</a:t>
            </a:r>
            <a:r>
              <a:rPr lang="en-US" altLang="ko-KR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장비 등에 대한 형상 항목을 식별하고 변경 사항을 통제하여 상태를 기록하고 유지</a:t>
            </a:r>
            <a:endParaRPr sz="1633"/>
          </a:p>
        </p:txBody>
      </p:sp>
      <p:grpSp>
        <p:nvGrpSpPr>
          <p:cNvPr id="511" name="Google Shape;511;p6"/>
          <p:cNvGrpSpPr/>
          <p:nvPr/>
        </p:nvGrpSpPr>
        <p:grpSpPr>
          <a:xfrm>
            <a:off x="3697452" y="4199090"/>
            <a:ext cx="2511097" cy="330629"/>
            <a:chOff x="6806287" y="3215207"/>
            <a:chExt cx="2768019" cy="1290272"/>
          </a:xfrm>
        </p:grpSpPr>
        <p:sp>
          <p:nvSpPr>
            <p:cNvPr id="512" name="Google Shape;512;p6"/>
            <p:cNvSpPr/>
            <p:nvPr/>
          </p:nvSpPr>
          <p:spPr>
            <a:xfrm>
              <a:off x="6806287" y="3215207"/>
              <a:ext cx="2768019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테스트</a:t>
              </a:r>
              <a:endParaRPr sz="1633"/>
            </a:p>
          </p:txBody>
        </p:sp>
        <p:cxnSp>
          <p:nvCxnSpPr>
            <p:cNvPr id="513" name="Google Shape;513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14" name="Google Shape;514;p6"/>
          <p:cNvSpPr/>
          <p:nvPr/>
        </p:nvSpPr>
        <p:spPr>
          <a:xfrm>
            <a:off x="4459099" y="4272630"/>
            <a:ext cx="1749445" cy="153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단위</a:t>
            </a:r>
            <a:r>
              <a:rPr lang="en-US" altLang="ko-KR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통합</a:t>
            </a:r>
            <a:r>
              <a:rPr lang="en-US" altLang="ko-KR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시스템 테스트 실시</a:t>
            </a:r>
            <a:endParaRPr sz="1633"/>
          </a:p>
        </p:txBody>
      </p:sp>
      <p:grpSp>
        <p:nvGrpSpPr>
          <p:cNvPr id="515" name="Google Shape;515;p6"/>
          <p:cNvGrpSpPr/>
          <p:nvPr/>
        </p:nvGrpSpPr>
        <p:grpSpPr>
          <a:xfrm>
            <a:off x="3697452" y="4616142"/>
            <a:ext cx="2511097" cy="443031"/>
            <a:chOff x="6806287" y="3215207"/>
            <a:chExt cx="2768019" cy="1290272"/>
          </a:xfrm>
        </p:grpSpPr>
        <p:sp>
          <p:nvSpPr>
            <p:cNvPr id="516" name="Google Shape;516;p6"/>
            <p:cNvSpPr/>
            <p:nvPr/>
          </p:nvSpPr>
          <p:spPr>
            <a:xfrm>
              <a:off x="6806287" y="3215207"/>
              <a:ext cx="2768019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워크스루</a:t>
              </a:r>
              <a:endParaRPr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7" name="Google Shape;517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18" name="Google Shape;518;p6"/>
          <p:cNvSpPr/>
          <p:nvPr/>
        </p:nvSpPr>
        <p:spPr>
          <a:xfrm>
            <a:off x="4459099" y="4684303"/>
            <a:ext cx="1749445" cy="46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프로젝트 자체로 산출물에 대한 검토를 실시하여 결함을 조기에 발견하고 조치</a:t>
            </a:r>
            <a:endParaRPr sz="1633"/>
          </a:p>
        </p:txBody>
      </p:sp>
      <p:grpSp>
        <p:nvGrpSpPr>
          <p:cNvPr id="519" name="Google Shape;519;p6"/>
          <p:cNvGrpSpPr/>
          <p:nvPr/>
        </p:nvGrpSpPr>
        <p:grpSpPr>
          <a:xfrm>
            <a:off x="3697452" y="5145597"/>
            <a:ext cx="2511097" cy="443031"/>
            <a:chOff x="6806287" y="3215207"/>
            <a:chExt cx="2768019" cy="1290272"/>
          </a:xfrm>
        </p:grpSpPr>
        <p:sp>
          <p:nvSpPr>
            <p:cNvPr id="520" name="Google Shape;520;p6"/>
            <p:cNvSpPr/>
            <p:nvPr/>
          </p:nvSpPr>
          <p:spPr>
            <a:xfrm>
              <a:off x="6806287" y="3215207"/>
              <a:ext cx="2768019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정기협의</a:t>
              </a:r>
              <a:endParaRPr sz="1633"/>
            </a:p>
          </p:txBody>
        </p:sp>
        <p:cxnSp>
          <p:nvCxnSpPr>
            <p:cNvPr id="521" name="Google Shape;521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2" name="Google Shape;522;p6"/>
          <p:cNvSpPr/>
          <p:nvPr/>
        </p:nvSpPr>
        <p:spPr>
          <a:xfrm>
            <a:off x="4459100" y="5213758"/>
            <a:ext cx="1671377" cy="30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서비스 런칭 이후 정기 협의로 능동적인 품질 보증 활동 수행</a:t>
            </a:r>
            <a:endParaRPr sz="1633"/>
          </a:p>
        </p:txBody>
      </p:sp>
      <p:grpSp>
        <p:nvGrpSpPr>
          <p:cNvPr id="523" name="Google Shape;523;p6"/>
          <p:cNvGrpSpPr/>
          <p:nvPr/>
        </p:nvGrpSpPr>
        <p:grpSpPr>
          <a:xfrm>
            <a:off x="3697452" y="5675051"/>
            <a:ext cx="2511097" cy="443031"/>
            <a:chOff x="6806287" y="3215207"/>
            <a:chExt cx="2768019" cy="1290272"/>
          </a:xfrm>
        </p:grpSpPr>
        <p:sp>
          <p:nvSpPr>
            <p:cNvPr id="524" name="Google Shape;524;p6"/>
            <p:cNvSpPr/>
            <p:nvPr/>
          </p:nvSpPr>
          <p:spPr>
            <a:xfrm>
              <a:off x="6806287" y="3215207"/>
              <a:ext cx="2768019" cy="129027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>
                <a:lnSpc>
                  <a:spcPct val="105000"/>
                </a:lnSpc>
              </a:pPr>
              <a:r>
                <a:rPr lang="en-US" altLang="ko-KR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INFRA</a:t>
              </a:r>
              <a:endParaRPr sz="1633"/>
            </a:p>
            <a:p>
              <a:pPr marL="0" lvl="5">
                <a:lnSpc>
                  <a:spcPct val="105000"/>
                </a:lnSpc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보완</a:t>
              </a:r>
              <a:endParaRPr sz="1633"/>
            </a:p>
          </p:txBody>
        </p:sp>
        <p:cxnSp>
          <p:nvCxnSpPr>
            <p:cNvPr id="525" name="Google Shape;525;p6"/>
            <p:cNvCxnSpPr/>
            <p:nvPr/>
          </p:nvCxnSpPr>
          <p:spPr>
            <a:xfrm>
              <a:off x="7530282" y="3306172"/>
              <a:ext cx="0" cy="1108342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6" name="Google Shape;526;p6"/>
          <p:cNvSpPr/>
          <p:nvPr/>
        </p:nvSpPr>
        <p:spPr>
          <a:xfrm>
            <a:off x="4459099" y="5743212"/>
            <a:ext cx="1749445" cy="30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서비스 런칭 이후 시스템에 대해 </a:t>
            </a:r>
            <a:r>
              <a:rPr lang="en-US" altLang="ko-KR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INFRA </a:t>
            </a: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보완</a:t>
            </a:r>
            <a:endParaRPr sz="1633"/>
          </a:p>
        </p:txBody>
      </p:sp>
      <p:sp>
        <p:nvSpPr>
          <p:cNvPr id="527" name="Google Shape;527;p6"/>
          <p:cNvSpPr/>
          <p:nvPr/>
        </p:nvSpPr>
        <p:spPr>
          <a:xfrm>
            <a:off x="1261488" y="2582531"/>
            <a:ext cx="1475001" cy="322901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39" tIns="42456" rIns="82939" bIns="41458" anchor="ctr" anchorCtr="0">
            <a:noAutofit/>
          </a:bodyPr>
          <a:lstStyle/>
          <a:p>
            <a:pPr marL="0" lvl="5" algn="ctr">
              <a:lnSpc>
                <a:spcPct val="105000"/>
              </a:lnSpc>
            </a:pPr>
            <a:r>
              <a:rPr lang="ko-KR" altLang="en-US" sz="10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품질계획수립</a:t>
            </a:r>
            <a:endParaRPr sz="1633"/>
          </a:p>
        </p:txBody>
      </p:sp>
      <p:cxnSp>
        <p:nvCxnSpPr>
          <p:cNvPr id="528" name="Google Shape;528;p6"/>
          <p:cNvCxnSpPr>
            <a:stCxn id="527" idx="3"/>
            <a:endCxn id="500" idx="1"/>
          </p:cNvCxnSpPr>
          <p:nvPr/>
        </p:nvCxnSpPr>
        <p:spPr>
          <a:xfrm>
            <a:off x="2736489" y="2743982"/>
            <a:ext cx="960978" cy="0"/>
          </a:xfrm>
          <a:prstGeom prst="straightConnector1">
            <a:avLst/>
          </a:prstGeom>
          <a:noFill/>
          <a:ln w="12700" cap="flat" cmpd="sng">
            <a:solidFill>
              <a:srgbClr val="D97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9" name="Google Shape;529;p6"/>
          <p:cNvSpPr/>
          <p:nvPr/>
        </p:nvSpPr>
        <p:spPr>
          <a:xfrm>
            <a:off x="1261488" y="3178670"/>
            <a:ext cx="1475001" cy="322901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39" tIns="42456" rIns="82939" bIns="41458" anchor="ctr" anchorCtr="0">
            <a:noAutofit/>
          </a:bodyPr>
          <a:lstStyle/>
          <a:p>
            <a:pPr marL="0" lvl="5" algn="ctr">
              <a:lnSpc>
                <a:spcPct val="105000"/>
              </a:lnSpc>
            </a:pPr>
            <a:r>
              <a:rPr lang="ko-KR" altLang="en-US" sz="10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품질관리활동</a:t>
            </a:r>
            <a:endParaRPr sz="1633"/>
          </a:p>
        </p:txBody>
      </p:sp>
      <p:sp>
        <p:nvSpPr>
          <p:cNvPr id="530" name="Google Shape;530;p6"/>
          <p:cNvSpPr/>
          <p:nvPr/>
        </p:nvSpPr>
        <p:spPr>
          <a:xfrm>
            <a:off x="747731" y="3832798"/>
            <a:ext cx="1108231" cy="322901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39" tIns="42456" rIns="82939" bIns="41458" anchor="ctr" anchorCtr="0">
            <a:noAutofit/>
          </a:bodyPr>
          <a:lstStyle/>
          <a:p>
            <a:pPr marL="0" lvl="5" algn="ctr">
              <a:lnSpc>
                <a:spcPct val="105000"/>
              </a:lnSpc>
            </a:pPr>
            <a:r>
              <a:rPr lang="ko-KR" altLang="en-US" sz="10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변경관리</a:t>
            </a:r>
            <a:endParaRPr sz="1633"/>
          </a:p>
        </p:txBody>
      </p:sp>
      <p:sp>
        <p:nvSpPr>
          <p:cNvPr id="531" name="Google Shape;531;p6"/>
          <p:cNvSpPr/>
          <p:nvPr/>
        </p:nvSpPr>
        <p:spPr>
          <a:xfrm>
            <a:off x="1261488" y="4486926"/>
            <a:ext cx="1475001" cy="322901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39" tIns="42456" rIns="82939" bIns="41458" anchor="ctr" anchorCtr="0">
            <a:noAutofit/>
          </a:bodyPr>
          <a:lstStyle/>
          <a:p>
            <a:pPr marL="0" lvl="5" algn="ctr">
              <a:lnSpc>
                <a:spcPct val="105000"/>
              </a:lnSpc>
            </a:pPr>
            <a:r>
              <a:rPr lang="ko-KR" altLang="en-US" sz="10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품질검토</a:t>
            </a:r>
            <a:endParaRPr sz="1633"/>
          </a:p>
        </p:txBody>
      </p:sp>
      <p:sp>
        <p:nvSpPr>
          <p:cNvPr id="532" name="Google Shape;532;p6"/>
          <p:cNvSpPr/>
          <p:nvPr/>
        </p:nvSpPr>
        <p:spPr>
          <a:xfrm>
            <a:off x="1261488" y="5141054"/>
            <a:ext cx="1475001" cy="322901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39" tIns="42456" rIns="82939" bIns="41458" anchor="ctr" anchorCtr="0">
            <a:noAutofit/>
          </a:bodyPr>
          <a:lstStyle/>
          <a:p>
            <a:pPr marL="0" lvl="5" algn="ctr">
              <a:lnSpc>
                <a:spcPct val="105000"/>
              </a:lnSpc>
            </a:pPr>
            <a:r>
              <a:rPr lang="ko-KR" altLang="en-US" sz="10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서비스 런칭</a:t>
            </a:r>
            <a:endParaRPr sz="1633"/>
          </a:p>
        </p:txBody>
      </p:sp>
      <p:sp>
        <p:nvSpPr>
          <p:cNvPr id="533" name="Google Shape;533;p6"/>
          <p:cNvSpPr/>
          <p:nvPr/>
        </p:nvSpPr>
        <p:spPr>
          <a:xfrm>
            <a:off x="1261488" y="5795181"/>
            <a:ext cx="1475001" cy="322901"/>
          </a:xfrm>
          <a:prstGeom prst="rect">
            <a:avLst/>
          </a:prstGeom>
          <a:solidFill>
            <a:srgbClr val="7F7F7F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39" tIns="42456" rIns="82939" bIns="41458" anchor="ctr" anchorCtr="0">
            <a:noAutofit/>
          </a:bodyPr>
          <a:lstStyle/>
          <a:p>
            <a:pPr marL="0" lvl="5" algn="ctr">
              <a:lnSpc>
                <a:spcPct val="105000"/>
              </a:lnSpc>
            </a:pPr>
            <a:r>
              <a:rPr lang="ko-KR" altLang="en-US" sz="10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지속관리</a:t>
            </a:r>
            <a:endParaRPr sz="1633"/>
          </a:p>
        </p:txBody>
      </p:sp>
      <p:cxnSp>
        <p:nvCxnSpPr>
          <p:cNvPr id="534" name="Google Shape;534;p6"/>
          <p:cNvCxnSpPr>
            <a:stCxn id="527" idx="2"/>
            <a:endCxn id="529" idx="0"/>
          </p:cNvCxnSpPr>
          <p:nvPr/>
        </p:nvCxnSpPr>
        <p:spPr>
          <a:xfrm>
            <a:off x="1998988" y="2905432"/>
            <a:ext cx="0" cy="273243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5" name="Google Shape;535;p6"/>
          <p:cNvCxnSpPr>
            <a:stCxn id="529" idx="2"/>
            <a:endCxn id="531" idx="0"/>
          </p:cNvCxnSpPr>
          <p:nvPr/>
        </p:nvCxnSpPr>
        <p:spPr>
          <a:xfrm>
            <a:off x="1998988" y="3501571"/>
            <a:ext cx="0" cy="985472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6" name="Google Shape;536;p6"/>
          <p:cNvCxnSpPr>
            <a:stCxn id="531" idx="1"/>
          </p:cNvCxnSpPr>
          <p:nvPr/>
        </p:nvCxnSpPr>
        <p:spPr>
          <a:xfrm rot="10800000">
            <a:off x="1020086" y="4155777"/>
            <a:ext cx="241401" cy="492600"/>
          </a:xfrm>
          <a:prstGeom prst="bentConnector2">
            <a:avLst/>
          </a:prstGeom>
          <a:noFill/>
          <a:ln w="12700" cap="flat" cmpd="sng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" name="Google Shape;537;p6"/>
          <p:cNvCxnSpPr>
            <a:endCxn id="529" idx="1"/>
          </p:cNvCxnSpPr>
          <p:nvPr/>
        </p:nvCxnSpPr>
        <p:spPr>
          <a:xfrm rot="-5400000">
            <a:off x="894487" y="3465720"/>
            <a:ext cx="492600" cy="241401"/>
          </a:xfrm>
          <a:prstGeom prst="bentConnector2">
            <a:avLst/>
          </a:prstGeom>
          <a:noFill/>
          <a:ln w="12700" cap="flat" cmpd="sng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8" name="Google Shape;538;p6"/>
          <p:cNvSpPr/>
          <p:nvPr/>
        </p:nvSpPr>
        <p:spPr>
          <a:xfrm>
            <a:off x="788314" y="4313230"/>
            <a:ext cx="446837" cy="216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재검토</a:t>
            </a:r>
            <a:endParaRPr sz="1633"/>
          </a:p>
        </p:txBody>
      </p:sp>
      <p:cxnSp>
        <p:nvCxnSpPr>
          <p:cNvPr id="539" name="Google Shape;539;p6"/>
          <p:cNvCxnSpPr>
            <a:stCxn id="531" idx="2"/>
            <a:endCxn id="532" idx="0"/>
          </p:cNvCxnSpPr>
          <p:nvPr/>
        </p:nvCxnSpPr>
        <p:spPr>
          <a:xfrm>
            <a:off x="1998988" y="4809827"/>
            <a:ext cx="0" cy="331212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" name="Google Shape;540;p6"/>
          <p:cNvCxnSpPr>
            <a:stCxn id="532" idx="2"/>
            <a:endCxn id="533" idx="0"/>
          </p:cNvCxnSpPr>
          <p:nvPr/>
        </p:nvCxnSpPr>
        <p:spPr>
          <a:xfrm>
            <a:off x="1998988" y="5463955"/>
            <a:ext cx="0" cy="331212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1" name="Google Shape;541;p6"/>
          <p:cNvCxnSpPr>
            <a:stCxn id="529" idx="3"/>
            <a:endCxn id="508" idx="1"/>
          </p:cNvCxnSpPr>
          <p:nvPr/>
        </p:nvCxnSpPr>
        <p:spPr>
          <a:xfrm>
            <a:off x="2736489" y="3340121"/>
            <a:ext cx="960978" cy="507024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D9772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2" name="Google Shape;542;p6"/>
          <p:cNvCxnSpPr>
            <a:stCxn id="531" idx="3"/>
            <a:endCxn id="516" idx="1"/>
          </p:cNvCxnSpPr>
          <p:nvPr/>
        </p:nvCxnSpPr>
        <p:spPr>
          <a:xfrm>
            <a:off x="2736489" y="4648377"/>
            <a:ext cx="960978" cy="189147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D9772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6"/>
          <p:cNvCxnSpPr>
            <a:stCxn id="533" idx="3"/>
            <a:endCxn id="520" idx="1"/>
          </p:cNvCxnSpPr>
          <p:nvPr/>
        </p:nvCxnSpPr>
        <p:spPr>
          <a:xfrm rot="10800000" flipH="1">
            <a:off x="2736489" y="5367145"/>
            <a:ext cx="960978" cy="589487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D97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4" name="Google Shape;544;p6"/>
          <p:cNvSpPr/>
          <p:nvPr/>
        </p:nvSpPr>
        <p:spPr>
          <a:xfrm>
            <a:off x="2914482" y="4715914"/>
            <a:ext cx="446837" cy="216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심사통과</a:t>
            </a:r>
            <a:endParaRPr sz="1633"/>
          </a:p>
        </p:txBody>
      </p:sp>
      <p:cxnSp>
        <p:nvCxnSpPr>
          <p:cNvPr id="545" name="Google Shape;545;p6"/>
          <p:cNvCxnSpPr>
            <a:endCxn id="492" idx="1"/>
          </p:cNvCxnSpPr>
          <p:nvPr/>
        </p:nvCxnSpPr>
        <p:spPr>
          <a:xfrm rot="10800000" flipH="1">
            <a:off x="2736466" y="3995459"/>
            <a:ext cx="4045033" cy="582683"/>
          </a:xfrm>
          <a:prstGeom prst="bentConnector3">
            <a:avLst>
              <a:gd name="adj1" fmla="val 90748"/>
            </a:avLst>
          </a:prstGeom>
          <a:noFill/>
          <a:ln w="12700" cap="flat" cmpd="sng">
            <a:solidFill>
              <a:srgbClr val="D9772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6"/>
          <p:cNvCxnSpPr/>
          <p:nvPr/>
        </p:nvCxnSpPr>
        <p:spPr>
          <a:xfrm rot="10800000" flipH="1">
            <a:off x="2736489" y="5643800"/>
            <a:ext cx="4045033" cy="379656"/>
          </a:xfrm>
          <a:prstGeom prst="bentConnector3">
            <a:avLst>
              <a:gd name="adj1" fmla="val 17774"/>
            </a:avLst>
          </a:prstGeom>
          <a:noFill/>
          <a:ln w="12700" cap="flat" cmpd="sng">
            <a:solidFill>
              <a:srgbClr val="D9772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"/>
          <p:cNvSpPr txBox="1">
            <a:spLocks noGrp="1"/>
          </p:cNvSpPr>
          <p:nvPr>
            <p:ph type="body" idx="1"/>
          </p:nvPr>
        </p:nvSpPr>
        <p:spPr>
          <a:xfrm>
            <a:off x="1524720" y="551029"/>
            <a:ext cx="7772496" cy="1395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2. 품질 요구사항 &gt; 2.1 품질관리</a:t>
            </a:r>
            <a:endParaRPr/>
          </a:p>
        </p:txBody>
      </p:sp>
      <p:sp>
        <p:nvSpPr>
          <p:cNvPr id="552" name="Google Shape;552;p7"/>
          <p:cNvSpPr txBox="1">
            <a:spLocks noGrp="1"/>
          </p:cNvSpPr>
          <p:nvPr>
            <p:ph type="body" idx="2"/>
          </p:nvPr>
        </p:nvSpPr>
        <p:spPr>
          <a:xfrm>
            <a:off x="1524720" y="739877"/>
            <a:ext cx="7772496" cy="167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0" indent="0"/>
            <a:r>
              <a:rPr lang="ko-KR"/>
              <a:t>2.1.3 품질관리 절차</a:t>
            </a:r>
            <a:endParaRPr/>
          </a:p>
        </p:txBody>
      </p:sp>
      <p:sp>
        <p:nvSpPr>
          <p:cNvPr id="553" name="Google Shape;553;p7"/>
          <p:cNvSpPr txBox="1">
            <a:spLocks noGrp="1"/>
          </p:cNvSpPr>
          <p:nvPr>
            <p:ph type="body" idx="3"/>
          </p:nvPr>
        </p:nvSpPr>
        <p:spPr>
          <a:xfrm>
            <a:off x="1524721" y="966426"/>
            <a:ext cx="7772496" cy="3919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/>
            <a:r>
              <a:rPr lang="ko-KR"/>
              <a:t>서비스의 일정(진척도) 관리를 통해 프로젝트 담당자 및 관리자에게 현재 진척 및 진행률에 대한 정보를 수집 및 전달합니다. </a:t>
            </a:r>
            <a:endParaRPr/>
          </a:p>
        </p:txBody>
      </p:sp>
      <p:grpSp>
        <p:nvGrpSpPr>
          <p:cNvPr id="554" name="Google Shape;554;p7"/>
          <p:cNvGrpSpPr/>
          <p:nvPr/>
        </p:nvGrpSpPr>
        <p:grpSpPr>
          <a:xfrm>
            <a:off x="607866" y="1739534"/>
            <a:ext cx="4324830" cy="214995"/>
            <a:chOff x="556201" y="1842100"/>
            <a:chExt cx="4767324" cy="236992"/>
          </a:xfrm>
        </p:grpSpPr>
        <p:sp>
          <p:nvSpPr>
            <p:cNvPr id="555" name="Google Shape;555;p7"/>
            <p:cNvSpPr/>
            <p:nvPr/>
          </p:nvSpPr>
          <p:spPr>
            <a:xfrm>
              <a:off x="787525" y="1842100"/>
              <a:ext cx="4536000" cy="236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27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품질관리 절차</a:t>
              </a:r>
              <a:endParaRPr sz="1633"/>
            </a:p>
          </p:txBody>
        </p:sp>
        <p:grpSp>
          <p:nvGrpSpPr>
            <p:cNvPr id="556" name="Google Shape;556;p7"/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557" name="Google Shape;557;p7"/>
              <p:cNvSpPr/>
              <p:nvPr/>
            </p:nvSpPr>
            <p:spPr>
              <a:xfrm>
                <a:off x="556201" y="1862334"/>
                <a:ext cx="196274" cy="19652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95" extrusionOk="0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7"/>
              <p:cNvSpPr/>
              <p:nvPr/>
            </p:nvSpPr>
            <p:spPr>
              <a:xfrm>
                <a:off x="607143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7"/>
              <p:cNvSpPr/>
              <p:nvPr/>
            </p:nvSpPr>
            <p:spPr>
              <a:xfrm>
                <a:off x="654768" y="1909252"/>
                <a:ext cx="55607" cy="10268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451" extrusionOk="0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2939" tIns="41458" rIns="82939" bIns="41458" anchor="t" anchorCtr="0">
                <a:noAutofit/>
              </a:bodyPr>
              <a:lstStyle/>
              <a:p>
                <a:endParaRPr sz="16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0" name="Google Shape;560;p7"/>
          <p:cNvGrpSpPr/>
          <p:nvPr/>
        </p:nvGrpSpPr>
        <p:grpSpPr>
          <a:xfrm>
            <a:off x="609125" y="3785415"/>
            <a:ext cx="4245225" cy="2616057"/>
            <a:chOff x="558794" y="4172719"/>
            <a:chExt cx="4679574" cy="2883718"/>
          </a:xfrm>
        </p:grpSpPr>
        <p:sp>
          <p:nvSpPr>
            <p:cNvPr id="561" name="Google Shape;561;p7"/>
            <p:cNvSpPr/>
            <p:nvPr/>
          </p:nvSpPr>
          <p:spPr>
            <a:xfrm flipH="1">
              <a:off x="558794" y="4499693"/>
              <a:ext cx="4679569" cy="2556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7"/>
            <p:cNvSpPr/>
            <p:nvPr/>
          </p:nvSpPr>
          <p:spPr>
            <a:xfrm flipH="1">
              <a:off x="558798" y="4172719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진척 관리 절차</a:t>
              </a:r>
              <a:endParaRPr sz="1633"/>
            </a:p>
          </p:txBody>
        </p:sp>
      </p:grpSp>
      <p:grpSp>
        <p:nvGrpSpPr>
          <p:cNvPr id="563" name="Google Shape;563;p7"/>
          <p:cNvGrpSpPr/>
          <p:nvPr/>
        </p:nvGrpSpPr>
        <p:grpSpPr>
          <a:xfrm>
            <a:off x="5051651" y="2056537"/>
            <a:ext cx="4245224" cy="4344936"/>
            <a:chOff x="558795" y="2266950"/>
            <a:chExt cx="4679573" cy="4789487"/>
          </a:xfrm>
        </p:grpSpPr>
        <p:sp>
          <p:nvSpPr>
            <p:cNvPr id="564" name="Google Shape;564;p7"/>
            <p:cNvSpPr/>
            <p:nvPr/>
          </p:nvSpPr>
          <p:spPr>
            <a:xfrm flipH="1">
              <a:off x="558795" y="2590950"/>
              <a:ext cx="4679569" cy="446548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endParaRPr sz="90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7"/>
            <p:cNvSpPr/>
            <p:nvPr/>
          </p:nvSpPr>
          <p:spPr>
            <a:xfrm flipH="1">
              <a:off x="558798" y="2266950"/>
              <a:ext cx="4679570" cy="324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DB2D"/>
            </a:solidFill>
            <a:ln>
              <a:noFill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1" algn="ctr"/>
              <a:r>
                <a:rPr lang="ko-KR" altLang="en-US" sz="117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계획 및 실적 관리</a:t>
              </a:r>
              <a:endParaRPr sz="1633"/>
            </a:p>
          </p:txBody>
        </p:sp>
      </p:grpSp>
      <p:grpSp>
        <p:nvGrpSpPr>
          <p:cNvPr id="566" name="Google Shape;566;p7"/>
          <p:cNvGrpSpPr/>
          <p:nvPr/>
        </p:nvGrpSpPr>
        <p:grpSpPr>
          <a:xfrm>
            <a:off x="837387" y="4178224"/>
            <a:ext cx="3788695" cy="2127065"/>
            <a:chOff x="527765" y="3820657"/>
            <a:chExt cx="4176335" cy="2344695"/>
          </a:xfrm>
        </p:grpSpPr>
        <p:grpSp>
          <p:nvGrpSpPr>
            <p:cNvPr id="567" name="Google Shape;567;p7"/>
            <p:cNvGrpSpPr/>
            <p:nvPr/>
          </p:nvGrpSpPr>
          <p:grpSpPr>
            <a:xfrm>
              <a:off x="527765" y="3820657"/>
              <a:ext cx="4176335" cy="1069051"/>
              <a:chOff x="6806287" y="3215207"/>
              <a:chExt cx="2768019" cy="1290272"/>
            </a:xfrm>
          </p:grpSpPr>
          <p:sp>
            <p:nvSpPr>
              <p:cNvPr id="568" name="Google Shape;568;p7"/>
              <p:cNvSpPr/>
              <p:nvPr/>
            </p:nvSpPr>
            <p:spPr>
              <a:xfrm>
                <a:off x="6806287" y="3215207"/>
                <a:ext cx="2768019" cy="1290272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2939" tIns="42456" rIns="82939" bIns="41458" anchor="ctr" anchorCtr="0">
                <a:noAutofit/>
              </a:bodyPr>
              <a:lstStyle/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업무 </a:t>
                </a:r>
                <a:endParaRPr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단위 관리</a:t>
                </a:r>
                <a:endParaRPr sz="1633"/>
              </a:p>
            </p:txBody>
          </p:sp>
          <p:cxnSp>
            <p:nvCxnSpPr>
              <p:cNvPr id="569" name="Google Shape;569;p7"/>
              <p:cNvCxnSpPr/>
              <p:nvPr/>
            </p:nvCxnSpPr>
            <p:spPr>
              <a:xfrm>
                <a:off x="7530282" y="3306172"/>
                <a:ext cx="0" cy="1108342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70" name="Google Shape;570;p7"/>
            <p:cNvSpPr/>
            <p:nvPr/>
          </p:nvSpPr>
          <p:spPr>
            <a:xfrm>
              <a:off x="1843078" y="3930323"/>
              <a:ext cx="2645722" cy="35593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 algn="ctr"/>
              <a:r>
                <a:rPr lang="en-US" altLang="ko-KR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Task </a:t>
              </a:r>
              <a:r>
                <a:rPr lang="ko-KR" altLang="en-US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단위 진척도 산출</a:t>
              </a:r>
              <a:endParaRPr sz="1633"/>
            </a:p>
          </p:txBody>
        </p:sp>
        <p:grpSp>
          <p:nvGrpSpPr>
            <p:cNvPr id="571" name="Google Shape;571;p7"/>
            <p:cNvGrpSpPr/>
            <p:nvPr/>
          </p:nvGrpSpPr>
          <p:grpSpPr>
            <a:xfrm>
              <a:off x="527765" y="5096301"/>
              <a:ext cx="4176335" cy="1069051"/>
              <a:chOff x="6806287" y="3215207"/>
              <a:chExt cx="2768019" cy="1290272"/>
            </a:xfrm>
          </p:grpSpPr>
          <p:sp>
            <p:nvSpPr>
              <p:cNvPr id="572" name="Google Shape;572;p7"/>
              <p:cNvSpPr/>
              <p:nvPr/>
            </p:nvSpPr>
            <p:spPr>
              <a:xfrm>
                <a:off x="6806287" y="3215207"/>
                <a:ext cx="2768019" cy="1290272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2939" tIns="42456" rIns="82939" bIns="41458" anchor="ctr" anchorCtr="0">
                <a:noAutofit/>
              </a:bodyPr>
              <a:lstStyle/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서비스 </a:t>
                </a:r>
                <a:endParaRPr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전체 관리</a:t>
                </a:r>
                <a:endParaRPr sz="1633"/>
              </a:p>
            </p:txBody>
          </p:sp>
          <p:cxnSp>
            <p:nvCxnSpPr>
              <p:cNvPr id="573" name="Google Shape;573;p7"/>
              <p:cNvCxnSpPr/>
              <p:nvPr/>
            </p:nvCxnSpPr>
            <p:spPr>
              <a:xfrm>
                <a:off x="7530282" y="3306172"/>
                <a:ext cx="0" cy="1108342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74" name="Google Shape;574;p7"/>
            <p:cNvSpPr/>
            <p:nvPr/>
          </p:nvSpPr>
          <p:spPr>
            <a:xfrm>
              <a:off x="1843078" y="4427035"/>
              <a:ext cx="2645722" cy="35593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 algn="ctr"/>
              <a:r>
                <a:rPr lang="ko-KR" altLang="en-US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팀별 </a:t>
              </a:r>
              <a:r>
                <a:rPr lang="en-US" altLang="ko-KR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PL</a:t>
              </a:r>
              <a:r>
                <a:rPr lang="ko-KR" altLang="en-US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의 주도하에 진도율 확인 및 </a:t>
              </a:r>
              <a:endParaRPr sz="1633"/>
            </a:p>
            <a:p>
              <a:pPr marL="0" lvl="5" algn="ctr"/>
              <a:r>
                <a:rPr lang="ko-KR" altLang="en-US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진척관리 문서작성</a:t>
              </a:r>
              <a:endParaRPr sz="1633"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1843078" y="5205967"/>
              <a:ext cx="2645722" cy="35593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 algn="ctr"/>
              <a:r>
                <a:rPr lang="en-US" altLang="ko-KR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PM </a:t>
              </a:r>
              <a:r>
                <a:rPr lang="ko-KR" altLang="en-US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확인 및 전체 진도율 산출</a:t>
              </a:r>
              <a:endParaRPr sz="1633"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1843078" y="5702679"/>
              <a:ext cx="2645722" cy="35593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2939" tIns="42456" rIns="82939" bIns="41458" anchor="ctr" anchorCtr="0">
              <a:noAutofit/>
            </a:bodyPr>
            <a:lstStyle/>
            <a:p>
              <a:pPr marL="0" lvl="5" algn="ctr"/>
              <a:r>
                <a:rPr lang="ko-KR" altLang="en-US" sz="998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전체 주간 미팅에서 진도율 보고</a:t>
              </a:r>
              <a:endParaRPr sz="1633"/>
            </a:p>
          </p:txBody>
        </p:sp>
        <p:cxnSp>
          <p:nvCxnSpPr>
            <p:cNvPr id="577" name="Google Shape;577;p7"/>
            <p:cNvCxnSpPr>
              <a:stCxn id="570" idx="2"/>
              <a:endCxn id="574" idx="0"/>
            </p:cNvCxnSpPr>
            <p:nvPr/>
          </p:nvCxnSpPr>
          <p:spPr>
            <a:xfrm>
              <a:off x="3165939" y="4286262"/>
              <a:ext cx="0" cy="140700"/>
            </a:xfrm>
            <a:prstGeom prst="straightConnector1">
              <a:avLst/>
            </a:prstGeom>
            <a:noFill/>
            <a:ln w="12700" cap="flat" cmpd="sng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8" name="Google Shape;578;p7"/>
            <p:cNvCxnSpPr>
              <a:stCxn id="574" idx="2"/>
              <a:endCxn id="575" idx="0"/>
            </p:cNvCxnSpPr>
            <p:nvPr/>
          </p:nvCxnSpPr>
          <p:spPr>
            <a:xfrm>
              <a:off x="3165939" y="4782974"/>
              <a:ext cx="0" cy="423000"/>
            </a:xfrm>
            <a:prstGeom prst="straightConnector1">
              <a:avLst/>
            </a:prstGeom>
            <a:noFill/>
            <a:ln w="12700" cap="flat" cmpd="sng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9" name="Google Shape;579;p7"/>
            <p:cNvCxnSpPr>
              <a:stCxn id="575" idx="2"/>
              <a:endCxn id="576" idx="0"/>
            </p:cNvCxnSpPr>
            <p:nvPr/>
          </p:nvCxnSpPr>
          <p:spPr>
            <a:xfrm>
              <a:off x="3165939" y="5561906"/>
              <a:ext cx="0" cy="140700"/>
            </a:xfrm>
            <a:prstGeom prst="straightConnector1">
              <a:avLst/>
            </a:prstGeom>
            <a:noFill/>
            <a:ln w="12700" cap="flat" cmpd="sng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80" name="Google Shape;580;p7"/>
          <p:cNvGrpSpPr/>
          <p:nvPr/>
        </p:nvGrpSpPr>
        <p:grpSpPr>
          <a:xfrm>
            <a:off x="5279920" y="2590439"/>
            <a:ext cx="3788695" cy="3571056"/>
            <a:chOff x="5323418" y="2192712"/>
            <a:chExt cx="4176335" cy="3936428"/>
          </a:xfrm>
        </p:grpSpPr>
        <p:grpSp>
          <p:nvGrpSpPr>
            <p:cNvPr id="581" name="Google Shape;581;p7"/>
            <p:cNvGrpSpPr/>
            <p:nvPr/>
          </p:nvGrpSpPr>
          <p:grpSpPr>
            <a:xfrm>
              <a:off x="5323418" y="2192712"/>
              <a:ext cx="4176335" cy="840737"/>
              <a:chOff x="6806287" y="3215207"/>
              <a:chExt cx="2768019" cy="1290272"/>
            </a:xfrm>
          </p:grpSpPr>
          <p:sp>
            <p:nvSpPr>
              <p:cNvPr id="582" name="Google Shape;582;p7"/>
              <p:cNvSpPr/>
              <p:nvPr/>
            </p:nvSpPr>
            <p:spPr>
              <a:xfrm>
                <a:off x="6806287" y="3215207"/>
                <a:ext cx="2768019" cy="1290272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2939" tIns="42456" rIns="82939" bIns="41458" anchor="ctr" anchorCtr="0">
                <a:noAutofit/>
              </a:bodyPr>
              <a:lstStyle/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프로젝트</a:t>
                </a:r>
                <a:endParaRPr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전체일정 수립</a:t>
                </a:r>
                <a:endParaRPr sz="1633"/>
              </a:p>
            </p:txBody>
          </p:sp>
          <p:cxnSp>
            <p:nvCxnSpPr>
              <p:cNvPr id="583" name="Google Shape;583;p7"/>
              <p:cNvCxnSpPr/>
              <p:nvPr/>
            </p:nvCxnSpPr>
            <p:spPr>
              <a:xfrm>
                <a:off x="7530282" y="3306172"/>
                <a:ext cx="0" cy="1108342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84" name="Google Shape;584;p7"/>
            <p:cNvGrpSpPr/>
            <p:nvPr/>
          </p:nvGrpSpPr>
          <p:grpSpPr>
            <a:xfrm>
              <a:off x="5323418" y="3224609"/>
              <a:ext cx="4176335" cy="840737"/>
              <a:chOff x="6806287" y="3215207"/>
              <a:chExt cx="2768019" cy="1290272"/>
            </a:xfrm>
          </p:grpSpPr>
          <p:sp>
            <p:nvSpPr>
              <p:cNvPr id="585" name="Google Shape;585;p7"/>
              <p:cNvSpPr/>
              <p:nvPr/>
            </p:nvSpPr>
            <p:spPr>
              <a:xfrm>
                <a:off x="6806287" y="3215207"/>
                <a:ext cx="2768019" cy="1290272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2939" tIns="42456" rIns="82939" bIns="41458" anchor="ctr" anchorCtr="0">
                <a:noAutofit/>
              </a:bodyPr>
              <a:lstStyle/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진행률</a:t>
                </a:r>
                <a:endParaRPr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등록 및 확인</a:t>
                </a:r>
                <a:endParaRPr sz="1633"/>
              </a:p>
            </p:txBody>
          </p:sp>
          <p:cxnSp>
            <p:nvCxnSpPr>
              <p:cNvPr id="586" name="Google Shape;586;p7"/>
              <p:cNvCxnSpPr/>
              <p:nvPr/>
            </p:nvCxnSpPr>
            <p:spPr>
              <a:xfrm>
                <a:off x="7530282" y="3306172"/>
                <a:ext cx="0" cy="1108342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87" name="Google Shape;587;p7"/>
            <p:cNvGrpSpPr/>
            <p:nvPr/>
          </p:nvGrpSpPr>
          <p:grpSpPr>
            <a:xfrm>
              <a:off x="5323418" y="4256506"/>
              <a:ext cx="4176335" cy="840737"/>
              <a:chOff x="6806287" y="3215207"/>
              <a:chExt cx="2768019" cy="1290272"/>
            </a:xfrm>
          </p:grpSpPr>
          <p:sp>
            <p:nvSpPr>
              <p:cNvPr id="588" name="Google Shape;588;p7"/>
              <p:cNvSpPr/>
              <p:nvPr/>
            </p:nvSpPr>
            <p:spPr>
              <a:xfrm>
                <a:off x="6806287" y="3215207"/>
                <a:ext cx="2768019" cy="1290272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2939" tIns="42456" rIns="82939" bIns="41458" anchor="ctr" anchorCtr="0">
                <a:noAutofit/>
              </a:bodyPr>
              <a:lstStyle/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진행률</a:t>
                </a:r>
                <a:endParaRPr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최종 확인</a:t>
                </a:r>
                <a:endParaRPr sz="1633"/>
              </a:p>
            </p:txBody>
          </p:sp>
          <p:cxnSp>
            <p:nvCxnSpPr>
              <p:cNvPr id="589" name="Google Shape;589;p7"/>
              <p:cNvCxnSpPr/>
              <p:nvPr/>
            </p:nvCxnSpPr>
            <p:spPr>
              <a:xfrm>
                <a:off x="7530282" y="3306172"/>
                <a:ext cx="0" cy="1108342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90" name="Google Shape;590;p7"/>
            <p:cNvGrpSpPr/>
            <p:nvPr/>
          </p:nvGrpSpPr>
          <p:grpSpPr>
            <a:xfrm>
              <a:off x="5323418" y="5288403"/>
              <a:ext cx="4176335" cy="840737"/>
              <a:chOff x="6806287" y="3215207"/>
              <a:chExt cx="2768019" cy="1290272"/>
            </a:xfrm>
          </p:grpSpPr>
          <p:sp>
            <p:nvSpPr>
              <p:cNvPr id="591" name="Google Shape;591;p7"/>
              <p:cNvSpPr/>
              <p:nvPr/>
            </p:nvSpPr>
            <p:spPr>
              <a:xfrm>
                <a:off x="6806287" y="3215207"/>
                <a:ext cx="2768019" cy="1290272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2939" tIns="42456" rIns="82939" bIns="41458" anchor="ctr" anchorCtr="0">
                <a:noAutofit/>
              </a:bodyPr>
              <a:lstStyle/>
              <a:p>
                <a:pPr marL="0" lvl="5">
                  <a:lnSpc>
                    <a:spcPct val="105000"/>
                  </a:lnSpc>
                </a:pPr>
                <a:r>
                  <a:rPr lang="ko-KR" altLang="en-US" sz="1089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실적 관리</a:t>
                </a:r>
                <a:endParaRPr sz="1633"/>
              </a:p>
            </p:txBody>
          </p:sp>
          <p:cxnSp>
            <p:nvCxnSpPr>
              <p:cNvPr id="592" name="Google Shape;592;p7"/>
              <p:cNvCxnSpPr/>
              <p:nvPr/>
            </p:nvCxnSpPr>
            <p:spPr>
              <a:xfrm>
                <a:off x="7530282" y="3306172"/>
                <a:ext cx="0" cy="1108342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93" name="Google Shape;593;p7"/>
            <p:cNvSpPr/>
            <p:nvPr/>
          </p:nvSpPr>
          <p:spPr>
            <a:xfrm rot="5400000">
              <a:off x="7312969" y="3043600"/>
              <a:ext cx="197232" cy="162669"/>
            </a:xfrm>
            <a:custGeom>
              <a:avLst/>
              <a:gdLst/>
              <a:ahLst/>
              <a:cxnLst/>
              <a:rect l="l" t="t" r="r" b="b"/>
              <a:pathLst>
                <a:path w="1086" h="901" extrusionOk="0">
                  <a:moveTo>
                    <a:pt x="635" y="16"/>
                  </a:moveTo>
                  <a:cubicBezTo>
                    <a:pt x="863" y="168"/>
                    <a:pt x="1070" y="407"/>
                    <a:pt x="1075" y="418"/>
                  </a:cubicBezTo>
                  <a:cubicBezTo>
                    <a:pt x="1080" y="423"/>
                    <a:pt x="1086" y="440"/>
                    <a:pt x="1086" y="451"/>
                  </a:cubicBezTo>
                  <a:cubicBezTo>
                    <a:pt x="1086" y="461"/>
                    <a:pt x="1080" y="478"/>
                    <a:pt x="1075" y="489"/>
                  </a:cubicBezTo>
                  <a:cubicBezTo>
                    <a:pt x="1070" y="499"/>
                    <a:pt x="858" y="738"/>
                    <a:pt x="635" y="890"/>
                  </a:cubicBezTo>
                  <a:cubicBezTo>
                    <a:pt x="619" y="901"/>
                    <a:pt x="597" y="901"/>
                    <a:pt x="576" y="896"/>
                  </a:cubicBezTo>
                  <a:cubicBezTo>
                    <a:pt x="554" y="879"/>
                    <a:pt x="543" y="863"/>
                    <a:pt x="543" y="841"/>
                  </a:cubicBezTo>
                  <a:lnTo>
                    <a:pt x="543" y="640"/>
                  </a:lnTo>
                  <a:cubicBezTo>
                    <a:pt x="543" y="640"/>
                    <a:pt x="71" y="613"/>
                    <a:pt x="49" y="597"/>
                  </a:cubicBezTo>
                  <a:cubicBezTo>
                    <a:pt x="17" y="575"/>
                    <a:pt x="0" y="505"/>
                    <a:pt x="0" y="451"/>
                  </a:cubicBezTo>
                  <a:cubicBezTo>
                    <a:pt x="0" y="391"/>
                    <a:pt x="22" y="331"/>
                    <a:pt x="49" y="309"/>
                  </a:cubicBezTo>
                  <a:cubicBezTo>
                    <a:pt x="71" y="293"/>
                    <a:pt x="543" y="261"/>
                    <a:pt x="543" y="261"/>
                  </a:cubicBezTo>
                  <a:lnTo>
                    <a:pt x="543" y="60"/>
                  </a:lnTo>
                  <a:cubicBezTo>
                    <a:pt x="543" y="38"/>
                    <a:pt x="554" y="22"/>
                    <a:pt x="576" y="11"/>
                  </a:cubicBezTo>
                  <a:cubicBezTo>
                    <a:pt x="592" y="0"/>
                    <a:pt x="614" y="5"/>
                    <a:pt x="635" y="16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spcFirstLastPara="1" wrap="square" lIns="82939" tIns="41458" rIns="82939" bIns="41458" anchor="t" anchorCtr="0">
              <a:noAutofit/>
            </a:bodyPr>
            <a:lstStyle/>
            <a:p>
              <a:endParaRPr sz="81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7"/>
            <p:cNvSpPr/>
            <p:nvPr/>
          </p:nvSpPr>
          <p:spPr>
            <a:xfrm rot="5400000">
              <a:off x="7312969" y="4070890"/>
              <a:ext cx="197232" cy="162669"/>
            </a:xfrm>
            <a:custGeom>
              <a:avLst/>
              <a:gdLst/>
              <a:ahLst/>
              <a:cxnLst/>
              <a:rect l="l" t="t" r="r" b="b"/>
              <a:pathLst>
                <a:path w="1086" h="901" extrusionOk="0">
                  <a:moveTo>
                    <a:pt x="635" y="16"/>
                  </a:moveTo>
                  <a:cubicBezTo>
                    <a:pt x="863" y="168"/>
                    <a:pt x="1070" y="407"/>
                    <a:pt x="1075" y="418"/>
                  </a:cubicBezTo>
                  <a:cubicBezTo>
                    <a:pt x="1080" y="423"/>
                    <a:pt x="1086" y="440"/>
                    <a:pt x="1086" y="451"/>
                  </a:cubicBezTo>
                  <a:cubicBezTo>
                    <a:pt x="1086" y="461"/>
                    <a:pt x="1080" y="478"/>
                    <a:pt x="1075" y="489"/>
                  </a:cubicBezTo>
                  <a:cubicBezTo>
                    <a:pt x="1070" y="499"/>
                    <a:pt x="858" y="738"/>
                    <a:pt x="635" y="890"/>
                  </a:cubicBezTo>
                  <a:cubicBezTo>
                    <a:pt x="619" y="901"/>
                    <a:pt x="597" y="901"/>
                    <a:pt x="576" y="896"/>
                  </a:cubicBezTo>
                  <a:cubicBezTo>
                    <a:pt x="554" y="879"/>
                    <a:pt x="543" y="863"/>
                    <a:pt x="543" y="841"/>
                  </a:cubicBezTo>
                  <a:lnTo>
                    <a:pt x="543" y="640"/>
                  </a:lnTo>
                  <a:cubicBezTo>
                    <a:pt x="543" y="640"/>
                    <a:pt x="71" y="613"/>
                    <a:pt x="49" y="597"/>
                  </a:cubicBezTo>
                  <a:cubicBezTo>
                    <a:pt x="17" y="575"/>
                    <a:pt x="0" y="505"/>
                    <a:pt x="0" y="451"/>
                  </a:cubicBezTo>
                  <a:cubicBezTo>
                    <a:pt x="0" y="391"/>
                    <a:pt x="22" y="331"/>
                    <a:pt x="49" y="309"/>
                  </a:cubicBezTo>
                  <a:cubicBezTo>
                    <a:pt x="71" y="293"/>
                    <a:pt x="543" y="261"/>
                    <a:pt x="543" y="261"/>
                  </a:cubicBezTo>
                  <a:lnTo>
                    <a:pt x="543" y="60"/>
                  </a:lnTo>
                  <a:cubicBezTo>
                    <a:pt x="543" y="38"/>
                    <a:pt x="554" y="22"/>
                    <a:pt x="576" y="11"/>
                  </a:cubicBezTo>
                  <a:cubicBezTo>
                    <a:pt x="592" y="0"/>
                    <a:pt x="614" y="5"/>
                    <a:pt x="635" y="16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spcFirstLastPara="1" wrap="square" lIns="82939" tIns="41458" rIns="82939" bIns="41458" anchor="t" anchorCtr="0">
              <a:noAutofit/>
            </a:bodyPr>
            <a:lstStyle/>
            <a:p>
              <a:endParaRPr sz="81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7"/>
            <p:cNvSpPr/>
            <p:nvPr/>
          </p:nvSpPr>
          <p:spPr>
            <a:xfrm rot="5400000">
              <a:off x="7312969" y="5109469"/>
              <a:ext cx="197232" cy="162669"/>
            </a:xfrm>
            <a:custGeom>
              <a:avLst/>
              <a:gdLst/>
              <a:ahLst/>
              <a:cxnLst/>
              <a:rect l="l" t="t" r="r" b="b"/>
              <a:pathLst>
                <a:path w="1086" h="901" extrusionOk="0">
                  <a:moveTo>
                    <a:pt x="635" y="16"/>
                  </a:moveTo>
                  <a:cubicBezTo>
                    <a:pt x="863" y="168"/>
                    <a:pt x="1070" y="407"/>
                    <a:pt x="1075" y="418"/>
                  </a:cubicBezTo>
                  <a:cubicBezTo>
                    <a:pt x="1080" y="423"/>
                    <a:pt x="1086" y="440"/>
                    <a:pt x="1086" y="451"/>
                  </a:cubicBezTo>
                  <a:cubicBezTo>
                    <a:pt x="1086" y="461"/>
                    <a:pt x="1080" y="478"/>
                    <a:pt x="1075" y="489"/>
                  </a:cubicBezTo>
                  <a:cubicBezTo>
                    <a:pt x="1070" y="499"/>
                    <a:pt x="858" y="738"/>
                    <a:pt x="635" y="890"/>
                  </a:cubicBezTo>
                  <a:cubicBezTo>
                    <a:pt x="619" y="901"/>
                    <a:pt x="597" y="901"/>
                    <a:pt x="576" y="896"/>
                  </a:cubicBezTo>
                  <a:cubicBezTo>
                    <a:pt x="554" y="879"/>
                    <a:pt x="543" y="863"/>
                    <a:pt x="543" y="841"/>
                  </a:cubicBezTo>
                  <a:lnTo>
                    <a:pt x="543" y="640"/>
                  </a:lnTo>
                  <a:cubicBezTo>
                    <a:pt x="543" y="640"/>
                    <a:pt x="71" y="613"/>
                    <a:pt x="49" y="597"/>
                  </a:cubicBezTo>
                  <a:cubicBezTo>
                    <a:pt x="17" y="575"/>
                    <a:pt x="0" y="505"/>
                    <a:pt x="0" y="451"/>
                  </a:cubicBezTo>
                  <a:cubicBezTo>
                    <a:pt x="0" y="391"/>
                    <a:pt x="22" y="331"/>
                    <a:pt x="49" y="309"/>
                  </a:cubicBezTo>
                  <a:cubicBezTo>
                    <a:pt x="71" y="293"/>
                    <a:pt x="543" y="261"/>
                    <a:pt x="543" y="261"/>
                  </a:cubicBezTo>
                  <a:lnTo>
                    <a:pt x="543" y="60"/>
                  </a:lnTo>
                  <a:cubicBezTo>
                    <a:pt x="543" y="38"/>
                    <a:pt x="554" y="22"/>
                    <a:pt x="576" y="11"/>
                  </a:cubicBezTo>
                  <a:cubicBezTo>
                    <a:pt x="592" y="0"/>
                    <a:pt x="614" y="5"/>
                    <a:pt x="635" y="16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spcFirstLastPara="1" wrap="square" lIns="82939" tIns="41458" rIns="82939" bIns="41458" anchor="t" anchorCtr="0">
              <a:noAutofit/>
            </a:bodyPr>
            <a:lstStyle/>
            <a:p>
              <a:endParaRPr sz="81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604877" y="2518783"/>
              <a:ext cx="2728427" cy="2032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82091" indent="-82091">
                <a:lnSpc>
                  <a:spcPct val="110000"/>
                </a:lnSpc>
                <a:buClr>
                  <a:srgbClr val="3F3F3F"/>
                </a:buClr>
                <a:buSzPts val="1200"/>
                <a:buFont typeface="Arial"/>
                <a:buChar char="•"/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프로젝트 시작 단계 작성</a:t>
              </a:r>
              <a:endParaRPr sz="1633"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6604877" y="3546072"/>
              <a:ext cx="2728427" cy="2032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82091" indent="-82091">
                <a:lnSpc>
                  <a:spcPct val="110000"/>
                </a:lnSpc>
                <a:buClr>
                  <a:srgbClr val="3F3F3F"/>
                </a:buClr>
                <a:buSzPts val="1200"/>
                <a:buFont typeface="Arial"/>
                <a:buChar char="•"/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주기적 진행률 확인</a:t>
              </a:r>
              <a:endParaRPr sz="1633"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6604877" y="4471761"/>
              <a:ext cx="2728427" cy="406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82091" indent="-82091">
                <a:lnSpc>
                  <a:spcPct val="110000"/>
                </a:lnSpc>
                <a:buClr>
                  <a:srgbClr val="3F3F3F"/>
                </a:buClr>
                <a:buSzPts val="1200"/>
                <a:buFont typeface="Arial"/>
                <a:buChar char="•"/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적용된 진행률 최종 확인</a:t>
              </a:r>
              <a:endParaRPr sz="1633"/>
            </a:p>
            <a:p>
              <a:pPr marL="82091" indent="-82091">
                <a:lnSpc>
                  <a:spcPct val="110000"/>
                </a:lnSpc>
                <a:buClr>
                  <a:srgbClr val="3F3F3F"/>
                </a:buClr>
                <a:buSzPts val="1200"/>
                <a:buFont typeface="Arial"/>
                <a:buChar char="•"/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지연될 때</a:t>
              </a:r>
              <a:r>
                <a:rPr lang="en-US" altLang="ko-KR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이슈 등록 및 이슈관리 진행</a:t>
              </a:r>
              <a:endParaRPr sz="1633"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6604877" y="5499050"/>
              <a:ext cx="2728427" cy="406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82091" indent="-82091">
                <a:lnSpc>
                  <a:spcPct val="110000"/>
                </a:lnSpc>
                <a:buClr>
                  <a:srgbClr val="3F3F3F"/>
                </a:buClr>
                <a:buSzPts val="1200"/>
                <a:buFont typeface="Arial"/>
                <a:buChar char="•"/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계획 대비 실적관리 리포팅</a:t>
              </a:r>
              <a:endParaRPr sz="1633"/>
            </a:p>
            <a:p>
              <a:pPr marL="82091" indent="-82091">
                <a:lnSpc>
                  <a:spcPct val="110000"/>
                </a:lnSpc>
                <a:buClr>
                  <a:srgbClr val="3F3F3F"/>
                </a:buClr>
                <a:buSzPts val="1200"/>
                <a:buFont typeface="Arial"/>
                <a:buChar char="•"/>
              </a:pPr>
              <a:r>
                <a:rPr lang="ko-KR" altLang="en-US" sz="1089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주간 진척 관리 보고서 작성</a:t>
              </a:r>
              <a:endParaRPr sz="1633"/>
            </a:p>
          </p:txBody>
        </p:sp>
      </p:grpSp>
      <p:sp>
        <p:nvSpPr>
          <p:cNvPr id="600" name="Google Shape;600;p7"/>
          <p:cNvSpPr/>
          <p:nvPr/>
        </p:nvSpPr>
        <p:spPr>
          <a:xfrm>
            <a:off x="1392899" y="2145834"/>
            <a:ext cx="3367836" cy="134124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39" tIns="130634" rIns="82939" bIns="41458" anchor="t" anchorCtr="0">
            <a:noAutofit/>
          </a:bodyPr>
          <a:lstStyle/>
          <a:p>
            <a:pPr marL="0" lvl="5" algn="ctr">
              <a:lnSpc>
                <a:spcPct val="105000"/>
              </a:lnSpc>
            </a:pPr>
            <a:endParaRPr sz="1089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1" name="Google Shape;601;p7"/>
          <p:cNvGrpSpPr/>
          <p:nvPr/>
        </p:nvGrpSpPr>
        <p:grpSpPr>
          <a:xfrm>
            <a:off x="704526" y="2145061"/>
            <a:ext cx="608501" cy="1341883"/>
            <a:chOff x="875643" y="5188323"/>
            <a:chExt cx="644947" cy="1787280"/>
          </a:xfrm>
        </p:grpSpPr>
        <p:sp>
          <p:nvSpPr>
            <p:cNvPr id="602" name="Google Shape;602;p7"/>
            <p:cNvSpPr/>
            <p:nvPr/>
          </p:nvSpPr>
          <p:spPr>
            <a:xfrm>
              <a:off x="875643" y="5189176"/>
              <a:ext cx="644947" cy="178642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D977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pPr marL="0" lvl="5" algn="ctr">
                <a:lnSpc>
                  <a:spcPct val="105000"/>
                </a:lnSpc>
              </a:pPr>
              <a:r>
                <a:rPr lang="ko-KR" altLang="en-US" sz="1089">
                  <a:solidFill>
                    <a:srgbClr val="D97727"/>
                  </a:solidFill>
                  <a:latin typeface="Calibri"/>
                  <a:ea typeface="Calibri"/>
                  <a:cs typeface="Calibri"/>
                  <a:sym typeface="Calibri"/>
                </a:rPr>
                <a:t>진척</a:t>
              </a:r>
              <a:endParaRPr sz="1089">
                <a:solidFill>
                  <a:srgbClr val="D977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5" algn="ctr">
                <a:lnSpc>
                  <a:spcPct val="105000"/>
                </a:lnSpc>
              </a:pPr>
              <a:r>
                <a:rPr lang="ko-KR" altLang="en-US" sz="1089">
                  <a:solidFill>
                    <a:srgbClr val="D97727"/>
                  </a:solidFill>
                  <a:latin typeface="Calibri"/>
                  <a:ea typeface="Calibri"/>
                  <a:cs typeface="Calibri"/>
                  <a:sym typeface="Calibri"/>
                </a:rPr>
                <a:t>관리</a:t>
              </a:r>
              <a:endParaRPr sz="1089">
                <a:solidFill>
                  <a:srgbClr val="D977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5" algn="ctr">
                <a:lnSpc>
                  <a:spcPct val="105000"/>
                </a:lnSpc>
              </a:pPr>
              <a:r>
                <a:rPr lang="ko-KR" altLang="en-US" sz="1089">
                  <a:solidFill>
                    <a:srgbClr val="D97727"/>
                  </a:solidFill>
                  <a:latin typeface="Calibri"/>
                  <a:ea typeface="Calibri"/>
                  <a:cs typeface="Calibri"/>
                  <a:sym typeface="Calibri"/>
                </a:rPr>
                <a:t>원칙</a:t>
              </a:r>
              <a:endParaRPr sz="1633"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875644" y="5188323"/>
              <a:ext cx="76955" cy="88106"/>
            </a:xfrm>
            <a:custGeom>
              <a:avLst/>
              <a:gdLst/>
              <a:ahLst/>
              <a:cxnLst/>
              <a:rect l="l" t="t" r="r" b="b"/>
              <a:pathLst>
                <a:path w="83344" h="88106" extrusionOk="0">
                  <a:moveTo>
                    <a:pt x="0" y="0"/>
                  </a:moveTo>
                  <a:lnTo>
                    <a:pt x="83344" y="8810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D97727"/>
              </a:solidFill>
              <a:prstDash val="solid"/>
              <a:round/>
              <a:headEnd type="none" w="med" len="med"/>
              <a:tailEnd type="diamond" w="sm" len="sm"/>
            </a:ln>
          </p:spPr>
          <p:txBody>
            <a:bodyPr spcFirstLastPara="1" wrap="square" lIns="82939" tIns="41458" rIns="82939" bIns="41458" anchor="ctr" anchorCtr="0">
              <a:noAutofit/>
            </a:bodyPr>
            <a:lstStyle/>
            <a:p>
              <a:endParaRPr sz="163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4" name="Google Shape;604;p7"/>
          <p:cNvSpPr/>
          <p:nvPr/>
        </p:nvSpPr>
        <p:spPr>
          <a:xfrm>
            <a:off x="1498731" y="2240429"/>
            <a:ext cx="3148865" cy="118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2091" indent="-82091">
              <a:lnSpc>
                <a:spcPct val="110000"/>
              </a:lnSpc>
              <a:buClr>
                <a:srgbClr val="3F3F3F"/>
              </a:buClr>
              <a:buSzPts val="1200"/>
              <a:buFont typeface="Arial"/>
              <a:buChar char="•"/>
            </a:pPr>
            <a:r>
              <a:rPr lang="ko-KR" altLang="en-US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진도 관리의 기준은 각 업무 별로 확인된 사항을 </a:t>
            </a:r>
            <a:r>
              <a:rPr lang="en-US" altLang="ko-KR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Bottom up </a:t>
            </a:r>
            <a:r>
              <a:rPr lang="ko-KR" altLang="en-US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방식으로 취합하여 </a:t>
            </a:r>
            <a:r>
              <a:rPr lang="en-US" altLang="ko-KR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PM/PL</a:t>
            </a:r>
            <a:r>
              <a:rPr lang="ko-KR" altLang="en-US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이 관리합니다</a:t>
            </a:r>
            <a:r>
              <a:rPr lang="en-US" altLang="ko-KR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33"/>
          </a:p>
          <a:p>
            <a:pPr marL="82091" indent="-82091">
              <a:lnSpc>
                <a:spcPct val="110000"/>
              </a:lnSpc>
              <a:spcBef>
                <a:spcPts val="272"/>
              </a:spcBef>
              <a:buClr>
                <a:srgbClr val="3F3F3F"/>
              </a:buClr>
              <a:buSzPts val="1200"/>
              <a:buFont typeface="Arial"/>
              <a:buChar char="•"/>
            </a:pPr>
            <a:r>
              <a:rPr lang="ko-KR" altLang="en-US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진도 관리 결과 일정에 영향을 미칠 경우가 발생했을 때는 주요 </a:t>
            </a:r>
            <a:r>
              <a:rPr lang="en-US" altLang="ko-KR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Issue</a:t>
            </a:r>
            <a:r>
              <a:rPr lang="ko-KR" altLang="en-US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로 관리됩니다</a:t>
            </a:r>
            <a:r>
              <a:rPr lang="en-US" altLang="ko-KR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33"/>
          </a:p>
          <a:p>
            <a:pPr marL="82091" indent="-82091">
              <a:lnSpc>
                <a:spcPct val="110000"/>
              </a:lnSpc>
              <a:spcBef>
                <a:spcPts val="272"/>
              </a:spcBef>
              <a:buClr>
                <a:srgbClr val="3F3F3F"/>
              </a:buClr>
              <a:buSzPts val="1200"/>
              <a:buFont typeface="Arial"/>
              <a:buChar char="•"/>
            </a:pPr>
            <a:r>
              <a:rPr lang="ko-KR" altLang="en-US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진도에 수정이 발생하였을 경우에는 즉각적으로 반영하고</a:t>
            </a:r>
            <a:r>
              <a:rPr lang="en-US" altLang="ko-KR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해당 업무팀에 즉각 통보합니다</a:t>
            </a:r>
            <a:r>
              <a:rPr lang="en-US" altLang="ko-KR" sz="1089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33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1520</Words>
  <Application>Microsoft Macintosh PowerPoint</Application>
  <PresentationFormat>A4 용지(210x297mm)</PresentationFormat>
  <Paragraphs>325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Noto Sans Symbols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Robbie Park</dc:creator>
  <cp:lastModifiedBy>Robbie Park</cp:lastModifiedBy>
  <cp:revision>3</cp:revision>
  <dcterms:created xsi:type="dcterms:W3CDTF">2026-02-24T04:06:21Z</dcterms:created>
  <dcterms:modified xsi:type="dcterms:W3CDTF">2026-02-24T04:18:56Z</dcterms:modified>
</cp:coreProperties>
</file>